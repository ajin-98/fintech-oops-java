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6858000" cx="12192000"/>
  <p:notesSz cx="6858000" cy="9144000"/>
  <p:embeddedFontLst>
    <p:embeddedFont>
      <p:font typeface="Plus Jakarta Sans ExtraBold"/>
      <p:bold r:id="rId21"/>
      <p:boldItalic r:id="rId22"/>
    </p:embeddedFont>
    <p:embeddedFont>
      <p:font typeface="Plus Jakarta Sans"/>
      <p:regular r:id="rId23"/>
      <p:bold r:id="rId24"/>
      <p:italic r:id="rId25"/>
      <p:boldItalic r:id="rId26"/>
    </p:embeddedFont>
    <p:embeddedFont>
      <p:font typeface="JetBrains Mono Medium"/>
      <p:regular r:id="rId27"/>
      <p:bold r:id="rId28"/>
      <p:italic r:id="rId29"/>
      <p:boldItalic r:id="rId30"/>
    </p:embeddedFont>
    <p:embeddedFont>
      <p:font typeface="Plus Jakarta Sans SemiBold"/>
      <p:regular r:id="rId31"/>
      <p:bold r:id="rId32"/>
      <p:italic r:id="rId33"/>
      <p:boldItalic r:id="rId34"/>
    </p:embeddedFont>
    <p:embeddedFont>
      <p:font typeface="Plus Jakarta Sans Medium"/>
      <p:regular r:id="rId35"/>
      <p:bold r:id="rId36"/>
      <p:italic r:id="rId37"/>
      <p:boldItalic r:id="rId38"/>
    </p:embeddedFont>
    <p:embeddedFont>
      <p:font typeface="JetBrains Mono"/>
      <p:bold r:id="rId39"/>
      <p:boldItalic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JetBrainsMono-boldItalic.fntdata"/><Relationship Id="rId20" Type="http://schemas.openxmlformats.org/officeDocument/2006/relationships/slide" Target="slides/slide15.xml"/><Relationship Id="rId22" Type="http://schemas.openxmlformats.org/officeDocument/2006/relationships/font" Target="fonts/PlusJakartaSansExtraBold-boldItalic.fntdata"/><Relationship Id="rId21" Type="http://schemas.openxmlformats.org/officeDocument/2006/relationships/font" Target="fonts/PlusJakartaSansExtraBold-bold.fntdata"/><Relationship Id="rId24" Type="http://schemas.openxmlformats.org/officeDocument/2006/relationships/font" Target="fonts/PlusJakartaSans-bold.fntdata"/><Relationship Id="rId23" Type="http://schemas.openxmlformats.org/officeDocument/2006/relationships/font" Target="fonts/PlusJakartaSans-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PlusJakartaSans-boldItalic.fntdata"/><Relationship Id="rId25" Type="http://schemas.openxmlformats.org/officeDocument/2006/relationships/font" Target="fonts/PlusJakartaSans-italic.fntdata"/><Relationship Id="rId28" Type="http://schemas.openxmlformats.org/officeDocument/2006/relationships/font" Target="fonts/JetBrainsMonoMedium-bold.fntdata"/><Relationship Id="rId27" Type="http://schemas.openxmlformats.org/officeDocument/2006/relationships/font" Target="fonts/JetBrainsMonoMedium-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JetBrainsMonoMedium-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PlusJakartaSansSemiBold-regular.fntdata"/><Relationship Id="rId30" Type="http://schemas.openxmlformats.org/officeDocument/2006/relationships/font" Target="fonts/JetBrainsMonoMedium-boldItalic.fntdata"/><Relationship Id="rId11" Type="http://schemas.openxmlformats.org/officeDocument/2006/relationships/slide" Target="slides/slide6.xml"/><Relationship Id="rId33" Type="http://schemas.openxmlformats.org/officeDocument/2006/relationships/font" Target="fonts/PlusJakartaSansSemiBold-italic.fntdata"/><Relationship Id="rId10" Type="http://schemas.openxmlformats.org/officeDocument/2006/relationships/slide" Target="slides/slide5.xml"/><Relationship Id="rId32" Type="http://schemas.openxmlformats.org/officeDocument/2006/relationships/font" Target="fonts/PlusJakartaSansSemiBold-bold.fntdata"/><Relationship Id="rId13" Type="http://schemas.openxmlformats.org/officeDocument/2006/relationships/slide" Target="slides/slide8.xml"/><Relationship Id="rId35" Type="http://schemas.openxmlformats.org/officeDocument/2006/relationships/font" Target="fonts/PlusJakartaSansMedium-regular.fntdata"/><Relationship Id="rId12" Type="http://schemas.openxmlformats.org/officeDocument/2006/relationships/slide" Target="slides/slide7.xml"/><Relationship Id="rId34" Type="http://schemas.openxmlformats.org/officeDocument/2006/relationships/font" Target="fonts/PlusJakartaSansSemiBold-boldItalic.fntdata"/><Relationship Id="rId15" Type="http://schemas.openxmlformats.org/officeDocument/2006/relationships/slide" Target="slides/slide10.xml"/><Relationship Id="rId37" Type="http://schemas.openxmlformats.org/officeDocument/2006/relationships/font" Target="fonts/PlusJakartaSansMedium-italic.fntdata"/><Relationship Id="rId14" Type="http://schemas.openxmlformats.org/officeDocument/2006/relationships/slide" Target="slides/slide9.xml"/><Relationship Id="rId36" Type="http://schemas.openxmlformats.org/officeDocument/2006/relationships/font" Target="fonts/PlusJakartaSansMedium-bold.fntdata"/><Relationship Id="rId17" Type="http://schemas.openxmlformats.org/officeDocument/2006/relationships/slide" Target="slides/slide12.xml"/><Relationship Id="rId39" Type="http://schemas.openxmlformats.org/officeDocument/2006/relationships/font" Target="fonts/JetBrainsMono-bold.fntdata"/><Relationship Id="rId16" Type="http://schemas.openxmlformats.org/officeDocument/2006/relationships/slide" Target="slides/slide11.xml"/><Relationship Id="rId38" Type="http://schemas.openxmlformats.org/officeDocument/2006/relationships/font" Target="fonts/PlusJakartaSansMedium-bold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 Id="rId4" Type="http://schemas.openxmlformats.org/officeDocument/2006/relationships/image" Target="../media/image5.png"/><Relationship Id="rId5" Type="http://schemas.openxmlformats.org/officeDocument/2006/relationships/image" Target="../media/image3.png"/><Relationship Id="rId6"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3.png"/><Relationship Id="rId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83" name="Shape 83"/>
        <p:cNvGrpSpPr/>
        <p:nvPr/>
      </p:nvGrpSpPr>
      <p:grpSpPr>
        <a:xfrm>
          <a:off x="0" y="0"/>
          <a:ext cx="0" cy="0"/>
          <a:chOff x="0" y="0"/>
          <a:chExt cx="0" cy="0"/>
        </a:xfrm>
      </p:grpSpPr>
      <p:sp>
        <p:nvSpPr>
          <p:cNvPr id="84" name="Google Shape;84;p13"/>
          <p:cNvSpPr/>
          <p:nvPr/>
        </p:nvSpPr>
        <p:spPr>
          <a:xfrm>
            <a:off x="762000" y="5867400"/>
            <a:ext cx="10668000" cy="4191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5" name="Google Shape;85;p13"/>
          <p:cNvSpPr/>
          <p:nvPr/>
        </p:nvSpPr>
        <p:spPr>
          <a:xfrm>
            <a:off x="762000" y="5867400"/>
            <a:ext cx="10668000" cy="9525"/>
          </a:xfrm>
          <a:prstGeom prst="rect">
            <a:avLst/>
          </a:prstGeom>
          <a:solidFill>
            <a:srgbClr val="1E293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86" name="Google Shape;86;p13"/>
          <p:cNvPicPr preferRelativeResize="0"/>
          <p:nvPr/>
        </p:nvPicPr>
        <p:blipFill rotWithShape="1">
          <a:blip r:embed="rId3">
            <a:alphaModFix/>
          </a:blip>
          <a:srcRect b="0" l="0" r="0" t="0"/>
          <a:stretch/>
        </p:blipFill>
        <p:spPr>
          <a:xfrm>
            <a:off x="762000" y="571500"/>
            <a:ext cx="285750" cy="228600"/>
          </a:xfrm>
          <a:prstGeom prst="rect">
            <a:avLst/>
          </a:prstGeom>
          <a:noFill/>
          <a:ln>
            <a:noFill/>
          </a:ln>
        </p:spPr>
      </p:pic>
      <p:pic>
        <p:nvPicPr>
          <p:cNvPr descr="image.png" id="87" name="Google Shape;87;p13"/>
          <p:cNvPicPr preferRelativeResize="0"/>
          <p:nvPr/>
        </p:nvPicPr>
        <p:blipFill rotWithShape="1">
          <a:blip r:embed="rId4">
            <a:alphaModFix/>
          </a:blip>
          <a:srcRect b="0" l="0" r="0" t="0"/>
          <a:stretch/>
        </p:blipFill>
        <p:spPr>
          <a:xfrm>
            <a:off x="762000" y="6110287"/>
            <a:ext cx="171450" cy="171450"/>
          </a:xfrm>
          <a:prstGeom prst="rect">
            <a:avLst/>
          </a:prstGeom>
          <a:noFill/>
          <a:ln>
            <a:noFill/>
          </a:ln>
        </p:spPr>
      </p:pic>
      <p:pic>
        <p:nvPicPr>
          <p:cNvPr descr="image.png" id="88" name="Google Shape;88;p13"/>
          <p:cNvPicPr preferRelativeResize="0"/>
          <p:nvPr/>
        </p:nvPicPr>
        <p:blipFill rotWithShape="1">
          <a:blip r:embed="rId5">
            <a:alphaModFix/>
          </a:blip>
          <a:srcRect b="0" l="0" r="0" t="0"/>
          <a:stretch/>
        </p:blipFill>
        <p:spPr>
          <a:xfrm>
            <a:off x="2733675" y="6110287"/>
            <a:ext cx="171450" cy="171450"/>
          </a:xfrm>
          <a:prstGeom prst="rect">
            <a:avLst/>
          </a:prstGeom>
          <a:noFill/>
          <a:ln>
            <a:noFill/>
          </a:ln>
        </p:spPr>
      </p:pic>
      <p:pic>
        <p:nvPicPr>
          <p:cNvPr descr="image.png" id="89" name="Google Shape;89;p13"/>
          <p:cNvPicPr preferRelativeResize="0"/>
          <p:nvPr/>
        </p:nvPicPr>
        <p:blipFill rotWithShape="1">
          <a:blip r:embed="rId6">
            <a:alphaModFix/>
          </a:blip>
          <a:srcRect b="0" l="0" r="0" t="0"/>
          <a:stretch/>
        </p:blipFill>
        <p:spPr>
          <a:xfrm>
            <a:off x="4505325" y="6110287"/>
            <a:ext cx="171450" cy="171450"/>
          </a:xfrm>
          <a:prstGeom prst="rect">
            <a:avLst/>
          </a:prstGeom>
          <a:noFill/>
          <a:ln>
            <a:noFill/>
          </a:ln>
        </p:spPr>
      </p:pic>
      <p:sp>
        <p:nvSpPr>
          <p:cNvPr id="90" name="Google Shape;90;p13"/>
          <p:cNvSpPr txBox="1"/>
          <p:nvPr/>
        </p:nvSpPr>
        <p:spPr>
          <a:xfrm>
            <a:off x="1162050" y="595312"/>
            <a:ext cx="6667500" cy="1809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25" u="none" cap="none" strike="noStrike">
                <a:solidFill>
                  <a:srgbClr val="94A3B8"/>
                </a:solidFill>
                <a:latin typeface="Plus Jakarta Sans"/>
                <a:ea typeface="Plus Jakarta Sans"/>
                <a:cs typeface="Plus Jakarta Sans"/>
                <a:sym typeface="Plus Jakarta Sans"/>
              </a:rPr>
              <a:t>JAVA RUNTIME &amp; OOP FOUNDATIONS • QA TO DEVELOPER ROADMAP</a:t>
            </a:r>
            <a:endParaRPr/>
          </a:p>
        </p:txBody>
      </p:sp>
      <p:sp>
        <p:nvSpPr>
          <p:cNvPr id="91" name="Google Shape;91;p13"/>
          <p:cNvSpPr txBox="1"/>
          <p:nvPr/>
        </p:nvSpPr>
        <p:spPr>
          <a:xfrm>
            <a:off x="762000" y="2589014"/>
            <a:ext cx="10601325" cy="1051321"/>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3450" u="none" cap="none" strike="noStrike">
                <a:solidFill>
                  <a:srgbClr val="F8FAFC"/>
                </a:solidFill>
                <a:latin typeface="Plus Jakarta Sans"/>
                <a:ea typeface="Plus Jakarta Sans"/>
                <a:cs typeface="Plus Jakarta Sans"/>
                <a:sym typeface="Plus Jakarta Sans"/>
              </a:rPr>
              <a:t>Java Architecture &amp; Object-Oriented Programming</a:t>
            </a:r>
            <a:endParaRPr/>
          </a:p>
        </p:txBody>
      </p:sp>
      <p:sp>
        <p:nvSpPr>
          <p:cNvPr id="92" name="Google Shape;92;p13"/>
          <p:cNvSpPr txBox="1"/>
          <p:nvPr/>
        </p:nvSpPr>
        <p:spPr>
          <a:xfrm>
            <a:off x="762000" y="3792735"/>
            <a:ext cx="11430000" cy="2857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500" u="none" cap="none" strike="noStrike">
                <a:solidFill>
                  <a:srgbClr val="94A3B8"/>
                </a:solidFill>
                <a:latin typeface="Plus Jakarta Sans"/>
                <a:ea typeface="Plus Jakarta Sans"/>
                <a:cs typeface="Plus Jakarta Sans"/>
                <a:sym typeface="Plus Jakarta Sans"/>
              </a:rPr>
              <a:t>From JVM Mechanics to Modern Type Systems, Formal Definitions, and Production Code</a:t>
            </a:r>
            <a:endParaRPr/>
          </a:p>
        </p:txBody>
      </p:sp>
      <p:sp>
        <p:nvSpPr>
          <p:cNvPr id="93" name="Google Shape;93;p13"/>
          <p:cNvSpPr txBox="1"/>
          <p:nvPr/>
        </p:nvSpPr>
        <p:spPr>
          <a:xfrm>
            <a:off x="1028700" y="6105525"/>
            <a:ext cx="1702593" cy="1809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125" u="none" cap="none" strike="noStrike">
                <a:solidFill>
                  <a:srgbClr val="CBD5E1"/>
                </a:solidFill>
                <a:latin typeface="Plus Jakarta Sans"/>
                <a:ea typeface="Plus Jakarta Sans"/>
                <a:cs typeface="Plus Jakarta Sans"/>
                <a:sym typeface="Plus Jakarta Sans"/>
              </a:rPr>
              <a:t>Runtime Mechanics</a:t>
            </a:r>
            <a:endParaRPr/>
          </a:p>
        </p:txBody>
      </p:sp>
      <p:sp>
        <p:nvSpPr>
          <p:cNvPr id="94" name="Google Shape;94;p13"/>
          <p:cNvSpPr txBox="1"/>
          <p:nvPr/>
        </p:nvSpPr>
        <p:spPr>
          <a:xfrm>
            <a:off x="3000375" y="6105525"/>
            <a:ext cx="1452562" cy="1809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125" u="none" cap="none" strike="noStrike">
                <a:solidFill>
                  <a:srgbClr val="CBD5E1"/>
                </a:solidFill>
                <a:latin typeface="Plus Jakarta Sans"/>
                <a:ea typeface="Plus Jakarta Sans"/>
                <a:cs typeface="Plus Jakarta Sans"/>
                <a:sym typeface="Plus Jakarta Sans"/>
              </a:rPr>
              <a:t>OOP Core Pillars</a:t>
            </a:r>
            <a:endParaRPr/>
          </a:p>
        </p:txBody>
      </p:sp>
      <p:sp>
        <p:nvSpPr>
          <p:cNvPr id="95" name="Google Shape;95;p13"/>
          <p:cNvSpPr txBox="1"/>
          <p:nvPr/>
        </p:nvSpPr>
        <p:spPr>
          <a:xfrm>
            <a:off x="4772025" y="6105525"/>
            <a:ext cx="2071687" cy="1809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125" u="none" cap="none" strike="noStrike">
                <a:solidFill>
                  <a:srgbClr val="CBD5E1"/>
                </a:solidFill>
                <a:latin typeface="Plus Jakarta Sans"/>
                <a:ea typeface="Plus Jakarta Sans"/>
                <a:cs typeface="Plus Jakarta Sans"/>
                <a:sym typeface="Plus Jakarta Sans"/>
              </a:rPr>
              <a:t>Contracts &amp; Verification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9" name="Shape 99"/>
        <p:cNvGrpSpPr/>
        <p:nvPr/>
      </p:nvGrpSpPr>
      <p:grpSpPr>
        <a:xfrm>
          <a:off x="0" y="0"/>
          <a:ext cx="0" cy="0"/>
          <a:chOff x="0" y="0"/>
          <a:chExt cx="0" cy="0"/>
        </a:xfrm>
      </p:grpSpPr>
      <p:grpSp>
        <p:nvGrpSpPr>
          <p:cNvPr id="100" name="Google Shape;100;p14"/>
          <p:cNvGrpSpPr/>
          <p:nvPr/>
        </p:nvGrpSpPr>
        <p:grpSpPr>
          <a:xfrm>
            <a:off x="762000" y="381000"/>
            <a:ext cx="10668000" cy="638250"/>
            <a:chOff x="762000" y="381000"/>
            <a:chExt cx="10668000" cy="638250"/>
          </a:xfrm>
        </p:grpSpPr>
        <p:sp>
          <p:nvSpPr>
            <p:cNvPr id="101" name="Google Shape;101;p14"/>
            <p:cNvSpPr/>
            <p:nvPr/>
          </p:nvSpPr>
          <p:spPr>
            <a:xfrm>
              <a:off x="9715500" y="400050"/>
              <a:ext cx="1714500" cy="304800"/>
            </a:xfrm>
            <a:prstGeom prst="roundRect">
              <a:avLst>
                <a:gd fmla="val 50000" name="adj"/>
              </a:avLst>
            </a:prstGeom>
            <a:solidFill>
              <a:srgbClr val="F0F9FF"/>
            </a:solidFill>
            <a:ln cap="flat" cmpd="sng" w="9525">
              <a:solidFill>
                <a:srgbClr val="BAE6F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2" name="Google Shape;102;p14"/>
            <p:cNvSpPr txBox="1"/>
            <p:nvPr/>
          </p:nvSpPr>
          <p:spPr>
            <a:xfrm>
              <a:off x="9715500" y="400050"/>
              <a:ext cx="1714500" cy="304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950">
                  <a:solidFill>
                    <a:srgbClr val="0369A1"/>
                  </a:solidFill>
                  <a:latin typeface="Plus Jakarta Sans"/>
                  <a:ea typeface="Plus Jakarta Sans"/>
                  <a:cs typeface="Plus Jakarta Sans"/>
                  <a:sym typeface="Plus Jakarta Sans"/>
                </a:rPr>
                <a:t>Paradigm Foundation</a:t>
              </a:r>
              <a:endParaRPr b="1" sz="950">
                <a:solidFill>
                  <a:srgbClr val="0369A1"/>
                </a:solidFill>
                <a:latin typeface="Plus Jakarta Sans"/>
                <a:ea typeface="Plus Jakarta Sans"/>
                <a:cs typeface="Plus Jakarta Sans"/>
                <a:sym typeface="Plus Jakarta Sans"/>
              </a:endParaRPr>
            </a:p>
          </p:txBody>
        </p:sp>
        <p:sp>
          <p:nvSpPr>
            <p:cNvPr id="103" name="Google Shape;103;p14"/>
            <p:cNvSpPr txBox="1"/>
            <p:nvPr/>
          </p:nvSpPr>
          <p:spPr>
            <a:xfrm>
              <a:off x="762000" y="381000"/>
              <a:ext cx="3810000" cy="2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950">
                  <a:solidFill>
                    <a:srgbClr val="0284C7"/>
                  </a:solidFill>
                  <a:latin typeface="Plus Jakarta Sans"/>
                  <a:ea typeface="Plus Jakarta Sans"/>
                  <a:cs typeface="Plus Jakarta Sans"/>
                  <a:sym typeface="Plus Jakarta Sans"/>
                </a:rPr>
                <a:t>CONCEPT 01</a:t>
              </a:r>
              <a:endParaRPr b="1" sz="950">
                <a:solidFill>
                  <a:srgbClr val="0284C7"/>
                </a:solidFill>
                <a:latin typeface="Plus Jakarta Sans"/>
                <a:ea typeface="Plus Jakarta Sans"/>
                <a:cs typeface="Plus Jakarta Sans"/>
                <a:sym typeface="Plus Jakarta Sans"/>
              </a:endParaRPr>
            </a:p>
          </p:txBody>
        </p:sp>
        <p:sp>
          <p:nvSpPr>
            <p:cNvPr id="104" name="Google Shape;104;p14"/>
            <p:cNvSpPr txBox="1"/>
            <p:nvPr/>
          </p:nvSpPr>
          <p:spPr>
            <a:xfrm>
              <a:off x="762000" y="590550"/>
              <a:ext cx="4762500" cy="428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2600">
                  <a:solidFill>
                    <a:srgbClr val="0F172A"/>
                  </a:solidFill>
                  <a:latin typeface="Plus Jakarta Sans ExtraBold"/>
                  <a:ea typeface="Plus Jakarta Sans ExtraBold"/>
                  <a:cs typeface="Plus Jakarta Sans ExtraBold"/>
                  <a:sym typeface="Plus Jakarta Sans ExtraBold"/>
                </a:rPr>
                <a:t>What is OOP?</a:t>
              </a:r>
              <a:endParaRPr b="0" sz="2600">
                <a:solidFill>
                  <a:srgbClr val="0F172A"/>
                </a:solidFill>
                <a:latin typeface="Plus Jakarta Sans ExtraBold"/>
                <a:ea typeface="Plus Jakarta Sans ExtraBold"/>
                <a:cs typeface="Plus Jakarta Sans ExtraBold"/>
                <a:sym typeface="Plus Jakarta Sans ExtraBold"/>
              </a:endParaRPr>
            </a:p>
          </p:txBody>
        </p:sp>
      </p:grpSp>
      <p:grpSp>
        <p:nvGrpSpPr>
          <p:cNvPr id="105" name="Google Shape;105;p14"/>
          <p:cNvGrpSpPr/>
          <p:nvPr/>
        </p:nvGrpSpPr>
        <p:grpSpPr>
          <a:xfrm>
            <a:off x="762000" y="1123950"/>
            <a:ext cx="10668000" cy="781200"/>
            <a:chOff x="762000" y="1123950"/>
            <a:chExt cx="10668000" cy="781200"/>
          </a:xfrm>
        </p:grpSpPr>
        <p:sp>
          <p:nvSpPr>
            <p:cNvPr id="106" name="Google Shape;106;p14"/>
            <p:cNvSpPr/>
            <p:nvPr/>
          </p:nvSpPr>
          <p:spPr>
            <a:xfrm>
              <a:off x="762000" y="1123950"/>
              <a:ext cx="10668000" cy="781200"/>
            </a:xfrm>
            <a:prstGeom prst="roundRect">
              <a:avLst>
                <a:gd fmla="val 9756"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7" name="Google Shape;107;p14"/>
            <p:cNvSpPr/>
            <p:nvPr/>
          </p:nvSpPr>
          <p:spPr>
            <a:xfrm>
              <a:off x="762000" y="1123950"/>
              <a:ext cx="47700" cy="781200"/>
            </a:xfrm>
            <a:prstGeom prst="roundRect">
              <a:avLst>
                <a:gd fmla="val 40000" name="adj"/>
              </a:avLst>
            </a:prstGeom>
            <a:solidFill>
              <a:srgbClr val="0284C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8" name="Google Shape;108;p14"/>
            <p:cNvSpPr txBox="1"/>
            <p:nvPr/>
          </p:nvSpPr>
          <p:spPr>
            <a:xfrm>
              <a:off x="971550" y="1200150"/>
              <a:ext cx="10268100" cy="628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850">
                  <a:solidFill>
                    <a:srgbClr val="0284C7"/>
                  </a:solidFill>
                  <a:latin typeface="Plus Jakarta Sans"/>
                  <a:ea typeface="Plus Jakarta Sans"/>
                  <a:cs typeface="Plus Jakarta Sans"/>
                  <a:sym typeface="Plus Jakarta Sans"/>
                </a:rPr>
                <a:t>SIMPLE DEFINITION</a:t>
              </a:r>
              <a:endParaRPr b="1" sz="850">
                <a:solidFill>
                  <a:srgbClr val="0284C7"/>
                </a:solidFill>
                <a:latin typeface="Plus Jakarta Sans"/>
                <a:ea typeface="Plus Jakarta Sans"/>
                <a:cs typeface="Plus Jakarta Sans"/>
                <a:sym typeface="Plus Jakarta Sans"/>
              </a:endParaRPr>
            </a:p>
            <a:p>
              <a:pPr indent="0" lvl="0" marL="0" rtl="0" algn="l">
                <a:spcBef>
                  <a:spcPts val="300"/>
                </a:spcBef>
                <a:spcAft>
                  <a:spcPts val="0"/>
                </a:spcAft>
                <a:buNone/>
              </a:pPr>
              <a:r>
                <a:rPr b="0" lang="en-US" sz="1150">
                  <a:solidFill>
                    <a:srgbClr val="1E293B"/>
                  </a:solidFill>
                  <a:latin typeface="Plus Jakarta Sans SemiBold"/>
                  <a:ea typeface="Plus Jakarta Sans SemiBold"/>
                  <a:cs typeface="Plus Jakarta Sans SemiBold"/>
                  <a:sym typeface="Plus Jakarta Sans SemiBold"/>
                </a:rPr>
                <a:t>Object-Oriented Programming (OOP) is a way of designing software by packaging related data (variables) and actions (methods) together into reusable building blocks called "objects".</a:t>
              </a:r>
              <a:endParaRPr b="0" sz="1150">
                <a:solidFill>
                  <a:srgbClr val="1E293B"/>
                </a:solidFill>
                <a:latin typeface="Plus Jakarta Sans SemiBold"/>
                <a:ea typeface="Plus Jakarta Sans SemiBold"/>
                <a:cs typeface="Plus Jakarta Sans SemiBold"/>
                <a:sym typeface="Plus Jakarta Sans SemiBold"/>
              </a:endParaRPr>
            </a:p>
          </p:txBody>
        </p:sp>
      </p:grpSp>
      <p:grpSp>
        <p:nvGrpSpPr>
          <p:cNvPr id="109" name="Google Shape;109;p14"/>
          <p:cNvGrpSpPr/>
          <p:nvPr/>
        </p:nvGrpSpPr>
        <p:grpSpPr>
          <a:xfrm>
            <a:off x="762000" y="2114550"/>
            <a:ext cx="5095800" cy="4191000"/>
            <a:chOff x="762000" y="2114550"/>
            <a:chExt cx="5095800" cy="4191000"/>
          </a:xfrm>
        </p:grpSpPr>
        <p:sp>
          <p:nvSpPr>
            <p:cNvPr id="110" name="Google Shape;110;p14"/>
            <p:cNvSpPr/>
            <p:nvPr/>
          </p:nvSpPr>
          <p:spPr>
            <a:xfrm>
              <a:off x="762000" y="2114550"/>
              <a:ext cx="5095800" cy="4191000"/>
            </a:xfrm>
            <a:prstGeom prst="roundRect">
              <a:avLst>
                <a:gd fmla="val 2727"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1" name="Google Shape;111;p14"/>
            <p:cNvSpPr txBox="1"/>
            <p:nvPr/>
          </p:nvSpPr>
          <p:spPr>
            <a:xfrm>
              <a:off x="1000125" y="2305050"/>
              <a:ext cx="4619700" cy="1428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850">
                  <a:solidFill>
                    <a:srgbClr val="0284C7"/>
                  </a:solidFill>
                  <a:latin typeface="Plus Jakarta Sans"/>
                  <a:ea typeface="Plus Jakarta Sans"/>
                  <a:cs typeface="Plus Jakarta Sans"/>
                  <a:sym typeface="Plus Jakarta Sans"/>
                </a:rPr>
                <a:t>REAL-WORLD ANALOGY</a:t>
              </a:r>
              <a:endParaRPr b="1" sz="850">
                <a:solidFill>
                  <a:srgbClr val="0284C7"/>
                </a:solidFill>
                <a:latin typeface="Plus Jakarta Sans"/>
                <a:ea typeface="Plus Jakarta Sans"/>
                <a:cs typeface="Plus Jakarta Sans"/>
                <a:sym typeface="Plus Jakarta Sans"/>
              </a:endParaRPr>
            </a:p>
            <a:p>
              <a:pPr indent="0" lvl="0" marL="0" rtl="0" algn="l">
                <a:spcBef>
                  <a:spcPts val="150"/>
                </a:spcBef>
                <a:spcAft>
                  <a:spcPts val="0"/>
                </a:spcAft>
                <a:buNone/>
              </a:pPr>
              <a:r>
                <a:rPr b="1" lang="en-US" sz="1800">
                  <a:solidFill>
                    <a:srgbClr val="0F172A"/>
                  </a:solidFill>
                  <a:latin typeface="Plus Jakarta Sans"/>
                  <a:ea typeface="Plus Jakarta Sans"/>
                  <a:cs typeface="Plus Jakarta Sans"/>
                  <a:sym typeface="Plus Jakarta Sans"/>
                </a:rPr>
                <a:t>Physical Bank Branch</a:t>
              </a:r>
              <a:endParaRPr b="1" sz="1800">
                <a:solidFill>
                  <a:srgbClr val="0F172A"/>
                </a:solidFill>
                <a:latin typeface="Plus Jakarta Sans"/>
                <a:ea typeface="Plus Jakarta Sans"/>
                <a:cs typeface="Plus Jakarta Sans"/>
                <a:sym typeface="Plus Jakarta Sans"/>
              </a:endParaRPr>
            </a:p>
            <a:p>
              <a:pPr indent="0" lvl="0" marL="0" rtl="0" algn="l">
                <a:spcBef>
                  <a:spcPts val="900"/>
                </a:spcBef>
                <a:spcAft>
                  <a:spcPts val="0"/>
                </a:spcAft>
                <a:buNone/>
              </a:pPr>
              <a:r>
                <a:rPr b="0" lang="en-US" sz="1050">
                  <a:solidFill>
                    <a:srgbClr val="475569"/>
                  </a:solidFill>
                  <a:latin typeface="Plus Jakarta Sans"/>
                  <a:ea typeface="Plus Jakarta Sans"/>
                  <a:cs typeface="Plus Jakarta Sans"/>
                  <a:sym typeface="Plus Jakarta Sans"/>
                </a:rPr>
                <a:t>A bank branch does not keep loose cash and ledgers on the sidewalk. Money is secured inside cash registers and vaults. Customers interact through tellers via explicit procedures: deposit, withdraw, and verify balance.</a:t>
              </a:r>
              <a:endParaRPr b="0" sz="1050">
                <a:solidFill>
                  <a:srgbClr val="475569"/>
                </a:solidFill>
                <a:latin typeface="Plus Jakarta Sans"/>
                <a:ea typeface="Plus Jakarta Sans"/>
                <a:cs typeface="Plus Jakarta Sans"/>
                <a:sym typeface="Plus Jakarta Sans"/>
              </a:endParaRPr>
            </a:p>
          </p:txBody>
        </p:sp>
        <p:sp>
          <p:nvSpPr>
            <p:cNvPr id="112" name="Google Shape;112;p14"/>
            <p:cNvSpPr/>
            <p:nvPr/>
          </p:nvSpPr>
          <p:spPr>
            <a:xfrm>
              <a:off x="1000125" y="3905250"/>
              <a:ext cx="4619700" cy="1047900"/>
            </a:xfrm>
            <a:prstGeom prst="roundRect">
              <a:avLst>
                <a:gd fmla="val 7272"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3" name="Google Shape;113;p14"/>
            <p:cNvSpPr txBox="1"/>
            <p:nvPr/>
          </p:nvSpPr>
          <p:spPr>
            <a:xfrm>
              <a:off x="1143000" y="4000500"/>
              <a:ext cx="4333800" cy="857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000">
                  <a:solidFill>
                    <a:srgbClr val="0284C7"/>
                  </a:solidFill>
                  <a:latin typeface="Plus Jakarta Sans"/>
                  <a:ea typeface="Plus Jakarta Sans"/>
                  <a:cs typeface="Plus Jakarta Sans"/>
                  <a:sym typeface="Plus Jakarta Sans"/>
                </a:rPr>
                <a:t>State: </a:t>
              </a:r>
              <a:r>
                <a:rPr b="0" lang="en-US" sz="1000">
                  <a:solidFill>
                    <a:srgbClr val="334155"/>
                  </a:solidFill>
                  <a:latin typeface="Plus Jakarta Sans"/>
                  <a:ea typeface="Plus Jakarta Sans"/>
                  <a:cs typeface="Plus Jakarta Sans"/>
                  <a:sym typeface="Plus Jakarta Sans"/>
                </a:rPr>
                <a:t>Vault cash, ledger accounts.</a:t>
              </a:r>
              <a:endParaRPr sz="1000">
                <a:latin typeface="Plus Jakarta Sans"/>
                <a:ea typeface="Plus Jakarta Sans"/>
                <a:cs typeface="Plus Jakarta Sans"/>
                <a:sym typeface="Plus Jakarta Sans"/>
              </a:endParaRPr>
            </a:p>
            <a:p>
              <a:pPr indent="0" lvl="0" marL="0" rtl="0" algn="l">
                <a:spcBef>
                  <a:spcPts val="600"/>
                </a:spcBef>
                <a:spcAft>
                  <a:spcPts val="0"/>
                </a:spcAft>
                <a:buNone/>
              </a:pPr>
              <a:r>
                <a:rPr b="1" lang="en-US" sz="1000">
                  <a:solidFill>
                    <a:srgbClr val="0284C7"/>
                  </a:solidFill>
                  <a:latin typeface="Plus Jakarta Sans"/>
                  <a:ea typeface="Plus Jakarta Sans"/>
                  <a:cs typeface="Plus Jakarta Sans"/>
                  <a:sym typeface="Plus Jakarta Sans"/>
                </a:rPr>
                <a:t>Behavior: </a:t>
              </a:r>
              <a:r>
                <a:rPr b="0" lang="en-US" sz="1000">
                  <a:solidFill>
                    <a:srgbClr val="334155"/>
                  </a:solidFill>
                  <a:latin typeface="Plus Jakarta Sans"/>
                  <a:ea typeface="Plus Jakarta Sans"/>
                  <a:cs typeface="Plus Jakarta Sans"/>
                  <a:sym typeface="Plus Jakarta Sans"/>
                </a:rPr>
                <a:t>Deposit slip processing, balance inquiries.</a:t>
              </a:r>
              <a:endParaRPr sz="1000">
                <a:latin typeface="Plus Jakarta Sans"/>
                <a:ea typeface="Plus Jakarta Sans"/>
                <a:cs typeface="Plus Jakarta Sans"/>
                <a:sym typeface="Plus Jakarta Sans"/>
              </a:endParaRPr>
            </a:p>
          </p:txBody>
        </p:sp>
        <p:sp>
          <p:nvSpPr>
            <p:cNvPr id="114" name="Google Shape;114;p14"/>
            <p:cNvSpPr/>
            <p:nvPr/>
          </p:nvSpPr>
          <p:spPr>
            <a:xfrm>
              <a:off x="1000125" y="5143500"/>
              <a:ext cx="4619700" cy="809700"/>
            </a:xfrm>
            <a:prstGeom prst="roundRect">
              <a:avLst>
                <a:gd fmla="val 9411" name="adj"/>
              </a:avLst>
            </a:prstGeom>
            <a:solidFill>
              <a:srgbClr val="ECFDF5"/>
            </a:solidFill>
            <a:ln cap="flat" cmpd="sng" w="9525">
              <a:solidFill>
                <a:srgbClr val="A7F3D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5" name="Google Shape;115;p14"/>
            <p:cNvSpPr txBox="1"/>
            <p:nvPr/>
          </p:nvSpPr>
          <p:spPr>
            <a:xfrm>
              <a:off x="1143000" y="5219700"/>
              <a:ext cx="4333800" cy="666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850">
                  <a:solidFill>
                    <a:srgbClr val="047857"/>
                  </a:solidFill>
                  <a:latin typeface="Plus Jakarta Sans"/>
                  <a:ea typeface="Plus Jakarta Sans"/>
                  <a:cs typeface="Plus Jakarta Sans"/>
                  <a:sym typeface="Plus Jakarta Sans"/>
                </a:rPr>
                <a:t>QA VIEW &amp; BENEFIT</a:t>
              </a:r>
              <a:endParaRPr b="1" sz="850">
                <a:solidFill>
                  <a:srgbClr val="047857"/>
                </a:solidFill>
                <a:latin typeface="Plus Jakarta Sans"/>
                <a:ea typeface="Plus Jakarta Sans"/>
                <a:cs typeface="Plus Jakarta Sans"/>
                <a:sym typeface="Plus Jakarta Sans"/>
              </a:endParaRPr>
            </a:p>
            <a:p>
              <a:pPr indent="0" lvl="0" marL="0" rtl="0" algn="l">
                <a:spcBef>
                  <a:spcPts val="300"/>
                </a:spcBef>
                <a:spcAft>
                  <a:spcPts val="0"/>
                </a:spcAft>
                <a:buNone/>
              </a:pPr>
              <a:r>
                <a:rPr b="0" lang="en-US" sz="1050">
                  <a:solidFill>
                    <a:srgbClr val="065F46"/>
                  </a:solidFill>
                  <a:latin typeface="Plus Jakarta Sans SemiBold"/>
                  <a:ea typeface="Plus Jakarta Sans SemiBold"/>
                  <a:cs typeface="Plus Jakarta Sans SemiBold"/>
                  <a:sym typeface="Plus Jakarta Sans SemiBold"/>
                </a:rPr>
                <a:t>Encapsulates state behind authorized procedures. Prevents external callers from setting invalid balances.</a:t>
              </a:r>
              <a:endParaRPr b="0" sz="1050">
                <a:solidFill>
                  <a:srgbClr val="065F46"/>
                </a:solidFill>
                <a:latin typeface="Plus Jakarta Sans SemiBold"/>
                <a:ea typeface="Plus Jakarta Sans SemiBold"/>
                <a:cs typeface="Plus Jakarta Sans SemiBold"/>
                <a:sym typeface="Plus Jakarta Sans SemiBold"/>
              </a:endParaRPr>
            </a:p>
          </p:txBody>
        </p:sp>
      </p:grpSp>
      <p:grpSp>
        <p:nvGrpSpPr>
          <p:cNvPr id="116" name="Google Shape;116;p14"/>
          <p:cNvGrpSpPr/>
          <p:nvPr/>
        </p:nvGrpSpPr>
        <p:grpSpPr>
          <a:xfrm>
            <a:off x="6096000" y="2114550"/>
            <a:ext cx="5334000" cy="4191000"/>
            <a:chOff x="6096000" y="2114550"/>
            <a:chExt cx="5334000" cy="4191000"/>
          </a:xfrm>
        </p:grpSpPr>
        <p:sp>
          <p:nvSpPr>
            <p:cNvPr id="117" name="Google Shape;117;p14"/>
            <p:cNvSpPr/>
            <p:nvPr/>
          </p:nvSpPr>
          <p:spPr>
            <a:xfrm>
              <a:off x="6096000" y="2114550"/>
              <a:ext cx="5334000" cy="4191000"/>
            </a:xfrm>
            <a:prstGeom prst="roundRect">
              <a:avLst>
                <a:gd fmla="val 2727" name="adj"/>
              </a:avLst>
            </a:prstGeom>
            <a:solidFill>
              <a:srgbClr val="0F172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8" name="Google Shape;118;p14"/>
            <p:cNvSpPr/>
            <p:nvPr/>
          </p:nvSpPr>
          <p:spPr>
            <a:xfrm>
              <a:off x="6315075" y="2305050"/>
              <a:ext cx="95400" cy="95400"/>
            </a:xfrm>
            <a:prstGeom prst="ellipse">
              <a:avLst/>
            </a:prstGeom>
            <a:solidFill>
              <a:srgbClr val="EF44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9" name="Google Shape;119;p14"/>
            <p:cNvSpPr/>
            <p:nvPr/>
          </p:nvSpPr>
          <p:spPr>
            <a:xfrm>
              <a:off x="6467475" y="2305050"/>
              <a:ext cx="95400" cy="95400"/>
            </a:xfrm>
            <a:prstGeom prst="ellipse">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0" name="Google Shape;120;p14"/>
            <p:cNvSpPr/>
            <p:nvPr/>
          </p:nvSpPr>
          <p:spPr>
            <a:xfrm>
              <a:off x="6619875" y="2305050"/>
              <a:ext cx="95400" cy="95400"/>
            </a:xfrm>
            <a:prstGeom prst="ellipse">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1" name="Google Shape;121;p14"/>
            <p:cNvSpPr txBox="1"/>
            <p:nvPr/>
          </p:nvSpPr>
          <p:spPr>
            <a:xfrm>
              <a:off x="6858000" y="2266950"/>
              <a:ext cx="42864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950">
                  <a:solidFill>
                    <a:srgbClr val="94A3B8"/>
                  </a:solidFill>
                  <a:latin typeface="JetBrains Mono Medium"/>
                  <a:ea typeface="JetBrains Mono Medium"/>
                  <a:cs typeface="JetBrains Mono Medium"/>
                  <a:sym typeface="JetBrains Mono Medium"/>
                </a:rPr>
                <a:t>BankBranch.java — Code Implementation</a:t>
              </a:r>
              <a:endParaRPr b="0" sz="950">
                <a:solidFill>
                  <a:srgbClr val="94A3B8"/>
                </a:solidFill>
                <a:latin typeface="JetBrains Mono Medium"/>
                <a:ea typeface="JetBrains Mono Medium"/>
                <a:cs typeface="JetBrains Mono Medium"/>
                <a:sym typeface="JetBrains Mono Medium"/>
              </a:endParaRPr>
            </a:p>
          </p:txBody>
        </p:sp>
        <p:cxnSp>
          <p:nvCxnSpPr>
            <p:cNvPr id="122" name="Google Shape;122;p14"/>
            <p:cNvCxnSpPr/>
            <p:nvPr/>
          </p:nvCxnSpPr>
          <p:spPr>
            <a:xfrm>
              <a:off x="6096000" y="2524125"/>
              <a:ext cx="5334000" cy="0"/>
            </a:xfrm>
            <a:prstGeom prst="straightConnector1">
              <a:avLst/>
            </a:prstGeom>
            <a:solidFill>
              <a:srgbClr val="FFFFFF"/>
            </a:solidFill>
            <a:ln cap="flat" cmpd="sng" w="9525">
              <a:solidFill>
                <a:srgbClr val="1E293B"/>
              </a:solidFill>
              <a:prstDash val="solid"/>
              <a:round/>
              <a:headEnd len="sm" w="sm" type="none"/>
              <a:tailEnd len="sm" w="sm" type="none"/>
            </a:ln>
          </p:spPr>
        </p:cxnSp>
        <p:sp>
          <p:nvSpPr>
            <p:cNvPr id="123" name="Google Shape;123;p14"/>
            <p:cNvSpPr txBox="1"/>
            <p:nvPr/>
          </p:nvSpPr>
          <p:spPr>
            <a:xfrm>
              <a:off x="6362700" y="2667000"/>
              <a:ext cx="4800600" cy="3429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050">
                  <a:solidFill>
                    <a:srgbClr val="F43F5E"/>
                  </a:solidFill>
                  <a:latin typeface="JetBrains Mono"/>
                  <a:ea typeface="JetBrains Mono"/>
                  <a:cs typeface="JetBrains Mono"/>
                  <a:sym typeface="JetBrains Mono"/>
                </a:rPr>
                <a:t>public class</a:t>
              </a:r>
              <a:r>
                <a:rPr lang="en-US" sz="1050">
                  <a:solidFill>
                    <a:srgbClr val="E2E8F0"/>
                  </a:solidFill>
                  <a:latin typeface="JetBrains Mono"/>
                  <a:ea typeface="JetBrains Mono"/>
                  <a:cs typeface="JetBrains Mono"/>
                  <a:sym typeface="JetBrains Mono"/>
                </a:rPr>
                <a:t> </a:t>
              </a:r>
              <a:r>
                <a:rPr b="1" lang="en-US" sz="1050">
                  <a:solidFill>
                    <a:srgbClr val="38BDF8"/>
                  </a:solidFill>
                  <a:latin typeface="JetBrains Mono"/>
                  <a:ea typeface="JetBrains Mono"/>
                  <a:cs typeface="JetBrains Mono"/>
                  <a:sym typeface="JetBrains Mono"/>
                </a:rPr>
                <a:t>BankBranch</a:t>
              </a:r>
              <a:r>
                <a:rPr lang="en-US" sz="1050">
                  <a:solidFill>
                    <a:srgbClr val="E2E8F0"/>
                  </a:solidFill>
                  <a:latin typeface="JetBrains Mono"/>
                  <a:ea typeface="JetBrains Mono"/>
                  <a:cs typeface="JetBrains Mono"/>
                  <a:sym typeface="JetBrains Mono"/>
                </a:rPr>
                <a:t> {</a:t>
              </a:r>
              <a:endParaRPr sz="1050">
                <a:solidFill>
                  <a:srgbClr val="E2E8F0"/>
                </a:solidFill>
                <a:latin typeface="JetBrains Mono"/>
                <a:ea typeface="JetBrains Mono"/>
                <a:cs typeface="JetBrains Mono"/>
                <a:sym typeface="JetBrains Mono"/>
              </a:endParaRPr>
            </a:p>
            <a:p>
              <a:pPr indent="0" lvl="0" marL="0" rtl="0" algn="l">
                <a:spcBef>
                  <a:spcPts val="450"/>
                </a:spcBef>
                <a:spcAft>
                  <a:spcPts val="0"/>
                </a:spcAft>
                <a:buNone/>
              </a:pPr>
              <a:r>
                <a:rPr b="1" lang="en-US" sz="1050">
                  <a:solidFill>
                    <a:srgbClr val="F43F5E"/>
                  </a:solidFill>
                  <a:latin typeface="JetBrains Mono"/>
                  <a:ea typeface="JetBrains Mono"/>
                  <a:cs typeface="JetBrains Mono"/>
                  <a:sym typeface="JetBrains Mono"/>
                </a:rPr>
                <a:t>private</a:t>
              </a:r>
              <a:r>
                <a:rPr lang="en-US" sz="1050">
                  <a:solidFill>
                    <a:srgbClr val="E2E8F0"/>
                  </a:solidFill>
                  <a:latin typeface="JetBrains Mono"/>
                  <a:ea typeface="JetBrains Mono"/>
                  <a:cs typeface="JetBrains Mono"/>
                  <a:sym typeface="JetBrains Mono"/>
                </a:rPr>
                <a:t> BigDecimal vaultBalance; </a:t>
              </a:r>
              <a:r>
                <a:rPr i="1" lang="en-US" sz="1050">
                  <a:solidFill>
                    <a:srgbClr val="64748B"/>
                  </a:solidFill>
                  <a:latin typeface="JetBrains Mono"/>
                  <a:ea typeface="JetBrains Mono"/>
                  <a:cs typeface="JetBrains Mono"/>
                  <a:sym typeface="JetBrains Mono"/>
                </a:rPr>
                <a:t>// State</a:t>
              </a:r>
              <a:endParaRPr sz="1050">
                <a:solidFill>
                  <a:srgbClr val="E2E8F0"/>
                </a:solidFill>
                <a:latin typeface="JetBrains Mono"/>
                <a:ea typeface="JetBrains Mono"/>
                <a:cs typeface="JetBrains Mono"/>
                <a:sym typeface="JetBrains Mono"/>
              </a:endParaRPr>
            </a:p>
            <a:p>
              <a:pPr indent="0" lvl="0" marL="0" rtl="0" algn="l">
                <a:spcBef>
                  <a:spcPts val="1050"/>
                </a:spcBef>
                <a:spcAft>
                  <a:spcPts val="0"/>
                </a:spcAft>
                <a:buNone/>
              </a:pPr>
              <a:r>
                <a:rPr b="1" lang="en-US" sz="1050">
                  <a:solidFill>
                    <a:srgbClr val="F43F5E"/>
                  </a:solidFill>
                  <a:latin typeface="JetBrains Mono"/>
                  <a:ea typeface="JetBrains Mono"/>
                  <a:cs typeface="JetBrains Mono"/>
                  <a:sym typeface="JetBrains Mono"/>
                </a:rPr>
                <a:t>public void</a:t>
              </a:r>
              <a:r>
                <a:rPr lang="en-US" sz="1050">
                  <a:solidFill>
                    <a:srgbClr val="E2E8F0"/>
                  </a:solidFill>
                  <a:latin typeface="JetBrains Mono"/>
                  <a:ea typeface="JetBrains Mono"/>
                  <a:cs typeface="JetBrains Mono"/>
                  <a:sym typeface="JetBrains Mono"/>
                </a:rPr>
                <a:t> </a:t>
              </a:r>
              <a:r>
                <a:rPr b="1" lang="en-US" sz="1050">
                  <a:solidFill>
                    <a:srgbClr val="38BDF8"/>
                  </a:solidFill>
                  <a:latin typeface="JetBrains Mono"/>
                  <a:ea typeface="JetBrains Mono"/>
                  <a:cs typeface="JetBrains Mono"/>
                  <a:sym typeface="JetBrains Mono"/>
                </a:rPr>
                <a:t>processDeposit</a:t>
              </a:r>
              <a:r>
                <a:rPr lang="en-US" sz="1050">
                  <a:solidFill>
                    <a:srgbClr val="E2E8F0"/>
                  </a:solidFill>
                  <a:latin typeface="JetBrains Mono"/>
                  <a:ea typeface="JetBrains Mono"/>
                  <a:cs typeface="JetBrains Mono"/>
                  <a:sym typeface="JetBrains Mono"/>
                </a:rPr>
                <a:t>(BigDecimal amount) {</a:t>
              </a:r>
              <a:endParaRPr sz="1050">
                <a:solidFill>
                  <a:srgbClr val="E2E8F0"/>
                </a:solidFill>
                <a:latin typeface="JetBrains Mono"/>
                <a:ea typeface="JetBrains Mono"/>
                <a:cs typeface="JetBrains Mono"/>
                <a:sym typeface="JetBrains Mono"/>
              </a:endParaRPr>
            </a:p>
            <a:p>
              <a:pPr indent="0" lvl="0" marL="0" rtl="0" algn="l">
                <a:spcBef>
                  <a:spcPts val="450"/>
                </a:spcBef>
                <a:spcAft>
                  <a:spcPts val="0"/>
                </a:spcAft>
                <a:buNone/>
              </a:pPr>
              <a:r>
                <a:rPr b="1" lang="en-US" sz="1050">
                  <a:solidFill>
                    <a:srgbClr val="F43F5E"/>
                  </a:solidFill>
                  <a:latin typeface="JetBrains Mono"/>
                  <a:ea typeface="JetBrains Mono"/>
                  <a:cs typeface="JetBrains Mono"/>
                  <a:sym typeface="JetBrains Mono"/>
                </a:rPr>
                <a:t>if</a:t>
              </a:r>
              <a:r>
                <a:rPr lang="en-US" sz="1050">
                  <a:solidFill>
                    <a:srgbClr val="E2E8F0"/>
                  </a:solidFill>
                  <a:latin typeface="JetBrains Mono"/>
                  <a:ea typeface="JetBrains Mono"/>
                  <a:cs typeface="JetBrains Mono"/>
                  <a:sym typeface="JetBrains Mono"/>
                </a:rPr>
                <a:t> (amount.compareTo(BigDecimal.ZERO) &lt;= </a:t>
              </a:r>
              <a:r>
                <a:rPr lang="en-US" sz="1050">
                  <a:solidFill>
                    <a:srgbClr val="F59E0B"/>
                  </a:solidFill>
                  <a:latin typeface="JetBrains Mono"/>
                  <a:ea typeface="JetBrains Mono"/>
                  <a:cs typeface="JetBrains Mono"/>
                  <a:sym typeface="JetBrains Mono"/>
                </a:rPr>
                <a:t>0</a:t>
              </a:r>
              <a:r>
                <a:rPr lang="en-US" sz="1050">
                  <a:solidFill>
                    <a:srgbClr val="E2E8F0"/>
                  </a:solidFill>
                  <a:latin typeface="JetBrains Mono"/>
                  <a:ea typeface="JetBrains Mono"/>
                  <a:cs typeface="JetBrains Mono"/>
                  <a:sym typeface="JetBrains Mono"/>
                </a:rPr>
                <a:t>) {</a:t>
              </a:r>
              <a:endParaRPr sz="1050">
                <a:solidFill>
                  <a:srgbClr val="E2E8F0"/>
                </a:solidFill>
                <a:latin typeface="JetBrains Mono"/>
                <a:ea typeface="JetBrains Mono"/>
                <a:cs typeface="JetBrains Mono"/>
                <a:sym typeface="JetBrains Mono"/>
              </a:endParaRPr>
            </a:p>
            <a:p>
              <a:pPr indent="0" lvl="0" marL="0" rtl="0" algn="l">
                <a:spcBef>
                  <a:spcPts val="450"/>
                </a:spcBef>
                <a:spcAft>
                  <a:spcPts val="0"/>
                </a:spcAft>
                <a:buNone/>
              </a:pPr>
              <a:r>
                <a:rPr b="1" lang="en-US" sz="1050">
                  <a:solidFill>
                    <a:srgbClr val="F43F5E"/>
                  </a:solidFill>
                  <a:latin typeface="JetBrains Mono"/>
                  <a:ea typeface="JetBrains Mono"/>
                  <a:cs typeface="JetBrains Mono"/>
                  <a:sym typeface="JetBrains Mono"/>
                </a:rPr>
                <a:t>throw new</a:t>
              </a:r>
              <a:r>
                <a:rPr lang="en-US" sz="1050">
                  <a:solidFill>
                    <a:srgbClr val="E2E8F0"/>
                  </a:solidFill>
                  <a:latin typeface="JetBrains Mono"/>
                  <a:ea typeface="JetBrains Mono"/>
                  <a:cs typeface="JetBrains Mono"/>
                  <a:sym typeface="JetBrains Mono"/>
                </a:rPr>
                <a:t> IllegalArgumentException(</a:t>
              </a:r>
              <a:endParaRPr sz="1050">
                <a:solidFill>
                  <a:srgbClr val="E2E8F0"/>
                </a:solidFill>
                <a:latin typeface="JetBrains Mono"/>
                <a:ea typeface="JetBrains Mono"/>
                <a:cs typeface="JetBrains Mono"/>
                <a:sym typeface="JetBrains Mono"/>
              </a:endParaRPr>
            </a:p>
            <a:p>
              <a:pPr indent="0" lvl="0" marL="0" rtl="0" algn="l">
                <a:spcBef>
                  <a:spcPts val="300"/>
                </a:spcBef>
                <a:spcAft>
                  <a:spcPts val="0"/>
                </a:spcAft>
                <a:buNone/>
              </a:pPr>
              <a:r>
                <a:rPr lang="en-US" sz="1050">
                  <a:solidFill>
                    <a:srgbClr val="A3E635"/>
                  </a:solidFill>
                  <a:latin typeface="JetBrains Mono"/>
                  <a:ea typeface="JetBrains Mono"/>
                  <a:cs typeface="JetBrains Mono"/>
                  <a:sym typeface="JetBrains Mono"/>
                </a:rPr>
                <a:t>"Positive deposit required"</a:t>
              </a:r>
              <a:endParaRPr sz="1050">
                <a:solidFill>
                  <a:srgbClr val="E2E8F0"/>
                </a:solidFill>
                <a:latin typeface="JetBrains Mono"/>
                <a:ea typeface="JetBrains Mono"/>
                <a:cs typeface="JetBrains Mono"/>
                <a:sym typeface="JetBrains Mono"/>
              </a:endParaRPr>
            </a:p>
            <a:p>
              <a:pPr indent="0" lvl="0" marL="0" rtl="0" algn="l">
                <a:spcBef>
                  <a:spcPts val="300"/>
                </a:spcBef>
                <a:spcAft>
                  <a:spcPts val="0"/>
                </a:spcAft>
                <a:buNone/>
              </a:pPr>
              <a:r>
                <a:rPr lang="en-US" sz="1050">
                  <a:solidFill>
                    <a:srgbClr val="E2E8F0"/>
                  </a:solidFill>
                  <a:latin typeface="JetBrains Mono"/>
                  <a:ea typeface="JetBrains Mono"/>
                  <a:cs typeface="JetBrains Mono"/>
                  <a:sym typeface="JetBrains Mono"/>
                </a:rPr>
                <a:t>);</a:t>
              </a:r>
              <a:endParaRPr sz="1050">
                <a:solidFill>
                  <a:srgbClr val="E2E8F0"/>
                </a:solidFill>
                <a:latin typeface="JetBrains Mono"/>
                <a:ea typeface="JetBrains Mono"/>
                <a:cs typeface="JetBrains Mono"/>
                <a:sym typeface="JetBrains Mono"/>
              </a:endParaRPr>
            </a:p>
            <a:p>
              <a:pPr indent="0" lvl="0" marL="0" rtl="0" algn="l">
                <a:spcBef>
                  <a:spcPts val="450"/>
                </a:spcBef>
                <a:spcAft>
                  <a:spcPts val="0"/>
                </a:spcAft>
                <a:buNone/>
              </a:pPr>
              <a:r>
                <a:rPr lang="en-US" sz="1050">
                  <a:solidFill>
                    <a:srgbClr val="E2E8F0"/>
                  </a:solidFill>
                  <a:latin typeface="JetBrains Mono"/>
                  <a:ea typeface="JetBrains Mono"/>
                  <a:cs typeface="JetBrains Mono"/>
                  <a:sym typeface="JetBrains Mono"/>
                </a:rPr>
                <a:t>}</a:t>
              </a:r>
              <a:endParaRPr sz="1050">
                <a:solidFill>
                  <a:srgbClr val="E2E8F0"/>
                </a:solidFill>
                <a:latin typeface="JetBrains Mono"/>
                <a:ea typeface="JetBrains Mono"/>
                <a:cs typeface="JetBrains Mono"/>
                <a:sym typeface="JetBrains Mono"/>
              </a:endParaRPr>
            </a:p>
            <a:p>
              <a:pPr indent="0" lvl="0" marL="0" rtl="0" algn="l">
                <a:spcBef>
                  <a:spcPts val="600"/>
                </a:spcBef>
                <a:spcAft>
                  <a:spcPts val="0"/>
                </a:spcAft>
                <a:buNone/>
              </a:pPr>
              <a:r>
                <a:rPr lang="en-US" sz="1050">
                  <a:solidFill>
                    <a:srgbClr val="F43F5E"/>
                  </a:solidFill>
                  <a:latin typeface="JetBrains Mono"/>
                  <a:ea typeface="JetBrains Mono"/>
                  <a:cs typeface="JetBrains Mono"/>
                  <a:sym typeface="JetBrains Mono"/>
                </a:rPr>
                <a:t>this</a:t>
              </a:r>
              <a:r>
                <a:rPr lang="en-US" sz="1050">
                  <a:solidFill>
                    <a:srgbClr val="E2E8F0"/>
                  </a:solidFill>
                  <a:latin typeface="JetBrains Mono"/>
                  <a:ea typeface="JetBrains Mono"/>
                  <a:cs typeface="JetBrains Mono"/>
                  <a:sym typeface="JetBrains Mono"/>
                </a:rPr>
                <a:t>.vaultBalance = </a:t>
              </a:r>
              <a:r>
                <a:rPr lang="en-US" sz="1050">
                  <a:solidFill>
                    <a:srgbClr val="F43F5E"/>
                  </a:solidFill>
                  <a:latin typeface="JetBrains Mono"/>
                  <a:ea typeface="JetBrains Mono"/>
                  <a:cs typeface="JetBrains Mono"/>
                  <a:sym typeface="JetBrains Mono"/>
                </a:rPr>
                <a:t>this</a:t>
              </a:r>
              <a:r>
                <a:rPr lang="en-US" sz="1050">
                  <a:solidFill>
                    <a:srgbClr val="E2E8F0"/>
                  </a:solidFill>
                  <a:latin typeface="JetBrains Mono"/>
                  <a:ea typeface="JetBrains Mono"/>
                  <a:cs typeface="JetBrains Mono"/>
                  <a:sym typeface="JetBrains Mono"/>
                </a:rPr>
                <a:t>.vaultBalance.add(amount);</a:t>
              </a:r>
              <a:endParaRPr sz="1050">
                <a:solidFill>
                  <a:srgbClr val="E2E8F0"/>
                </a:solidFill>
                <a:latin typeface="JetBrains Mono"/>
                <a:ea typeface="JetBrains Mono"/>
                <a:cs typeface="JetBrains Mono"/>
                <a:sym typeface="JetBrains Mono"/>
              </a:endParaRPr>
            </a:p>
            <a:p>
              <a:pPr indent="0" lvl="0" marL="0" rtl="0" algn="l">
                <a:spcBef>
                  <a:spcPts val="450"/>
                </a:spcBef>
                <a:spcAft>
                  <a:spcPts val="0"/>
                </a:spcAft>
                <a:buNone/>
              </a:pPr>
              <a:r>
                <a:rPr lang="en-US" sz="1050">
                  <a:solidFill>
                    <a:srgbClr val="E2E8F0"/>
                  </a:solidFill>
                  <a:latin typeface="JetBrains Mono"/>
                  <a:ea typeface="JetBrains Mono"/>
                  <a:cs typeface="JetBrains Mono"/>
                  <a:sym typeface="JetBrains Mono"/>
                </a:rPr>
                <a:t>}</a:t>
              </a:r>
              <a:endParaRPr sz="1050">
                <a:solidFill>
                  <a:srgbClr val="E2E8F0"/>
                </a:solidFill>
                <a:latin typeface="JetBrains Mono"/>
                <a:ea typeface="JetBrains Mono"/>
                <a:cs typeface="JetBrains Mono"/>
                <a:sym typeface="JetBrains Mono"/>
              </a:endParaRPr>
            </a:p>
            <a:p>
              <a:pPr indent="0" lvl="0" marL="0" rtl="0" algn="l">
                <a:spcBef>
                  <a:spcPts val="450"/>
                </a:spcBef>
                <a:spcAft>
                  <a:spcPts val="0"/>
                </a:spcAft>
                <a:buNone/>
              </a:pPr>
              <a:r>
                <a:rPr lang="en-US" sz="1050">
                  <a:solidFill>
                    <a:srgbClr val="E2E8F0"/>
                  </a:solidFill>
                  <a:latin typeface="JetBrains Mono"/>
                  <a:ea typeface="JetBrains Mono"/>
                  <a:cs typeface="JetBrains Mono"/>
                  <a:sym typeface="JetBrains Mono"/>
                </a:rPr>
                <a:t>}</a:t>
              </a:r>
              <a:endParaRPr sz="1050">
                <a:solidFill>
                  <a:srgbClr val="E2E8F0"/>
                </a:solidFill>
                <a:latin typeface="JetBrains Mono"/>
                <a:ea typeface="JetBrains Mono"/>
                <a:cs typeface="JetBrains Mono"/>
                <a:sym typeface="JetBrains Mono"/>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7" name="Shape 127"/>
        <p:cNvGrpSpPr/>
        <p:nvPr/>
      </p:nvGrpSpPr>
      <p:grpSpPr>
        <a:xfrm>
          <a:off x="0" y="0"/>
          <a:ext cx="0" cy="0"/>
          <a:chOff x="0" y="0"/>
          <a:chExt cx="0" cy="0"/>
        </a:xfrm>
      </p:grpSpPr>
      <p:grpSp>
        <p:nvGrpSpPr>
          <p:cNvPr id="128" name="Google Shape;128;p15"/>
          <p:cNvGrpSpPr/>
          <p:nvPr/>
        </p:nvGrpSpPr>
        <p:grpSpPr>
          <a:xfrm>
            <a:off x="762000" y="342900"/>
            <a:ext cx="10667850" cy="609750"/>
            <a:chOff x="762000" y="342900"/>
            <a:chExt cx="10667850" cy="609750"/>
          </a:xfrm>
        </p:grpSpPr>
        <p:sp>
          <p:nvSpPr>
            <p:cNvPr id="129" name="Google Shape;129;p15"/>
            <p:cNvSpPr/>
            <p:nvPr/>
          </p:nvSpPr>
          <p:spPr>
            <a:xfrm>
              <a:off x="9810750" y="342900"/>
              <a:ext cx="1619100" cy="304800"/>
            </a:xfrm>
            <a:prstGeom prst="roundRect">
              <a:avLst>
                <a:gd fmla="val 50000" name="adj"/>
              </a:avLst>
            </a:prstGeom>
            <a:solidFill>
              <a:srgbClr val="ECFDF5"/>
            </a:solidFill>
            <a:ln cap="flat" cmpd="sng" w="9525">
              <a:solidFill>
                <a:srgbClr val="A7F3D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0" name="Google Shape;130;p15"/>
            <p:cNvSpPr txBox="1"/>
            <p:nvPr/>
          </p:nvSpPr>
          <p:spPr>
            <a:xfrm>
              <a:off x="9810750" y="342900"/>
              <a:ext cx="1619100" cy="304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950">
                  <a:solidFill>
                    <a:srgbClr val="047857"/>
                  </a:solidFill>
                  <a:latin typeface="Plus Jakarta Sans"/>
                  <a:ea typeface="Plus Jakarta Sans"/>
                  <a:cs typeface="Plus Jakarta Sans"/>
                  <a:sym typeface="Plus Jakarta Sans"/>
                </a:rPr>
                <a:t>Maintainability &amp; Scale</a:t>
              </a:r>
              <a:endParaRPr b="1" sz="950">
                <a:solidFill>
                  <a:srgbClr val="047857"/>
                </a:solidFill>
                <a:latin typeface="Plus Jakarta Sans"/>
                <a:ea typeface="Plus Jakarta Sans"/>
                <a:cs typeface="Plus Jakarta Sans"/>
                <a:sym typeface="Plus Jakarta Sans"/>
              </a:endParaRPr>
            </a:p>
          </p:txBody>
        </p:sp>
        <p:sp>
          <p:nvSpPr>
            <p:cNvPr id="131" name="Google Shape;131;p15"/>
            <p:cNvSpPr txBox="1"/>
            <p:nvPr/>
          </p:nvSpPr>
          <p:spPr>
            <a:xfrm>
              <a:off x="762000" y="342900"/>
              <a:ext cx="2857500" cy="209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950">
                  <a:solidFill>
                    <a:srgbClr val="0284C7"/>
                  </a:solidFill>
                  <a:latin typeface="Plus Jakarta Sans"/>
                  <a:ea typeface="Plus Jakarta Sans"/>
                  <a:cs typeface="Plus Jakarta Sans"/>
                  <a:sym typeface="Plus Jakarta Sans"/>
                </a:rPr>
                <a:t>CONCEPT 02</a:t>
              </a:r>
              <a:endParaRPr b="1" sz="950">
                <a:solidFill>
                  <a:srgbClr val="0284C7"/>
                </a:solidFill>
                <a:latin typeface="Plus Jakarta Sans"/>
                <a:ea typeface="Plus Jakarta Sans"/>
                <a:cs typeface="Plus Jakarta Sans"/>
                <a:sym typeface="Plus Jakarta Sans"/>
              </a:endParaRPr>
            </a:p>
          </p:txBody>
        </p:sp>
        <p:sp>
          <p:nvSpPr>
            <p:cNvPr id="132" name="Google Shape;132;p15"/>
            <p:cNvSpPr txBox="1"/>
            <p:nvPr/>
          </p:nvSpPr>
          <p:spPr>
            <a:xfrm>
              <a:off x="762000" y="552450"/>
              <a:ext cx="3810000" cy="400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2600">
                  <a:solidFill>
                    <a:srgbClr val="0F172A"/>
                  </a:solidFill>
                  <a:latin typeface="Plus Jakarta Sans ExtraBold"/>
                  <a:ea typeface="Plus Jakarta Sans ExtraBold"/>
                  <a:cs typeface="Plus Jakarta Sans ExtraBold"/>
                  <a:sym typeface="Plus Jakarta Sans ExtraBold"/>
                </a:rPr>
                <a:t>Why OOP?</a:t>
              </a:r>
              <a:endParaRPr b="0" sz="2600">
                <a:solidFill>
                  <a:srgbClr val="0F172A"/>
                </a:solidFill>
                <a:latin typeface="Plus Jakarta Sans ExtraBold"/>
                <a:ea typeface="Plus Jakarta Sans ExtraBold"/>
                <a:cs typeface="Plus Jakarta Sans ExtraBold"/>
                <a:sym typeface="Plus Jakarta Sans ExtraBold"/>
              </a:endParaRPr>
            </a:p>
          </p:txBody>
        </p:sp>
      </p:grpSp>
      <p:grpSp>
        <p:nvGrpSpPr>
          <p:cNvPr id="133" name="Google Shape;133;p15"/>
          <p:cNvGrpSpPr/>
          <p:nvPr/>
        </p:nvGrpSpPr>
        <p:grpSpPr>
          <a:xfrm>
            <a:off x="762000" y="1085850"/>
            <a:ext cx="10668000" cy="819300"/>
            <a:chOff x="762000" y="1085850"/>
            <a:chExt cx="10668000" cy="819300"/>
          </a:xfrm>
        </p:grpSpPr>
        <p:sp>
          <p:nvSpPr>
            <p:cNvPr id="134" name="Google Shape;134;p15"/>
            <p:cNvSpPr/>
            <p:nvPr/>
          </p:nvSpPr>
          <p:spPr>
            <a:xfrm>
              <a:off x="762000" y="1085850"/>
              <a:ext cx="10668000" cy="819300"/>
            </a:xfrm>
            <a:prstGeom prst="roundRect">
              <a:avLst>
                <a:gd fmla="val 9302"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5" name="Google Shape;135;p15"/>
            <p:cNvSpPr/>
            <p:nvPr/>
          </p:nvSpPr>
          <p:spPr>
            <a:xfrm>
              <a:off x="762000" y="1085850"/>
              <a:ext cx="47700" cy="819300"/>
            </a:xfrm>
            <a:prstGeom prst="roundRect">
              <a:avLst>
                <a:gd fmla="val 40000" name="adj"/>
              </a:avLst>
            </a:prstGeom>
            <a:solidFill>
              <a:srgbClr val="0284C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6" name="Google Shape;136;p15"/>
            <p:cNvSpPr txBox="1"/>
            <p:nvPr/>
          </p:nvSpPr>
          <p:spPr>
            <a:xfrm>
              <a:off x="971550" y="1162050"/>
              <a:ext cx="10268100" cy="666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850">
                  <a:solidFill>
                    <a:srgbClr val="0284C7"/>
                  </a:solidFill>
                  <a:latin typeface="Plus Jakarta Sans"/>
                  <a:ea typeface="Plus Jakarta Sans"/>
                  <a:cs typeface="Plus Jakarta Sans"/>
                  <a:sym typeface="Plus Jakarta Sans"/>
                </a:rPr>
                <a:t>SIMPLE DEFINITION</a:t>
              </a:r>
              <a:endParaRPr b="1" sz="850">
                <a:solidFill>
                  <a:srgbClr val="0284C7"/>
                </a:solidFill>
                <a:latin typeface="Plus Jakarta Sans"/>
                <a:ea typeface="Plus Jakarta Sans"/>
                <a:cs typeface="Plus Jakarta Sans"/>
                <a:sym typeface="Plus Jakarta Sans"/>
              </a:endParaRPr>
            </a:p>
            <a:p>
              <a:pPr indent="0" lvl="0" marL="0" rtl="0" algn="l">
                <a:spcBef>
                  <a:spcPts val="300"/>
                </a:spcBef>
                <a:spcAft>
                  <a:spcPts val="0"/>
                </a:spcAft>
                <a:buNone/>
              </a:pPr>
              <a:r>
                <a:rPr b="0" lang="en-US" sz="1100">
                  <a:solidFill>
                    <a:srgbClr val="1E293B"/>
                  </a:solidFill>
                  <a:latin typeface="Plus Jakarta Sans SemiBold"/>
                  <a:ea typeface="Plus Jakarta Sans SemiBold"/>
                  <a:cs typeface="Plus Jakarta Sans SemiBold"/>
                  <a:sym typeface="Plus Jakarta Sans SemiBold"/>
                </a:rPr>
                <a:t>Without OOP, code turns into a messy bowl of spaghetti where fixing one bug breaks five other things. OOP organizes code into neat, independent sections so you can fix, test, or add features without breaking the rest of the application.</a:t>
              </a:r>
              <a:endParaRPr b="0" sz="1100">
                <a:solidFill>
                  <a:srgbClr val="1E293B"/>
                </a:solidFill>
                <a:latin typeface="Plus Jakarta Sans SemiBold"/>
                <a:ea typeface="Plus Jakarta Sans SemiBold"/>
                <a:cs typeface="Plus Jakarta Sans SemiBold"/>
                <a:sym typeface="Plus Jakarta Sans SemiBold"/>
              </a:endParaRPr>
            </a:p>
          </p:txBody>
        </p:sp>
      </p:grpSp>
      <p:grpSp>
        <p:nvGrpSpPr>
          <p:cNvPr id="137" name="Google Shape;137;p15"/>
          <p:cNvGrpSpPr/>
          <p:nvPr/>
        </p:nvGrpSpPr>
        <p:grpSpPr>
          <a:xfrm>
            <a:off x="762000" y="2095500"/>
            <a:ext cx="5095800" cy="4286400"/>
            <a:chOff x="762000" y="2095500"/>
            <a:chExt cx="5095800" cy="4286400"/>
          </a:xfrm>
        </p:grpSpPr>
        <p:sp>
          <p:nvSpPr>
            <p:cNvPr id="138" name="Google Shape;138;p15"/>
            <p:cNvSpPr/>
            <p:nvPr/>
          </p:nvSpPr>
          <p:spPr>
            <a:xfrm>
              <a:off x="762000" y="2095500"/>
              <a:ext cx="5095800" cy="4286400"/>
            </a:xfrm>
            <a:prstGeom prst="roundRect">
              <a:avLst>
                <a:gd fmla="val 2666"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9" name="Google Shape;139;p15"/>
            <p:cNvSpPr txBox="1"/>
            <p:nvPr/>
          </p:nvSpPr>
          <p:spPr>
            <a:xfrm>
              <a:off x="1000125" y="2286000"/>
              <a:ext cx="4619700" cy="1333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850">
                  <a:solidFill>
                    <a:srgbClr val="0284C7"/>
                  </a:solidFill>
                  <a:latin typeface="Plus Jakarta Sans"/>
                  <a:ea typeface="Plus Jakarta Sans"/>
                  <a:cs typeface="Plus Jakarta Sans"/>
                  <a:sym typeface="Plus Jakarta Sans"/>
                </a:rPr>
                <a:t>REAL-WORLD ANALOGY</a:t>
              </a:r>
              <a:endParaRPr b="1" sz="850">
                <a:solidFill>
                  <a:srgbClr val="0284C7"/>
                </a:solidFill>
                <a:latin typeface="Plus Jakarta Sans"/>
                <a:ea typeface="Plus Jakarta Sans"/>
                <a:cs typeface="Plus Jakarta Sans"/>
                <a:sym typeface="Plus Jakarta Sans"/>
              </a:endParaRPr>
            </a:p>
            <a:p>
              <a:pPr indent="0" lvl="0" marL="0" rtl="0" algn="l">
                <a:spcBef>
                  <a:spcPts val="150"/>
                </a:spcBef>
                <a:spcAft>
                  <a:spcPts val="0"/>
                </a:spcAft>
                <a:buNone/>
              </a:pPr>
              <a:r>
                <a:rPr b="1" lang="en-US" sz="1800">
                  <a:solidFill>
                    <a:srgbClr val="0F172A"/>
                  </a:solidFill>
                  <a:latin typeface="Plus Jakarta Sans"/>
                  <a:ea typeface="Plus Jakarta Sans"/>
                  <a:cs typeface="Plus Jakarta Sans"/>
                  <a:sym typeface="Plus Jakarta Sans"/>
                </a:rPr>
                <a:t>Modular Audio Systems</a:t>
              </a:r>
              <a:endParaRPr b="1" sz="1800">
                <a:solidFill>
                  <a:srgbClr val="0F172A"/>
                </a:solidFill>
                <a:latin typeface="Plus Jakarta Sans"/>
                <a:ea typeface="Plus Jakarta Sans"/>
                <a:cs typeface="Plus Jakarta Sans"/>
                <a:sym typeface="Plus Jakarta Sans"/>
              </a:endParaRPr>
            </a:p>
            <a:p>
              <a:pPr indent="0" lvl="0" marL="0" rtl="0" algn="l">
                <a:spcBef>
                  <a:spcPts val="750"/>
                </a:spcBef>
                <a:spcAft>
                  <a:spcPts val="0"/>
                </a:spcAft>
                <a:buNone/>
              </a:pPr>
              <a:r>
                <a:rPr b="0" lang="en-US" sz="1050">
                  <a:solidFill>
                    <a:srgbClr val="475569"/>
                  </a:solidFill>
                  <a:latin typeface="Plus Jakarta Sans"/>
                  <a:ea typeface="Plus Jakarta Sans"/>
                  <a:cs typeface="Plus Jakarta Sans"/>
                  <a:sym typeface="Plus Jakarta Sans"/>
                </a:rPr>
                <a:t>In old monolithic audio players, if the cassette deck broke, the entire stereo unit was ruined. In modern modular hi-fi rigs, each component connects through standardized cables. You can replace a speaker without rewiring the amplifier.</a:t>
              </a:r>
              <a:endParaRPr b="0" sz="1050">
                <a:solidFill>
                  <a:srgbClr val="475569"/>
                </a:solidFill>
                <a:latin typeface="Plus Jakarta Sans"/>
                <a:ea typeface="Plus Jakarta Sans"/>
                <a:cs typeface="Plus Jakarta Sans"/>
                <a:sym typeface="Plus Jakarta Sans"/>
              </a:endParaRPr>
            </a:p>
          </p:txBody>
        </p:sp>
        <p:sp>
          <p:nvSpPr>
            <p:cNvPr id="140" name="Google Shape;140;p15"/>
            <p:cNvSpPr/>
            <p:nvPr/>
          </p:nvSpPr>
          <p:spPr>
            <a:xfrm>
              <a:off x="1000125" y="3905250"/>
              <a:ext cx="4619700" cy="904800"/>
            </a:xfrm>
            <a:prstGeom prst="roundRect">
              <a:avLst>
                <a:gd fmla="val 8421" name="adj"/>
              </a:avLst>
            </a:prstGeom>
            <a:solidFill>
              <a:srgbClr val="FEF2F2"/>
            </a:solidFill>
            <a:ln cap="flat" cmpd="sng" w="9525">
              <a:solidFill>
                <a:srgbClr val="FECAC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1" name="Google Shape;141;p15"/>
            <p:cNvSpPr txBox="1"/>
            <p:nvPr/>
          </p:nvSpPr>
          <p:spPr>
            <a:xfrm>
              <a:off x="1143000" y="4000500"/>
              <a:ext cx="4333800" cy="714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850">
                  <a:solidFill>
                    <a:srgbClr val="DC2626"/>
                  </a:solidFill>
                  <a:latin typeface="Plus Jakarta Sans"/>
                  <a:ea typeface="Plus Jakarta Sans"/>
                  <a:cs typeface="Plus Jakarta Sans"/>
                  <a:sym typeface="Plus Jakarta Sans"/>
                </a:rPr>
                <a:t>PROCEDURAL FLAW</a:t>
              </a:r>
              <a:endParaRPr b="1" sz="850">
                <a:solidFill>
                  <a:srgbClr val="DC2626"/>
                </a:solidFill>
                <a:latin typeface="Plus Jakarta Sans"/>
                <a:ea typeface="Plus Jakarta Sans"/>
                <a:cs typeface="Plus Jakarta Sans"/>
                <a:sym typeface="Plus Jakarta Sans"/>
              </a:endParaRPr>
            </a:p>
            <a:p>
              <a:pPr indent="0" lvl="0" marL="0" rtl="0" algn="l">
                <a:spcBef>
                  <a:spcPts val="300"/>
                </a:spcBef>
                <a:spcAft>
                  <a:spcPts val="0"/>
                </a:spcAft>
                <a:buNone/>
              </a:pPr>
              <a:r>
                <a:rPr b="0" lang="en-US" sz="1000">
                  <a:solidFill>
                    <a:srgbClr val="991B1B"/>
                  </a:solidFill>
                  <a:latin typeface="Plus Jakarta Sans SemiBold"/>
                  <a:ea typeface="Plus Jakarta Sans SemiBold"/>
                  <a:cs typeface="Plus Jakarta Sans SemiBold"/>
                  <a:sym typeface="Plus Jakarta Sans SemiBold"/>
                </a:rPr>
                <a:t>Global state mutations trigger unpredictable bugs in unrelated modules.</a:t>
              </a:r>
              <a:endParaRPr b="0" sz="1000">
                <a:solidFill>
                  <a:srgbClr val="991B1B"/>
                </a:solidFill>
                <a:latin typeface="Plus Jakarta Sans SemiBold"/>
                <a:ea typeface="Plus Jakarta Sans SemiBold"/>
                <a:cs typeface="Plus Jakarta Sans SemiBold"/>
                <a:sym typeface="Plus Jakarta Sans SemiBold"/>
              </a:endParaRPr>
            </a:p>
          </p:txBody>
        </p:sp>
        <p:sp>
          <p:nvSpPr>
            <p:cNvPr id="142" name="Google Shape;142;p15"/>
            <p:cNvSpPr/>
            <p:nvPr/>
          </p:nvSpPr>
          <p:spPr>
            <a:xfrm>
              <a:off x="1000125" y="5000625"/>
              <a:ext cx="4619700" cy="1095300"/>
            </a:xfrm>
            <a:prstGeom prst="roundRect">
              <a:avLst>
                <a:gd fmla="val 6956" name="adj"/>
              </a:avLst>
            </a:prstGeom>
            <a:solidFill>
              <a:srgbClr val="ECFDF5"/>
            </a:solidFill>
            <a:ln cap="flat" cmpd="sng" w="9525">
              <a:solidFill>
                <a:srgbClr val="A7F3D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3" name="Google Shape;143;p15"/>
            <p:cNvSpPr txBox="1"/>
            <p:nvPr/>
          </p:nvSpPr>
          <p:spPr>
            <a:xfrm>
              <a:off x="1143000" y="5095875"/>
              <a:ext cx="4333800" cy="9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850">
                  <a:solidFill>
                    <a:srgbClr val="047857"/>
                  </a:solidFill>
                  <a:latin typeface="Plus Jakarta Sans"/>
                  <a:ea typeface="Plus Jakarta Sans"/>
                  <a:cs typeface="Plus Jakarta Sans"/>
                  <a:sym typeface="Plus Jakarta Sans"/>
                </a:rPr>
                <a:t>QA VIEW &amp; BENEFIT</a:t>
              </a:r>
              <a:endParaRPr b="1" sz="850">
                <a:solidFill>
                  <a:srgbClr val="047857"/>
                </a:solidFill>
                <a:latin typeface="Plus Jakarta Sans"/>
                <a:ea typeface="Plus Jakarta Sans"/>
                <a:cs typeface="Plus Jakarta Sans"/>
                <a:sym typeface="Plus Jakarta Sans"/>
              </a:endParaRPr>
            </a:p>
            <a:p>
              <a:pPr indent="0" lvl="0" marL="0" rtl="0" algn="l">
                <a:spcBef>
                  <a:spcPts val="300"/>
                </a:spcBef>
                <a:spcAft>
                  <a:spcPts val="0"/>
                </a:spcAft>
                <a:buNone/>
              </a:pPr>
              <a:r>
                <a:rPr b="0" lang="en-US" sz="1000">
                  <a:solidFill>
                    <a:srgbClr val="065F46"/>
                  </a:solidFill>
                  <a:latin typeface="Plus Jakarta Sans SemiBold"/>
                  <a:ea typeface="Plus Jakarta Sans SemiBold"/>
                  <a:cs typeface="Plus Jakarta Sans SemiBold"/>
                  <a:sym typeface="Plus Jakarta Sans SemiBold"/>
                </a:rPr>
                <a:t>Decoupled components allow localized fixes. Add new fee tiers without modifying tested legacy code.</a:t>
              </a:r>
              <a:endParaRPr b="0" sz="1000">
                <a:solidFill>
                  <a:srgbClr val="065F46"/>
                </a:solidFill>
                <a:latin typeface="Plus Jakarta Sans SemiBold"/>
                <a:ea typeface="Plus Jakarta Sans SemiBold"/>
                <a:cs typeface="Plus Jakarta Sans SemiBold"/>
                <a:sym typeface="Plus Jakarta Sans SemiBold"/>
              </a:endParaRPr>
            </a:p>
          </p:txBody>
        </p:sp>
      </p:grpSp>
      <p:grpSp>
        <p:nvGrpSpPr>
          <p:cNvPr id="144" name="Google Shape;144;p15"/>
          <p:cNvGrpSpPr/>
          <p:nvPr/>
        </p:nvGrpSpPr>
        <p:grpSpPr>
          <a:xfrm>
            <a:off x="6096000" y="2095500"/>
            <a:ext cx="5334000" cy="4286400"/>
            <a:chOff x="6096000" y="2095500"/>
            <a:chExt cx="5334000" cy="4286400"/>
          </a:xfrm>
        </p:grpSpPr>
        <p:sp>
          <p:nvSpPr>
            <p:cNvPr id="145" name="Google Shape;145;p15"/>
            <p:cNvSpPr/>
            <p:nvPr/>
          </p:nvSpPr>
          <p:spPr>
            <a:xfrm>
              <a:off x="6096000" y="2095500"/>
              <a:ext cx="5334000" cy="4286400"/>
            </a:xfrm>
            <a:prstGeom prst="roundRect">
              <a:avLst>
                <a:gd fmla="val 2666" name="adj"/>
              </a:avLst>
            </a:prstGeom>
            <a:solidFill>
              <a:srgbClr val="0F172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6" name="Google Shape;146;p15"/>
            <p:cNvSpPr/>
            <p:nvPr/>
          </p:nvSpPr>
          <p:spPr>
            <a:xfrm>
              <a:off x="6267450" y="2257425"/>
              <a:ext cx="95400" cy="95400"/>
            </a:xfrm>
            <a:prstGeom prst="ellipse">
              <a:avLst/>
            </a:prstGeom>
            <a:solidFill>
              <a:srgbClr val="EF44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7" name="Google Shape;147;p15"/>
            <p:cNvSpPr/>
            <p:nvPr/>
          </p:nvSpPr>
          <p:spPr>
            <a:xfrm>
              <a:off x="6419850" y="2257425"/>
              <a:ext cx="95400" cy="95400"/>
            </a:xfrm>
            <a:prstGeom prst="ellipse">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8" name="Google Shape;148;p15"/>
            <p:cNvSpPr/>
            <p:nvPr/>
          </p:nvSpPr>
          <p:spPr>
            <a:xfrm>
              <a:off x="6572250" y="2257425"/>
              <a:ext cx="95400" cy="95400"/>
            </a:xfrm>
            <a:prstGeom prst="ellipse">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9" name="Google Shape;149;p15"/>
            <p:cNvSpPr txBox="1"/>
            <p:nvPr/>
          </p:nvSpPr>
          <p:spPr>
            <a:xfrm>
              <a:off x="6810375" y="2219325"/>
              <a:ext cx="42864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950">
                  <a:solidFill>
                    <a:srgbClr val="94A3B8"/>
                  </a:solidFill>
                  <a:latin typeface="JetBrains Mono Medium"/>
                  <a:ea typeface="JetBrains Mono Medium"/>
                  <a:cs typeface="JetBrains Mono Medium"/>
                  <a:sym typeface="JetBrains Mono Medium"/>
                </a:rPr>
                <a:t>Procedural vs. OOP Code</a:t>
              </a:r>
              <a:endParaRPr b="0" sz="950">
                <a:solidFill>
                  <a:srgbClr val="94A3B8"/>
                </a:solidFill>
                <a:latin typeface="JetBrains Mono Medium"/>
                <a:ea typeface="JetBrains Mono Medium"/>
                <a:cs typeface="JetBrains Mono Medium"/>
                <a:sym typeface="JetBrains Mono Medium"/>
              </a:endParaRPr>
            </a:p>
          </p:txBody>
        </p:sp>
        <p:cxnSp>
          <p:nvCxnSpPr>
            <p:cNvPr id="150" name="Google Shape;150;p15"/>
            <p:cNvCxnSpPr/>
            <p:nvPr/>
          </p:nvCxnSpPr>
          <p:spPr>
            <a:xfrm>
              <a:off x="6096000" y="2495550"/>
              <a:ext cx="5334000" cy="0"/>
            </a:xfrm>
            <a:prstGeom prst="straightConnector1">
              <a:avLst/>
            </a:prstGeom>
            <a:solidFill>
              <a:srgbClr val="FFFFFF"/>
            </a:solidFill>
            <a:ln cap="flat" cmpd="sng" w="9525">
              <a:solidFill>
                <a:srgbClr val="1E293B"/>
              </a:solidFill>
              <a:prstDash val="solid"/>
              <a:round/>
              <a:headEnd len="sm" w="sm" type="none"/>
              <a:tailEnd len="sm" w="sm" type="none"/>
            </a:ln>
          </p:spPr>
        </p:cxnSp>
        <p:sp>
          <p:nvSpPr>
            <p:cNvPr id="151" name="Google Shape;151;p15"/>
            <p:cNvSpPr txBox="1"/>
            <p:nvPr/>
          </p:nvSpPr>
          <p:spPr>
            <a:xfrm>
              <a:off x="6334125" y="2647950"/>
              <a:ext cx="4857900" cy="3524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950">
                  <a:solidFill>
                    <a:srgbClr val="F43F5E"/>
                  </a:solidFill>
                  <a:latin typeface="JetBrains Mono"/>
                  <a:ea typeface="JetBrains Mono"/>
                  <a:cs typeface="JetBrains Mono"/>
                  <a:sym typeface="JetBrains Mono"/>
                </a:rPr>
                <a:t>// PROCEDURAL ANTI-PATTERN (High Regression Risk)</a:t>
              </a:r>
              <a:endParaRPr b="1" sz="950">
                <a:solidFill>
                  <a:srgbClr val="F43F5E"/>
                </a:solidFill>
                <a:latin typeface="JetBrains Mono"/>
                <a:ea typeface="JetBrains Mono"/>
                <a:cs typeface="JetBrains Mono"/>
                <a:sym typeface="JetBrains Mono"/>
              </a:endParaRPr>
            </a:p>
            <a:p>
              <a:pPr indent="0" lvl="0" marL="0" rtl="0" algn="l">
                <a:spcBef>
                  <a:spcPts val="450"/>
                </a:spcBef>
                <a:spcAft>
                  <a:spcPts val="0"/>
                </a:spcAft>
                <a:buNone/>
              </a:pPr>
              <a:r>
                <a:rPr b="0" lang="en-US" sz="950">
                  <a:solidFill>
                    <a:srgbClr val="CBD5E1"/>
                  </a:solidFill>
                  <a:latin typeface="JetBrains Mono"/>
                  <a:ea typeface="JetBrains Mono"/>
                  <a:cs typeface="JetBrains Mono"/>
                  <a:sym typeface="JetBrains Mono"/>
                </a:rPr>
                <a:t>double fee = (type == "VIP") ? 0.0 : amount * 0.02;</a:t>
              </a:r>
              <a:endParaRPr b="0" sz="950">
                <a:solidFill>
                  <a:srgbClr val="CBD5E1"/>
                </a:solidFill>
                <a:latin typeface="JetBrains Mono"/>
                <a:ea typeface="JetBrains Mono"/>
                <a:cs typeface="JetBrains Mono"/>
                <a:sym typeface="JetBrains Mono"/>
              </a:endParaRPr>
            </a:p>
            <a:p>
              <a:pPr indent="0" lvl="0" marL="0" rtl="0" algn="l">
                <a:spcBef>
                  <a:spcPts val="1800"/>
                </a:spcBef>
                <a:spcAft>
                  <a:spcPts val="0"/>
                </a:spcAft>
                <a:buNone/>
              </a:pPr>
              <a:r>
                <a:rPr b="1" lang="en-US" sz="950">
                  <a:solidFill>
                    <a:srgbClr val="38BDF8"/>
                  </a:solidFill>
                  <a:latin typeface="JetBrains Mono"/>
                  <a:ea typeface="JetBrains Mono"/>
                  <a:cs typeface="JetBrains Mono"/>
                  <a:sym typeface="JetBrains Mono"/>
                </a:rPr>
                <a:t>// OOP PATTERN (Open-Closed Principle)</a:t>
              </a:r>
              <a:endParaRPr b="1" sz="950">
                <a:solidFill>
                  <a:srgbClr val="38BDF8"/>
                </a:solidFill>
                <a:latin typeface="JetBrains Mono"/>
                <a:ea typeface="JetBrains Mono"/>
                <a:cs typeface="JetBrains Mono"/>
                <a:sym typeface="JetBrains Mono"/>
              </a:endParaRPr>
            </a:p>
            <a:p>
              <a:pPr indent="0" lvl="0" marL="0" rtl="0" algn="l">
                <a:spcBef>
                  <a:spcPts val="450"/>
                </a:spcBef>
                <a:spcAft>
                  <a:spcPts val="0"/>
                </a:spcAft>
                <a:buNone/>
              </a:pPr>
              <a:r>
                <a:rPr b="1" lang="en-US" sz="950">
                  <a:solidFill>
                    <a:srgbClr val="F43F5E"/>
                  </a:solidFill>
                  <a:latin typeface="JetBrains Mono"/>
                  <a:ea typeface="JetBrains Mono"/>
                  <a:cs typeface="JetBrains Mono"/>
                  <a:sym typeface="JetBrains Mono"/>
                </a:rPr>
                <a:t>public interface</a:t>
              </a:r>
              <a:r>
                <a:rPr b="0" lang="en-US" sz="950">
                  <a:solidFill>
                    <a:srgbClr val="E2E8F0"/>
                  </a:solidFill>
                  <a:latin typeface="JetBrains Mono"/>
                  <a:ea typeface="JetBrains Mono"/>
                  <a:cs typeface="JetBrains Mono"/>
                  <a:sym typeface="JetBrains Mono"/>
                </a:rPr>
                <a:t> </a:t>
              </a:r>
              <a:r>
                <a:rPr b="1" lang="en-US" sz="950">
                  <a:solidFill>
                    <a:srgbClr val="38BDF8"/>
                  </a:solidFill>
                  <a:latin typeface="JetBrains Mono"/>
                  <a:ea typeface="JetBrains Mono"/>
                  <a:cs typeface="JetBrains Mono"/>
                  <a:sym typeface="JetBrains Mono"/>
                </a:rPr>
                <a:t>FeeStrategy</a:t>
              </a:r>
              <a:r>
                <a:rPr b="0" lang="en-US" sz="950">
                  <a:solidFill>
                    <a:srgbClr val="E2E8F0"/>
                  </a:solidFill>
                  <a:latin typeface="JetBrains Mono"/>
                  <a:ea typeface="JetBrains Mono"/>
                  <a:cs typeface="JetBrains Mono"/>
                  <a:sym typeface="JetBrains Mono"/>
                </a:rPr>
                <a:t> {</a:t>
              </a:r>
              <a:endParaRPr b="0" sz="950">
                <a:solidFill>
                  <a:srgbClr val="E2E8F0"/>
                </a:solidFill>
                <a:latin typeface="JetBrains Mono"/>
                <a:ea typeface="JetBrains Mono"/>
                <a:cs typeface="JetBrains Mono"/>
                <a:sym typeface="JetBrains Mono"/>
              </a:endParaRPr>
            </a:p>
            <a:p>
              <a:pPr indent="0" lvl="0" marL="152400" marR="0" rtl="0" algn="l">
                <a:spcBef>
                  <a:spcPts val="300"/>
                </a:spcBef>
                <a:spcAft>
                  <a:spcPts val="0"/>
                </a:spcAft>
                <a:buNone/>
              </a:pPr>
              <a:r>
                <a:rPr b="0" lang="en-US" sz="950">
                  <a:solidFill>
                    <a:srgbClr val="E2E8F0"/>
                  </a:solidFill>
                  <a:latin typeface="JetBrains Mono"/>
                  <a:ea typeface="JetBrains Mono"/>
                  <a:cs typeface="JetBrains Mono"/>
                  <a:sym typeface="JetBrains Mono"/>
                </a:rPr>
                <a:t>BigDecimal compute(BigDecimal amount);</a:t>
              </a:r>
              <a:endParaRPr b="0" sz="950">
                <a:solidFill>
                  <a:srgbClr val="E2E8F0"/>
                </a:solidFill>
                <a:latin typeface="JetBrains Mono"/>
                <a:ea typeface="JetBrains Mono"/>
                <a:cs typeface="JetBrains Mono"/>
                <a:sym typeface="JetBrains Mono"/>
              </a:endParaRPr>
            </a:p>
            <a:p>
              <a:pPr indent="0" lvl="0" marL="0" rtl="0" algn="l">
                <a:spcBef>
                  <a:spcPts val="300"/>
                </a:spcBef>
                <a:spcAft>
                  <a:spcPts val="0"/>
                </a:spcAft>
                <a:buNone/>
              </a:pPr>
              <a:r>
                <a:rPr b="0" lang="en-US" sz="950">
                  <a:solidFill>
                    <a:srgbClr val="E2E8F0"/>
                  </a:solidFill>
                  <a:latin typeface="JetBrains Mono"/>
                  <a:ea typeface="JetBrains Mono"/>
                  <a:cs typeface="JetBrains Mono"/>
                  <a:sym typeface="JetBrains Mono"/>
                </a:rPr>
                <a:t>}</a:t>
              </a:r>
              <a:endParaRPr b="0" sz="950">
                <a:solidFill>
                  <a:srgbClr val="E2E8F0"/>
                </a:solidFill>
                <a:latin typeface="JetBrains Mono"/>
                <a:ea typeface="JetBrains Mono"/>
                <a:cs typeface="JetBrains Mono"/>
                <a:sym typeface="JetBrains Mono"/>
              </a:endParaRPr>
            </a:p>
            <a:p>
              <a:pPr indent="0" lvl="0" marL="0" rtl="0" algn="l">
                <a:spcBef>
                  <a:spcPts val="1050"/>
                </a:spcBef>
                <a:spcAft>
                  <a:spcPts val="0"/>
                </a:spcAft>
                <a:buNone/>
              </a:pPr>
              <a:r>
                <a:rPr b="1" lang="en-US" sz="950">
                  <a:solidFill>
                    <a:srgbClr val="F43F5E"/>
                  </a:solidFill>
                  <a:latin typeface="JetBrains Mono"/>
                  <a:ea typeface="JetBrains Mono"/>
                  <a:cs typeface="JetBrains Mono"/>
                  <a:sym typeface="JetBrains Mono"/>
                </a:rPr>
                <a:t>public class</a:t>
              </a:r>
              <a:r>
                <a:rPr b="0" lang="en-US" sz="950">
                  <a:solidFill>
                    <a:srgbClr val="E2E8F0"/>
                  </a:solidFill>
                  <a:latin typeface="JetBrains Mono"/>
                  <a:ea typeface="JetBrains Mono"/>
                  <a:cs typeface="JetBrains Mono"/>
                  <a:sym typeface="JetBrains Mono"/>
                </a:rPr>
                <a:t> </a:t>
              </a:r>
              <a:r>
                <a:rPr b="1" lang="en-US" sz="950">
                  <a:solidFill>
                    <a:srgbClr val="38BDF8"/>
                  </a:solidFill>
                  <a:latin typeface="JetBrains Mono"/>
                  <a:ea typeface="JetBrains Mono"/>
                  <a:cs typeface="JetBrains Mono"/>
                  <a:sym typeface="JetBrains Mono"/>
                </a:rPr>
                <a:t>StandardFee</a:t>
              </a:r>
              <a:r>
                <a:rPr b="0" lang="en-US" sz="950">
                  <a:solidFill>
                    <a:srgbClr val="E2E8F0"/>
                  </a:solidFill>
                  <a:latin typeface="JetBrains Mono"/>
                  <a:ea typeface="JetBrains Mono"/>
                  <a:cs typeface="JetBrains Mono"/>
                  <a:sym typeface="JetBrains Mono"/>
                </a:rPr>
                <a:t> </a:t>
              </a:r>
              <a:r>
                <a:rPr b="1" lang="en-US" sz="950">
                  <a:solidFill>
                    <a:srgbClr val="F43F5E"/>
                  </a:solidFill>
                  <a:latin typeface="JetBrains Mono"/>
                  <a:ea typeface="JetBrains Mono"/>
                  <a:cs typeface="JetBrains Mono"/>
                  <a:sym typeface="JetBrains Mono"/>
                </a:rPr>
                <a:t>implements</a:t>
              </a:r>
              <a:r>
                <a:rPr b="0" lang="en-US" sz="950">
                  <a:solidFill>
                    <a:srgbClr val="E2E8F0"/>
                  </a:solidFill>
                  <a:latin typeface="JetBrains Mono"/>
                  <a:ea typeface="JetBrains Mono"/>
                  <a:cs typeface="JetBrains Mono"/>
                  <a:sym typeface="JetBrains Mono"/>
                </a:rPr>
                <a:t> FeeStrategy { ... }</a:t>
              </a:r>
              <a:endParaRPr b="0" sz="950">
                <a:solidFill>
                  <a:srgbClr val="E2E8F0"/>
                </a:solidFill>
                <a:latin typeface="JetBrains Mono"/>
                <a:ea typeface="JetBrains Mono"/>
                <a:cs typeface="JetBrains Mono"/>
                <a:sym typeface="JetBrains Mono"/>
              </a:endParaRPr>
            </a:p>
            <a:p>
              <a:pPr indent="0" lvl="0" marL="0" rtl="0" algn="l">
                <a:spcBef>
                  <a:spcPts val="600"/>
                </a:spcBef>
                <a:spcAft>
                  <a:spcPts val="0"/>
                </a:spcAft>
                <a:buNone/>
              </a:pPr>
              <a:r>
                <a:rPr b="1" lang="en-US" sz="950">
                  <a:solidFill>
                    <a:srgbClr val="F43F5E"/>
                  </a:solidFill>
                  <a:latin typeface="JetBrains Mono"/>
                  <a:ea typeface="JetBrains Mono"/>
                  <a:cs typeface="JetBrains Mono"/>
                  <a:sym typeface="JetBrains Mono"/>
                </a:rPr>
                <a:t>public class</a:t>
              </a:r>
              <a:r>
                <a:rPr b="0" lang="en-US" sz="950">
                  <a:solidFill>
                    <a:srgbClr val="E2E8F0"/>
                  </a:solidFill>
                  <a:latin typeface="JetBrains Mono"/>
                  <a:ea typeface="JetBrains Mono"/>
                  <a:cs typeface="JetBrains Mono"/>
                  <a:sym typeface="JetBrains Mono"/>
                </a:rPr>
                <a:t> </a:t>
              </a:r>
              <a:r>
                <a:rPr b="1" lang="en-US" sz="950">
                  <a:solidFill>
                    <a:srgbClr val="38BDF8"/>
                  </a:solidFill>
                  <a:latin typeface="JetBrains Mono"/>
                  <a:ea typeface="JetBrains Mono"/>
                  <a:cs typeface="JetBrains Mono"/>
                  <a:sym typeface="JetBrains Mono"/>
                </a:rPr>
                <a:t>VipFee</a:t>
              </a:r>
              <a:r>
                <a:rPr b="0" lang="en-US" sz="950">
                  <a:solidFill>
                    <a:srgbClr val="E2E8F0"/>
                  </a:solidFill>
                  <a:latin typeface="JetBrains Mono"/>
                  <a:ea typeface="JetBrains Mono"/>
                  <a:cs typeface="JetBrains Mono"/>
                  <a:sym typeface="JetBrains Mono"/>
                </a:rPr>
                <a:t> </a:t>
              </a:r>
              <a:r>
                <a:rPr b="1" lang="en-US" sz="950">
                  <a:solidFill>
                    <a:srgbClr val="F43F5E"/>
                  </a:solidFill>
                  <a:latin typeface="JetBrains Mono"/>
                  <a:ea typeface="JetBrains Mono"/>
                  <a:cs typeface="JetBrains Mono"/>
                  <a:sym typeface="JetBrains Mono"/>
                </a:rPr>
                <a:t>implements</a:t>
              </a:r>
              <a:r>
                <a:rPr b="0" lang="en-US" sz="950">
                  <a:solidFill>
                    <a:srgbClr val="E2E8F0"/>
                  </a:solidFill>
                  <a:latin typeface="JetBrains Mono"/>
                  <a:ea typeface="JetBrains Mono"/>
                  <a:cs typeface="JetBrains Mono"/>
                  <a:sym typeface="JetBrains Mono"/>
                </a:rPr>
                <a:t> FeeStrategy { ... }</a:t>
              </a:r>
              <a:endParaRPr b="0" sz="950">
                <a:solidFill>
                  <a:srgbClr val="E2E8F0"/>
                </a:solidFill>
                <a:latin typeface="JetBrains Mono"/>
                <a:ea typeface="JetBrains Mono"/>
                <a:cs typeface="JetBrains Mono"/>
                <a:sym typeface="JetBrains Mono"/>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5" name="Shape 155"/>
        <p:cNvGrpSpPr/>
        <p:nvPr/>
      </p:nvGrpSpPr>
      <p:grpSpPr>
        <a:xfrm>
          <a:off x="0" y="0"/>
          <a:ext cx="0" cy="0"/>
          <a:chOff x="0" y="0"/>
          <a:chExt cx="0" cy="0"/>
        </a:xfrm>
      </p:grpSpPr>
      <p:sp>
        <p:nvSpPr>
          <p:cNvPr id="156" name="Google Shape;156;p16"/>
          <p:cNvSpPr/>
          <p:nvPr/>
        </p:nvSpPr>
        <p:spPr>
          <a:xfrm>
            <a:off x="685800" y="1171575"/>
            <a:ext cx="10820400" cy="898921"/>
          </a:xfrm>
          <a:prstGeom prst="roundRect">
            <a:avLst>
              <a:gd fmla="val 4238" name="adj"/>
            </a:avLst>
          </a:prstGeom>
          <a:solidFill>
            <a:srgbClr val="F8FAF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7" name="Google Shape;157;p16"/>
          <p:cNvSpPr/>
          <p:nvPr/>
        </p:nvSpPr>
        <p:spPr>
          <a:xfrm>
            <a:off x="685800" y="1171575"/>
            <a:ext cx="38100" cy="898921"/>
          </a:xfrm>
          <a:prstGeom prst="rect">
            <a:avLst/>
          </a:prstGeom>
          <a:solidFill>
            <a:srgbClr val="0284C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8" name="Google Shape;158;p16"/>
          <p:cNvSpPr/>
          <p:nvPr/>
        </p:nvSpPr>
        <p:spPr>
          <a:xfrm>
            <a:off x="9944100" y="438150"/>
            <a:ext cx="1562100" cy="295275"/>
          </a:xfrm>
          <a:prstGeom prst="roundRect">
            <a:avLst>
              <a:gd fmla="val 19354" name="adj"/>
            </a:avLst>
          </a:prstGeom>
          <a:solidFill>
            <a:srgbClr val="EFF6FF"/>
          </a:solidFill>
          <a:ln cap="flat" cmpd="sng" w="9525">
            <a:solidFill>
              <a:srgbClr val="BFDBF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9" name="Google Shape;159;p16"/>
          <p:cNvSpPr/>
          <p:nvPr/>
        </p:nvSpPr>
        <p:spPr>
          <a:xfrm>
            <a:off x="685800" y="2222896"/>
            <a:ext cx="3492549" cy="4196953"/>
          </a:xfrm>
          <a:prstGeom prst="roundRect">
            <a:avLst>
              <a:gd fmla="val 2727" name="adj"/>
            </a:avLst>
          </a:prstGeom>
          <a:solidFill>
            <a:srgbClr val="F8FAF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0" name="Google Shape;160;p16"/>
          <p:cNvSpPr/>
          <p:nvPr/>
        </p:nvSpPr>
        <p:spPr>
          <a:xfrm>
            <a:off x="4349799" y="2222896"/>
            <a:ext cx="3492549" cy="4196953"/>
          </a:xfrm>
          <a:prstGeom prst="roundRect">
            <a:avLst>
              <a:gd fmla="val 2727" name="adj"/>
            </a:avLst>
          </a:prstGeom>
          <a:solidFill>
            <a:srgbClr val="F8FAF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1" name="Google Shape;161;p16"/>
          <p:cNvSpPr/>
          <p:nvPr/>
        </p:nvSpPr>
        <p:spPr>
          <a:xfrm>
            <a:off x="8013799" y="2222896"/>
            <a:ext cx="3492549" cy="4196953"/>
          </a:xfrm>
          <a:prstGeom prst="roundRect">
            <a:avLst>
              <a:gd fmla="val 2727" name="adj"/>
            </a:avLst>
          </a:prstGeom>
          <a:solidFill>
            <a:srgbClr val="F8FAF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2" name="Google Shape;162;p16"/>
          <p:cNvSpPr/>
          <p:nvPr/>
        </p:nvSpPr>
        <p:spPr>
          <a:xfrm>
            <a:off x="838200" y="3563838"/>
            <a:ext cx="3187749" cy="438150"/>
          </a:xfrm>
          <a:prstGeom prst="roundRect">
            <a:avLst>
              <a:gd fmla="val 13043" name="adj"/>
            </a:avLst>
          </a:prstGeom>
          <a:solidFill>
            <a:srgbClr val="E0F2F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3" name="Google Shape;163;p16"/>
          <p:cNvSpPr/>
          <p:nvPr/>
        </p:nvSpPr>
        <p:spPr>
          <a:xfrm>
            <a:off x="4502199" y="3554313"/>
            <a:ext cx="3187749" cy="438150"/>
          </a:xfrm>
          <a:prstGeom prst="roundRect">
            <a:avLst>
              <a:gd fmla="val 13043" name="adj"/>
            </a:avLst>
          </a:prstGeom>
          <a:solidFill>
            <a:srgbClr val="E0F2F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4" name="Google Shape;164;p16"/>
          <p:cNvSpPr/>
          <p:nvPr/>
        </p:nvSpPr>
        <p:spPr>
          <a:xfrm>
            <a:off x="8166199" y="3544788"/>
            <a:ext cx="3187749" cy="438150"/>
          </a:xfrm>
          <a:prstGeom prst="roundRect">
            <a:avLst>
              <a:gd fmla="val 13043" name="adj"/>
            </a:avLst>
          </a:prstGeom>
          <a:solidFill>
            <a:srgbClr val="E0F2F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5" name="Google Shape;165;p16"/>
          <p:cNvSpPr txBox="1"/>
          <p:nvPr/>
        </p:nvSpPr>
        <p:spPr>
          <a:xfrm>
            <a:off x="857250" y="1285875"/>
            <a:ext cx="10572750" cy="670321"/>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00" u="none" cap="none" strike="noStrike">
                <a:solidFill>
                  <a:srgbClr val="0284C7"/>
                </a:solidFill>
                <a:latin typeface="Plus Jakarta Sans"/>
                <a:ea typeface="Plus Jakarta Sans"/>
                <a:cs typeface="Plus Jakarta Sans"/>
                <a:sym typeface="Plus Jakarta Sans"/>
              </a:rPr>
              <a:t>Simple Definition</a:t>
            </a:r>
            <a:endParaRPr/>
          </a:p>
        </p:txBody>
      </p:sp>
      <p:sp>
        <p:nvSpPr>
          <p:cNvPr id="166" name="Google Shape;166;p16"/>
          <p:cNvSpPr txBox="1"/>
          <p:nvPr/>
        </p:nvSpPr>
        <p:spPr>
          <a:xfrm>
            <a:off x="685800" y="438150"/>
            <a:ext cx="2924175" cy="600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75" u="none" cap="none" strike="noStrike">
                <a:solidFill>
                  <a:srgbClr val="0284C7"/>
                </a:solidFill>
                <a:latin typeface="Plus Jakarta Sans"/>
                <a:ea typeface="Plus Jakarta Sans"/>
                <a:cs typeface="Plus Jakarta Sans"/>
                <a:sym typeface="Plus Jakarta Sans"/>
              </a:rPr>
              <a:t>Runtime Mechanics</a:t>
            </a:r>
            <a:endParaRPr/>
          </a:p>
        </p:txBody>
      </p:sp>
      <p:sp>
        <p:nvSpPr>
          <p:cNvPr id="167" name="Google Shape;167;p16"/>
          <p:cNvSpPr txBox="1"/>
          <p:nvPr/>
        </p:nvSpPr>
        <p:spPr>
          <a:xfrm>
            <a:off x="10058400" y="476250"/>
            <a:ext cx="1428750" cy="219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75" u="none" cap="none" strike="noStrike">
                <a:solidFill>
                  <a:srgbClr val="1D4ED8"/>
                </a:solidFill>
                <a:latin typeface="Plus Jakarta Sans"/>
                <a:ea typeface="Plus Jakarta Sans"/>
                <a:cs typeface="Plus Jakarta Sans"/>
                <a:sym typeface="Plus Jakarta Sans"/>
              </a:rPr>
              <a:t>Java Execution Layers</a:t>
            </a:r>
            <a:endParaRPr/>
          </a:p>
        </p:txBody>
      </p:sp>
      <p:sp>
        <p:nvSpPr>
          <p:cNvPr id="168" name="Google Shape;168;p16"/>
          <p:cNvSpPr txBox="1"/>
          <p:nvPr/>
        </p:nvSpPr>
        <p:spPr>
          <a:xfrm>
            <a:off x="895350" y="1514475"/>
            <a:ext cx="10534650" cy="441721"/>
          </a:xfrm>
          <a:prstGeom prst="rect">
            <a:avLst/>
          </a:prstGeom>
          <a:noFill/>
          <a:ln>
            <a:noFill/>
          </a:ln>
        </p:spPr>
        <p:txBody>
          <a:bodyPr anchorCtr="0" anchor="t" bIns="0" lIns="0" spcFirstLastPara="1" rIns="0" wrap="square" tIns="0">
            <a:spAutoFit/>
          </a:bodyPr>
          <a:lstStyle/>
          <a:p>
            <a:pPr indent="0" lvl="0" marL="0" marR="0" rtl="0" algn="l">
              <a:lnSpc>
                <a:spcPct val="144916"/>
              </a:lnSpc>
              <a:spcBef>
                <a:spcPts val="0"/>
              </a:spcBef>
              <a:spcAft>
                <a:spcPts val="0"/>
              </a:spcAft>
              <a:buNone/>
            </a:pPr>
            <a:r>
              <a:rPr b="1" i="0" lang="en-US" sz="1200" u="none" cap="none" strike="noStrike">
                <a:solidFill>
                  <a:srgbClr val="1E293B"/>
                </a:solidFill>
                <a:latin typeface="Plus Jakarta Sans"/>
                <a:ea typeface="Plus Jakarta Sans"/>
                <a:cs typeface="Plus Jakarta Sans"/>
                <a:sym typeface="Plus Jakarta Sans"/>
              </a:rPr>
              <a:t>The JDK is the developer toolbox for writing and compiling code. The JRE is the package containing the libraries needed to run Java programs. The JVM is the actual virtual computer engine that runs your compiled code line-by-line.</a:t>
            </a:r>
            <a:endParaRPr/>
          </a:p>
        </p:txBody>
      </p:sp>
      <p:sp>
        <p:nvSpPr>
          <p:cNvPr id="169" name="Google Shape;169;p16"/>
          <p:cNvSpPr txBox="1"/>
          <p:nvPr/>
        </p:nvSpPr>
        <p:spPr>
          <a:xfrm>
            <a:off x="685800" y="657225"/>
            <a:ext cx="3712964" cy="38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0F172A"/>
                </a:solidFill>
                <a:latin typeface="Plus Jakarta Sans"/>
                <a:ea typeface="Plus Jakarta Sans"/>
                <a:cs typeface="Plus Jakarta Sans"/>
                <a:sym typeface="Plus Jakarta Sans"/>
              </a:rPr>
              <a:t>JDK vs. JRE vs. JVM</a:t>
            </a:r>
            <a:endParaRPr/>
          </a:p>
        </p:txBody>
      </p:sp>
      <p:sp>
        <p:nvSpPr>
          <p:cNvPr id="170" name="Google Shape;170;p16"/>
          <p:cNvSpPr txBox="1"/>
          <p:nvPr/>
        </p:nvSpPr>
        <p:spPr>
          <a:xfrm>
            <a:off x="838200" y="2375296"/>
            <a:ext cx="3282999" cy="1626691"/>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00" u="none" cap="none" strike="noStrike">
                <a:solidFill>
                  <a:srgbClr val="0284C7"/>
                </a:solidFill>
                <a:latin typeface="Plus Jakarta Sans"/>
                <a:ea typeface="Plus Jakarta Sans"/>
                <a:cs typeface="Plus Jakarta Sans"/>
                <a:sym typeface="Plus Jakarta Sans"/>
              </a:rPr>
              <a:t>LAYER 1: DEVELOPER TOOLS</a:t>
            </a:r>
            <a:endParaRPr/>
          </a:p>
        </p:txBody>
      </p:sp>
      <p:sp>
        <p:nvSpPr>
          <p:cNvPr id="171" name="Google Shape;171;p16"/>
          <p:cNvSpPr txBox="1"/>
          <p:nvPr/>
        </p:nvSpPr>
        <p:spPr>
          <a:xfrm>
            <a:off x="838200" y="6124575"/>
            <a:ext cx="3984687" cy="1428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00" u="none" cap="none" strike="noStrike">
                <a:solidFill>
                  <a:srgbClr val="0284C7"/>
                </a:solidFill>
                <a:latin typeface="Plus Jakarta Sans"/>
                <a:ea typeface="Plus Jakarta Sans"/>
                <a:cs typeface="Plus Jakarta Sans"/>
                <a:sym typeface="Plus Jakarta Sans"/>
              </a:rPr>
              <a:t>Produces .class bytecode files.</a:t>
            </a:r>
            <a:endParaRPr/>
          </a:p>
        </p:txBody>
      </p:sp>
      <p:sp>
        <p:nvSpPr>
          <p:cNvPr id="172" name="Google Shape;172;p16"/>
          <p:cNvSpPr txBox="1"/>
          <p:nvPr/>
        </p:nvSpPr>
        <p:spPr>
          <a:xfrm>
            <a:off x="4502199" y="2375296"/>
            <a:ext cx="3282999" cy="16171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00" u="none" cap="none" strike="noStrike">
                <a:solidFill>
                  <a:srgbClr val="0284C7"/>
                </a:solidFill>
                <a:latin typeface="Plus Jakarta Sans"/>
                <a:ea typeface="Plus Jakarta Sans"/>
                <a:cs typeface="Plus Jakarta Sans"/>
                <a:sym typeface="Plus Jakarta Sans"/>
              </a:rPr>
              <a:t>LAYER 2: RUNTIME SUPPORT</a:t>
            </a:r>
            <a:endParaRPr/>
          </a:p>
        </p:txBody>
      </p:sp>
      <p:sp>
        <p:nvSpPr>
          <p:cNvPr id="173" name="Google Shape;173;p16"/>
          <p:cNvSpPr txBox="1"/>
          <p:nvPr/>
        </p:nvSpPr>
        <p:spPr>
          <a:xfrm>
            <a:off x="4502199" y="6124575"/>
            <a:ext cx="3984687" cy="1428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00" u="none" cap="none" strike="noStrike">
                <a:solidFill>
                  <a:srgbClr val="0284C7"/>
                </a:solidFill>
                <a:latin typeface="Plus Jakarta Sans"/>
                <a:ea typeface="Plus Jakarta Sans"/>
                <a:cs typeface="Plus Jakarta Sans"/>
                <a:sym typeface="Plus Jakarta Sans"/>
              </a:rPr>
              <a:t>Supplies standard libraries for runtime.</a:t>
            </a:r>
            <a:endParaRPr/>
          </a:p>
        </p:txBody>
      </p:sp>
      <p:sp>
        <p:nvSpPr>
          <p:cNvPr id="174" name="Google Shape;174;p16"/>
          <p:cNvSpPr txBox="1"/>
          <p:nvPr/>
        </p:nvSpPr>
        <p:spPr>
          <a:xfrm>
            <a:off x="8166199" y="2375296"/>
            <a:ext cx="3282999" cy="1607641"/>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00" u="none" cap="none" strike="noStrike">
                <a:solidFill>
                  <a:srgbClr val="0284C7"/>
                </a:solidFill>
                <a:latin typeface="Plus Jakarta Sans"/>
                <a:ea typeface="Plus Jakarta Sans"/>
                <a:cs typeface="Plus Jakarta Sans"/>
                <a:sym typeface="Plus Jakarta Sans"/>
              </a:rPr>
              <a:t>LAYER 3: VIRTUAL ENGINE</a:t>
            </a:r>
            <a:endParaRPr/>
          </a:p>
        </p:txBody>
      </p:sp>
      <p:sp>
        <p:nvSpPr>
          <p:cNvPr id="175" name="Google Shape;175;p16"/>
          <p:cNvSpPr txBox="1"/>
          <p:nvPr/>
        </p:nvSpPr>
        <p:spPr>
          <a:xfrm>
            <a:off x="8166199" y="6124575"/>
            <a:ext cx="3984687" cy="1428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00" u="none" cap="none" strike="noStrike">
                <a:solidFill>
                  <a:srgbClr val="0284C7"/>
                </a:solidFill>
                <a:latin typeface="Plus Jakarta Sans"/>
                <a:ea typeface="Plus Jakarta Sans"/>
                <a:cs typeface="Plus Jakarta Sans"/>
                <a:sym typeface="Plus Jakarta Sans"/>
              </a:rPr>
              <a:t>Executes bytecode on physical hardware.</a:t>
            </a:r>
            <a:endParaRPr/>
          </a:p>
        </p:txBody>
      </p:sp>
      <p:sp>
        <p:nvSpPr>
          <p:cNvPr id="176" name="Google Shape;176;p16"/>
          <p:cNvSpPr txBox="1"/>
          <p:nvPr/>
        </p:nvSpPr>
        <p:spPr>
          <a:xfrm>
            <a:off x="838200" y="2613421"/>
            <a:ext cx="4183921" cy="219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50" u="none" cap="none" strike="noStrike">
                <a:solidFill>
                  <a:srgbClr val="0F172A"/>
                </a:solidFill>
                <a:latin typeface="Plus Jakarta Sans"/>
                <a:ea typeface="Plus Jakarta Sans"/>
                <a:cs typeface="Plus Jakarta Sans"/>
                <a:sym typeface="Plus Jakarta Sans"/>
              </a:rPr>
              <a:t>JDK</a:t>
            </a:r>
            <a:endParaRPr/>
          </a:p>
        </p:txBody>
      </p:sp>
      <p:sp>
        <p:nvSpPr>
          <p:cNvPr id="177" name="Google Shape;177;p16"/>
          <p:cNvSpPr txBox="1"/>
          <p:nvPr/>
        </p:nvSpPr>
        <p:spPr>
          <a:xfrm>
            <a:off x="838200" y="2889646"/>
            <a:ext cx="3282999" cy="578941"/>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Contains the compiler (javac), debuggers (jdb), and archival tools (jar). Needed by engineers to write and build software.</a:t>
            </a:r>
            <a:endParaRPr/>
          </a:p>
        </p:txBody>
      </p:sp>
      <p:sp>
        <p:nvSpPr>
          <p:cNvPr id="178" name="Google Shape;178;p16"/>
          <p:cNvSpPr txBox="1"/>
          <p:nvPr/>
        </p:nvSpPr>
        <p:spPr>
          <a:xfrm>
            <a:off x="933450" y="3640038"/>
            <a:ext cx="3092499"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00" u="none" cap="none" strike="noStrike">
                <a:solidFill>
                  <a:srgbClr val="0369A1"/>
                </a:solidFill>
                <a:latin typeface="Plus Jakarta Sans"/>
                <a:ea typeface="Plus Jakarta Sans"/>
                <a:cs typeface="Plus Jakarta Sans"/>
                <a:sym typeface="Plus Jakarta Sans"/>
              </a:rPr>
              <a:t>Real-World:</a:t>
            </a:r>
            <a:r>
              <a:rPr b="0" i="0" lang="en-US" sz="900" u="none" cap="none" strike="noStrike">
                <a:solidFill>
                  <a:srgbClr val="0369A1"/>
                </a:solidFill>
                <a:latin typeface="Plus Jakarta Sans"/>
                <a:ea typeface="Plus Jakarta Sans"/>
                <a:cs typeface="Plus Jakarta Sans"/>
                <a:sym typeface="Plus Jakarta Sans"/>
              </a:rPr>
              <a:t> A chef's entire professional kitchen setup with knives and ovens.</a:t>
            </a:r>
            <a:endParaRPr/>
          </a:p>
        </p:txBody>
      </p:sp>
      <p:sp>
        <p:nvSpPr>
          <p:cNvPr id="179" name="Google Shape;179;p16"/>
          <p:cNvSpPr txBox="1"/>
          <p:nvPr/>
        </p:nvSpPr>
        <p:spPr>
          <a:xfrm>
            <a:off x="4502199" y="2613421"/>
            <a:ext cx="4183921" cy="219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50" u="none" cap="none" strike="noStrike">
                <a:solidFill>
                  <a:srgbClr val="0F172A"/>
                </a:solidFill>
                <a:latin typeface="Plus Jakarta Sans"/>
                <a:ea typeface="Plus Jakarta Sans"/>
                <a:cs typeface="Plus Jakarta Sans"/>
                <a:sym typeface="Plus Jakarta Sans"/>
              </a:rPr>
              <a:t>JRE</a:t>
            </a:r>
            <a:endParaRPr/>
          </a:p>
        </p:txBody>
      </p:sp>
      <p:sp>
        <p:nvSpPr>
          <p:cNvPr id="180" name="Google Shape;180;p16"/>
          <p:cNvSpPr txBox="1"/>
          <p:nvPr/>
        </p:nvSpPr>
        <p:spPr>
          <a:xfrm>
            <a:off x="4502199" y="2889646"/>
            <a:ext cx="3282999" cy="569416"/>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Bundles the JVM with the core Java Class Library (e.g., java.lang, java.util) necessary to run precompiled applications.</a:t>
            </a:r>
            <a:endParaRPr/>
          </a:p>
        </p:txBody>
      </p:sp>
      <p:sp>
        <p:nvSpPr>
          <p:cNvPr id="181" name="Google Shape;181;p16"/>
          <p:cNvSpPr txBox="1"/>
          <p:nvPr/>
        </p:nvSpPr>
        <p:spPr>
          <a:xfrm>
            <a:off x="4597449" y="3630513"/>
            <a:ext cx="3092499"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00" u="none" cap="none" strike="noStrike">
                <a:solidFill>
                  <a:srgbClr val="0369A1"/>
                </a:solidFill>
                <a:latin typeface="Plus Jakarta Sans"/>
                <a:ea typeface="Plus Jakarta Sans"/>
                <a:cs typeface="Plus Jakarta Sans"/>
                <a:sym typeface="Plus Jakarta Sans"/>
              </a:rPr>
              <a:t>Real-World:</a:t>
            </a:r>
            <a:r>
              <a:rPr b="0" i="0" lang="en-US" sz="900" u="none" cap="none" strike="noStrike">
                <a:solidFill>
                  <a:srgbClr val="0369A1"/>
                </a:solidFill>
                <a:latin typeface="Plus Jakarta Sans"/>
                <a:ea typeface="Plus Jakarta Sans"/>
                <a:cs typeface="Plus Jakarta Sans"/>
                <a:sym typeface="Plus Jakarta Sans"/>
              </a:rPr>
              <a:t> The dining table setting and cutlery for eating the meal.</a:t>
            </a:r>
            <a:endParaRPr/>
          </a:p>
        </p:txBody>
      </p:sp>
      <p:sp>
        <p:nvSpPr>
          <p:cNvPr id="182" name="Google Shape;182;p16"/>
          <p:cNvSpPr txBox="1"/>
          <p:nvPr/>
        </p:nvSpPr>
        <p:spPr>
          <a:xfrm>
            <a:off x="8166199" y="2613421"/>
            <a:ext cx="4025800" cy="219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50" u="none" cap="none" strike="noStrike">
                <a:solidFill>
                  <a:srgbClr val="0F172A"/>
                </a:solidFill>
                <a:latin typeface="Plus Jakarta Sans"/>
                <a:ea typeface="Plus Jakarta Sans"/>
                <a:cs typeface="Plus Jakarta Sans"/>
                <a:sym typeface="Plus Jakarta Sans"/>
              </a:rPr>
              <a:t>JVM</a:t>
            </a:r>
            <a:endParaRPr/>
          </a:p>
        </p:txBody>
      </p:sp>
      <p:sp>
        <p:nvSpPr>
          <p:cNvPr id="183" name="Google Shape;183;p16"/>
          <p:cNvSpPr txBox="1"/>
          <p:nvPr/>
        </p:nvSpPr>
        <p:spPr>
          <a:xfrm>
            <a:off x="8166199" y="2889646"/>
            <a:ext cx="3282999" cy="559891"/>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The execution engine. Manages class loading, garbage collection, and Just-In-Time (JIT) compilation to native CPU machine instructions.</a:t>
            </a:r>
            <a:endParaRPr/>
          </a:p>
        </p:txBody>
      </p:sp>
      <p:sp>
        <p:nvSpPr>
          <p:cNvPr id="184" name="Google Shape;184;p16"/>
          <p:cNvSpPr txBox="1"/>
          <p:nvPr/>
        </p:nvSpPr>
        <p:spPr>
          <a:xfrm>
            <a:off x="8261449" y="3620988"/>
            <a:ext cx="3092499"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00" u="none" cap="none" strike="noStrike">
                <a:solidFill>
                  <a:srgbClr val="0369A1"/>
                </a:solidFill>
                <a:latin typeface="Plus Jakarta Sans"/>
                <a:ea typeface="Plus Jakarta Sans"/>
                <a:cs typeface="Plus Jakarta Sans"/>
                <a:sym typeface="Plus Jakarta Sans"/>
              </a:rPr>
              <a:t>Real-World:</a:t>
            </a:r>
            <a:r>
              <a:rPr b="0" i="0" lang="en-US" sz="900" u="none" cap="none" strike="noStrike">
                <a:solidFill>
                  <a:srgbClr val="0369A1"/>
                </a:solidFill>
                <a:latin typeface="Plus Jakarta Sans"/>
                <a:ea typeface="Plus Jakarta Sans"/>
                <a:cs typeface="Plus Jakarta Sans"/>
                <a:sym typeface="Plus Jakarta Sans"/>
              </a:rPr>
              <a:t> The engine inside the vehicle that actually turns wheels.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8" name="Shape 188"/>
        <p:cNvGrpSpPr/>
        <p:nvPr/>
      </p:nvGrpSpPr>
      <p:grpSpPr>
        <a:xfrm>
          <a:off x="0" y="0"/>
          <a:ext cx="0" cy="0"/>
          <a:chOff x="0" y="0"/>
          <a:chExt cx="0" cy="0"/>
        </a:xfrm>
      </p:grpSpPr>
      <p:sp>
        <p:nvSpPr>
          <p:cNvPr id="189" name="Google Shape;189;p17"/>
          <p:cNvSpPr/>
          <p:nvPr/>
        </p:nvSpPr>
        <p:spPr>
          <a:xfrm>
            <a:off x="762000" y="1085850"/>
            <a:ext cx="10668000" cy="819300"/>
          </a:xfrm>
          <a:prstGeom prst="roundRect">
            <a:avLst>
              <a:gd fmla="val 9302"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0" name="Google Shape;190;p17"/>
          <p:cNvSpPr/>
          <p:nvPr/>
        </p:nvSpPr>
        <p:spPr>
          <a:xfrm>
            <a:off x="762000" y="1085850"/>
            <a:ext cx="47700" cy="819300"/>
          </a:xfrm>
          <a:prstGeom prst="rect">
            <a:avLst/>
          </a:prstGeom>
          <a:solidFill>
            <a:srgbClr val="0284C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1" name="Google Shape;191;p17"/>
          <p:cNvSpPr/>
          <p:nvPr/>
        </p:nvSpPr>
        <p:spPr>
          <a:xfrm>
            <a:off x="9810750" y="342900"/>
            <a:ext cx="1619100" cy="304800"/>
          </a:xfrm>
          <a:prstGeom prst="roundRect">
            <a:avLst>
              <a:gd fmla="val 50000" name="adj"/>
            </a:avLst>
          </a:prstGeom>
          <a:solidFill>
            <a:srgbClr val="FEF3C7"/>
          </a:solidFill>
          <a:ln cap="flat" cmpd="sng" w="9525">
            <a:solidFill>
              <a:srgbClr val="FDE68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2" name="Google Shape;192;p17"/>
          <p:cNvSpPr/>
          <p:nvPr/>
        </p:nvSpPr>
        <p:spPr>
          <a:xfrm>
            <a:off x="762000" y="2095500"/>
            <a:ext cx="5095800" cy="4286400"/>
          </a:xfrm>
          <a:prstGeom prst="roundRect">
            <a:avLst>
              <a:gd fmla="val 2666"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3" name="Google Shape;193;p17"/>
          <p:cNvSpPr/>
          <p:nvPr/>
        </p:nvSpPr>
        <p:spPr>
          <a:xfrm>
            <a:off x="6096000" y="2095500"/>
            <a:ext cx="5334000" cy="4286400"/>
          </a:xfrm>
          <a:prstGeom prst="roundRect">
            <a:avLst>
              <a:gd fmla="val 2666" name="adj"/>
            </a:avLst>
          </a:prstGeom>
          <a:solidFill>
            <a:srgbClr val="0F172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4" name="Google Shape;194;p17"/>
          <p:cNvSpPr/>
          <p:nvPr/>
        </p:nvSpPr>
        <p:spPr>
          <a:xfrm>
            <a:off x="1000125" y="5048250"/>
            <a:ext cx="4619700" cy="1047900"/>
          </a:xfrm>
          <a:prstGeom prst="roundRect">
            <a:avLst>
              <a:gd fmla="val 7272" name="adj"/>
            </a:avLst>
          </a:prstGeom>
          <a:solidFill>
            <a:srgbClr val="ECFDF5"/>
          </a:solidFill>
          <a:ln cap="flat" cmpd="sng" w="9525">
            <a:solidFill>
              <a:srgbClr val="A7F3D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5" name="Google Shape;195;p17"/>
          <p:cNvSpPr/>
          <p:nvPr/>
        </p:nvSpPr>
        <p:spPr>
          <a:xfrm>
            <a:off x="1000125" y="3905250"/>
            <a:ext cx="4619700" cy="952500"/>
          </a:xfrm>
          <a:prstGeom prst="roundRect">
            <a:avLst>
              <a:gd fmla="val 8000" name="adj"/>
            </a:avLst>
          </a:prstGeom>
          <a:solidFill>
            <a:srgbClr val="E0F2FE"/>
          </a:solidFill>
          <a:ln cap="flat" cmpd="sng" w="9525">
            <a:solidFill>
              <a:srgbClr val="BAE6F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6" name="Google Shape;196;p17"/>
          <p:cNvSpPr/>
          <p:nvPr/>
        </p:nvSpPr>
        <p:spPr>
          <a:xfrm>
            <a:off x="6096000" y="2495550"/>
            <a:ext cx="5334000" cy="0"/>
          </a:xfrm>
          <a:prstGeom prst="roundRect">
            <a:avLst>
              <a:gd fmla="val 9463" name="adj"/>
            </a:avLst>
          </a:prstGeom>
          <a:solidFill>
            <a:srgbClr val="FFFFFF"/>
          </a:solidFill>
          <a:ln cap="flat" cmpd="sng" w="9525">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7" name="Google Shape;197;p17"/>
          <p:cNvSpPr/>
          <p:nvPr/>
        </p:nvSpPr>
        <p:spPr>
          <a:xfrm>
            <a:off x="6219825" y="2247900"/>
            <a:ext cx="95400" cy="95400"/>
          </a:xfrm>
          <a:prstGeom prst="ellipse">
            <a:avLst/>
          </a:prstGeom>
          <a:solidFill>
            <a:srgbClr val="EF44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8" name="Google Shape;198;p17"/>
          <p:cNvSpPr/>
          <p:nvPr/>
        </p:nvSpPr>
        <p:spPr>
          <a:xfrm>
            <a:off x="6372225" y="2247900"/>
            <a:ext cx="95400" cy="95400"/>
          </a:xfrm>
          <a:prstGeom prst="ellipse">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9" name="Google Shape;199;p17"/>
          <p:cNvSpPr/>
          <p:nvPr/>
        </p:nvSpPr>
        <p:spPr>
          <a:xfrm>
            <a:off x="6524625" y="2247900"/>
            <a:ext cx="95400" cy="95400"/>
          </a:xfrm>
          <a:prstGeom prst="ellipse">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0" name="Google Shape;200;p17"/>
          <p:cNvSpPr txBox="1"/>
          <p:nvPr/>
        </p:nvSpPr>
        <p:spPr>
          <a:xfrm>
            <a:off x="971550" y="1162050"/>
            <a:ext cx="10268100" cy="5079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850">
                <a:solidFill>
                  <a:srgbClr val="0284C7"/>
                </a:solidFill>
                <a:latin typeface="Plus Jakarta Sans"/>
                <a:ea typeface="Plus Jakarta Sans"/>
                <a:cs typeface="Plus Jakarta Sans"/>
                <a:sym typeface="Plus Jakarta Sans"/>
              </a:rPr>
              <a:t>SIMPLE DEFINITION</a:t>
            </a:r>
            <a:endParaRPr b="1" sz="850">
              <a:solidFill>
                <a:srgbClr val="0284C7"/>
              </a:solidFill>
              <a:latin typeface="Plus Jakarta Sans"/>
              <a:ea typeface="Plus Jakarta Sans"/>
              <a:cs typeface="Plus Jakarta Sans"/>
              <a:sym typeface="Plus Jakarta Sans"/>
            </a:endParaRPr>
          </a:p>
          <a:p>
            <a:pPr indent="0" lvl="0" marL="0" rtl="0" algn="l">
              <a:spcBef>
                <a:spcPts val="300"/>
              </a:spcBef>
              <a:spcAft>
                <a:spcPts val="0"/>
              </a:spcAft>
              <a:buNone/>
            </a:pPr>
            <a:r>
              <a:rPr b="0" lang="en-US" sz="1100">
                <a:solidFill>
                  <a:srgbClr val="1E293B"/>
                </a:solidFill>
                <a:latin typeface="Plus Jakarta Sans SemiBold"/>
                <a:ea typeface="Plus Jakarta Sans SemiBold"/>
                <a:cs typeface="Plus Jakarta Sans SemiBold"/>
                <a:sym typeface="Plus Jakarta Sans SemiBold"/>
              </a:rPr>
              <a:t>Bytecode is an intermediate universal language (saved in .class files). Instead of turning human code directly into Windows or Mac instructions, Java compiles it into Bytecode, which any JVM anywhere can read and run.</a:t>
            </a:r>
            <a:endParaRPr b="0" sz="1100">
              <a:solidFill>
                <a:srgbClr val="1E293B"/>
              </a:solidFill>
              <a:latin typeface="Plus Jakarta Sans SemiBold"/>
              <a:ea typeface="Plus Jakarta Sans SemiBold"/>
              <a:cs typeface="Plus Jakarta Sans SemiBold"/>
              <a:sym typeface="Plus Jakarta Sans SemiBold"/>
            </a:endParaRPr>
          </a:p>
        </p:txBody>
      </p:sp>
      <p:sp>
        <p:nvSpPr>
          <p:cNvPr id="201" name="Google Shape;201;p17"/>
          <p:cNvSpPr txBox="1"/>
          <p:nvPr/>
        </p:nvSpPr>
        <p:spPr>
          <a:xfrm>
            <a:off x="762000" y="342900"/>
            <a:ext cx="2857500" cy="1461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1" lang="en-US" sz="950">
                <a:solidFill>
                  <a:srgbClr val="0284C7"/>
                </a:solidFill>
                <a:latin typeface="Plus Jakarta Sans"/>
                <a:ea typeface="Plus Jakarta Sans"/>
                <a:cs typeface="Plus Jakarta Sans"/>
                <a:sym typeface="Plus Jakarta Sans"/>
              </a:rPr>
              <a:t>COMPILATION PIPELINE</a:t>
            </a:r>
            <a:endParaRPr b="1" sz="950">
              <a:solidFill>
                <a:srgbClr val="0284C7"/>
              </a:solidFill>
              <a:latin typeface="Plus Jakarta Sans"/>
              <a:ea typeface="Plus Jakarta Sans"/>
              <a:cs typeface="Plus Jakarta Sans"/>
              <a:sym typeface="Plus Jakarta Sans"/>
            </a:endParaRPr>
          </a:p>
        </p:txBody>
      </p:sp>
      <p:sp>
        <p:nvSpPr>
          <p:cNvPr id="202" name="Google Shape;202;p17"/>
          <p:cNvSpPr txBox="1"/>
          <p:nvPr/>
        </p:nvSpPr>
        <p:spPr>
          <a:xfrm>
            <a:off x="9810750" y="342900"/>
            <a:ext cx="1619100" cy="1461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ctr">
              <a:spcBef>
                <a:spcPts val="0"/>
              </a:spcBef>
              <a:spcAft>
                <a:spcPts val="0"/>
              </a:spcAft>
              <a:buNone/>
            </a:pPr>
            <a:r>
              <a:rPr b="1" lang="en-US" sz="950">
                <a:solidFill>
                  <a:srgbClr val="B45309"/>
                </a:solidFill>
                <a:latin typeface="Plus Jakarta Sans"/>
                <a:ea typeface="Plus Jakarta Sans"/>
                <a:cs typeface="Plus Jakarta Sans"/>
                <a:sym typeface="Plus Jakarta Sans"/>
              </a:rPr>
              <a:t>Platform Neutrality</a:t>
            </a:r>
            <a:endParaRPr b="1" sz="950">
              <a:solidFill>
                <a:srgbClr val="B45309"/>
              </a:solidFill>
              <a:latin typeface="Plus Jakarta Sans"/>
              <a:ea typeface="Plus Jakarta Sans"/>
              <a:cs typeface="Plus Jakarta Sans"/>
              <a:sym typeface="Plus Jakarta Sans"/>
            </a:endParaRPr>
          </a:p>
        </p:txBody>
      </p:sp>
      <p:sp>
        <p:nvSpPr>
          <p:cNvPr id="203" name="Google Shape;203;p17"/>
          <p:cNvSpPr txBox="1"/>
          <p:nvPr/>
        </p:nvSpPr>
        <p:spPr>
          <a:xfrm>
            <a:off x="762000" y="552450"/>
            <a:ext cx="5715000" cy="3702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0" lang="en-US" sz="2405">
                <a:solidFill>
                  <a:srgbClr val="0F172A"/>
                </a:solidFill>
                <a:latin typeface="Plus Jakarta Sans ExtraBold"/>
                <a:ea typeface="Plus Jakarta Sans ExtraBold"/>
                <a:cs typeface="Plus Jakarta Sans ExtraBold"/>
                <a:sym typeface="Plus Jakarta Sans ExtraBold"/>
              </a:rPr>
              <a:t>Bytecode: Write Once, Run Anywhere</a:t>
            </a:r>
            <a:endParaRPr b="0" sz="2405">
              <a:solidFill>
                <a:srgbClr val="0F172A"/>
              </a:solidFill>
              <a:latin typeface="Plus Jakarta Sans ExtraBold"/>
              <a:ea typeface="Plus Jakarta Sans ExtraBold"/>
              <a:cs typeface="Plus Jakarta Sans ExtraBold"/>
              <a:sym typeface="Plus Jakarta Sans ExtraBold"/>
            </a:endParaRPr>
          </a:p>
        </p:txBody>
      </p:sp>
      <p:sp>
        <p:nvSpPr>
          <p:cNvPr id="204" name="Google Shape;204;p17"/>
          <p:cNvSpPr txBox="1"/>
          <p:nvPr/>
        </p:nvSpPr>
        <p:spPr>
          <a:xfrm>
            <a:off x="1000125" y="2286000"/>
            <a:ext cx="4619700" cy="11826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850">
                <a:solidFill>
                  <a:srgbClr val="0284C7"/>
                </a:solidFill>
                <a:latin typeface="Plus Jakarta Sans"/>
                <a:ea typeface="Plus Jakarta Sans"/>
                <a:cs typeface="Plus Jakarta Sans"/>
                <a:sym typeface="Plus Jakarta Sans"/>
              </a:rPr>
              <a:t>REAL-WORLD ANALOGY</a:t>
            </a:r>
            <a:endParaRPr b="1" sz="850">
              <a:solidFill>
                <a:srgbClr val="0284C7"/>
              </a:solidFill>
              <a:latin typeface="Plus Jakarta Sans"/>
              <a:ea typeface="Plus Jakarta Sans"/>
              <a:cs typeface="Plus Jakarta Sans"/>
              <a:sym typeface="Plus Jakarta Sans"/>
            </a:endParaRPr>
          </a:p>
          <a:p>
            <a:pPr indent="0" lvl="0" marL="0" rtl="0" algn="l">
              <a:spcBef>
                <a:spcPts val="200"/>
              </a:spcBef>
              <a:spcAft>
                <a:spcPts val="0"/>
              </a:spcAft>
              <a:buNone/>
            </a:pPr>
            <a:r>
              <a:rPr b="1" lang="en-US" sz="1800">
                <a:solidFill>
                  <a:srgbClr val="0F172A"/>
                </a:solidFill>
                <a:latin typeface="Plus Jakarta Sans"/>
                <a:ea typeface="Plus Jakarta Sans"/>
                <a:cs typeface="Plus Jakarta Sans"/>
                <a:sym typeface="Plus Jakarta Sans"/>
              </a:rPr>
              <a:t>Sheet Music</a:t>
            </a:r>
            <a:endParaRPr b="1" sz="1800">
              <a:solidFill>
                <a:srgbClr val="0F172A"/>
              </a:solidFill>
              <a:latin typeface="Plus Jakarta Sans"/>
              <a:ea typeface="Plus Jakarta Sans"/>
              <a:cs typeface="Plus Jakarta Sans"/>
              <a:sym typeface="Plus Jakarta Sans"/>
            </a:endParaRPr>
          </a:p>
          <a:p>
            <a:pPr indent="0" lvl="0" marL="0" rtl="0" algn="l">
              <a:spcBef>
                <a:spcPts val="800"/>
              </a:spcBef>
              <a:spcAft>
                <a:spcPts val="0"/>
              </a:spcAft>
              <a:buNone/>
            </a:pPr>
            <a:r>
              <a:rPr b="0" lang="en-US" sz="1050">
                <a:solidFill>
                  <a:srgbClr val="475569"/>
                </a:solidFill>
                <a:latin typeface="Plus Jakarta Sans"/>
                <a:ea typeface="Plus Jakarta Sans"/>
                <a:cs typeface="Plus Jakarta Sans"/>
                <a:sym typeface="Plus Jakarta Sans"/>
              </a:rPr>
              <a:t>A musical score is written in standardized notation (staves, notes, clefs). It is completely independent of the instrument. A grand piano, an acoustic guitar, or a synthesizer can all read the identical sheet music and translate it into instrument-specific acoustic sounds.</a:t>
            </a:r>
            <a:endParaRPr b="0" sz="1050">
              <a:solidFill>
                <a:srgbClr val="475569"/>
              </a:solidFill>
              <a:latin typeface="Plus Jakarta Sans"/>
              <a:ea typeface="Plus Jakarta Sans"/>
              <a:cs typeface="Plus Jakarta Sans"/>
              <a:sym typeface="Plus Jakarta Sans"/>
            </a:endParaRPr>
          </a:p>
        </p:txBody>
      </p:sp>
      <p:sp>
        <p:nvSpPr>
          <p:cNvPr id="205" name="Google Shape;205;p17"/>
          <p:cNvSpPr txBox="1"/>
          <p:nvPr/>
        </p:nvSpPr>
        <p:spPr>
          <a:xfrm>
            <a:off x="1143000" y="5143500"/>
            <a:ext cx="4333800" cy="8574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US" sz="850">
                <a:solidFill>
                  <a:srgbClr val="047857"/>
                </a:solidFill>
                <a:latin typeface="Plus Jakarta Sans"/>
                <a:ea typeface="Plus Jakarta Sans"/>
                <a:cs typeface="Plus Jakarta Sans"/>
                <a:sym typeface="Plus Jakarta Sans"/>
              </a:rPr>
              <a:t>QA VIEW &amp; BENEFIT</a:t>
            </a:r>
            <a:endParaRPr b="1" sz="850">
              <a:solidFill>
                <a:srgbClr val="047857"/>
              </a:solidFill>
              <a:latin typeface="Plus Jakarta Sans"/>
              <a:ea typeface="Plus Jakarta Sans"/>
              <a:cs typeface="Plus Jakarta Sans"/>
              <a:sym typeface="Plus Jakarta Sans"/>
            </a:endParaRPr>
          </a:p>
          <a:p>
            <a:pPr indent="0" lvl="0" marL="0" rtl="0" algn="l">
              <a:spcBef>
                <a:spcPts val="400"/>
              </a:spcBef>
              <a:spcAft>
                <a:spcPts val="0"/>
              </a:spcAft>
              <a:buNone/>
            </a:pPr>
            <a:r>
              <a:rPr b="0" lang="en-US" sz="950">
                <a:solidFill>
                  <a:srgbClr val="065F46"/>
                </a:solidFill>
                <a:latin typeface="Plus Jakarta Sans SemiBold"/>
                <a:ea typeface="Plus Jakarta Sans SemiBold"/>
                <a:cs typeface="Plus Jakarta Sans SemiBold"/>
                <a:sym typeface="Plus Jakarta Sans SemiBold"/>
              </a:rPr>
              <a:t>Build once in CI/CD pipeline, deploy identically to any server across Linux, macOS, and Windows.</a:t>
            </a:r>
            <a:endParaRPr b="0" sz="950">
              <a:solidFill>
                <a:srgbClr val="065F46"/>
              </a:solidFill>
              <a:latin typeface="Plus Jakarta Sans SemiBold"/>
              <a:ea typeface="Plus Jakarta Sans SemiBold"/>
              <a:cs typeface="Plus Jakarta Sans SemiBold"/>
              <a:sym typeface="Plus Jakarta Sans SemiBold"/>
            </a:endParaRPr>
          </a:p>
        </p:txBody>
      </p:sp>
      <p:sp>
        <p:nvSpPr>
          <p:cNvPr id="206" name="Google Shape;206;p17"/>
          <p:cNvSpPr txBox="1"/>
          <p:nvPr/>
        </p:nvSpPr>
        <p:spPr>
          <a:xfrm>
            <a:off x="1143000" y="4000500"/>
            <a:ext cx="4333800" cy="4746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850">
                <a:solidFill>
                  <a:srgbClr val="0284C7"/>
                </a:solidFill>
                <a:latin typeface="Plus Jakarta Sans"/>
                <a:ea typeface="Plus Jakarta Sans"/>
                <a:cs typeface="Plus Jakarta Sans"/>
                <a:sym typeface="Plus Jakarta Sans"/>
              </a:rPr>
              <a:t>PORTABLE INSTRUCTION SET</a:t>
            </a:r>
            <a:endParaRPr b="1" sz="850">
              <a:solidFill>
                <a:srgbClr val="0284C7"/>
              </a:solidFill>
              <a:latin typeface="Plus Jakarta Sans"/>
              <a:ea typeface="Plus Jakarta Sans"/>
              <a:cs typeface="Plus Jakarta Sans"/>
              <a:sym typeface="Plus Jakarta Sans"/>
            </a:endParaRPr>
          </a:p>
          <a:p>
            <a:pPr indent="0" lvl="0" marL="0" rtl="0" algn="l">
              <a:spcBef>
                <a:spcPts val="400"/>
              </a:spcBef>
              <a:spcAft>
                <a:spcPts val="0"/>
              </a:spcAft>
              <a:buNone/>
            </a:pPr>
            <a:r>
              <a:rPr b="0" lang="en-US" sz="950">
                <a:solidFill>
                  <a:srgbClr val="0369A1"/>
                </a:solidFill>
                <a:latin typeface="Plus Jakarta Sans SemiBold"/>
                <a:ea typeface="Plus Jakarta Sans SemiBold"/>
                <a:cs typeface="Plus Jakarta Sans SemiBold"/>
                <a:sym typeface="Plus Jakarta Sans SemiBold"/>
              </a:rPr>
              <a:t>Java Code:</a:t>
            </a:r>
            <a:r>
              <a:rPr b="0" lang="en-US" sz="950">
                <a:solidFill>
                  <a:srgbClr val="0369A1"/>
                </a:solidFill>
                <a:latin typeface="Plus Jakarta Sans"/>
                <a:ea typeface="Plus Jakarta Sans"/>
                <a:cs typeface="Plus Jakarta Sans"/>
                <a:sym typeface="Plus Jakarta Sans"/>
              </a:rPr>
              <a:t> Composer's concept → </a:t>
            </a:r>
            <a:r>
              <a:rPr b="0" lang="en-US" sz="950">
                <a:solidFill>
                  <a:srgbClr val="0369A1"/>
                </a:solidFill>
                <a:latin typeface="Plus Jakarta Sans SemiBold"/>
                <a:ea typeface="Plus Jakarta Sans SemiBold"/>
                <a:cs typeface="Plus Jakarta Sans SemiBold"/>
                <a:sym typeface="Plus Jakarta Sans SemiBold"/>
              </a:rPr>
              <a:t>Bytecode:</a:t>
            </a:r>
            <a:r>
              <a:rPr b="0" lang="en-US" sz="950">
                <a:solidFill>
                  <a:srgbClr val="0369A1"/>
                </a:solidFill>
                <a:latin typeface="Plus Jakarta Sans"/>
                <a:ea typeface="Plus Jakarta Sans"/>
                <a:cs typeface="Plus Jakarta Sans"/>
                <a:sym typeface="Plus Jakarta Sans"/>
              </a:rPr>
              <a:t> Standard sheet music → </a:t>
            </a:r>
            <a:r>
              <a:rPr b="0" lang="en-US" sz="950">
                <a:solidFill>
                  <a:srgbClr val="0369A1"/>
                </a:solidFill>
                <a:latin typeface="Plus Jakarta Sans SemiBold"/>
                <a:ea typeface="Plus Jakarta Sans SemiBold"/>
                <a:cs typeface="Plus Jakarta Sans SemiBold"/>
                <a:sym typeface="Plus Jakarta Sans SemiBold"/>
              </a:rPr>
              <a:t>JVM:</a:t>
            </a:r>
            <a:r>
              <a:rPr b="0" lang="en-US" sz="950">
                <a:solidFill>
                  <a:srgbClr val="0369A1"/>
                </a:solidFill>
                <a:latin typeface="Plus Jakarta Sans"/>
                <a:ea typeface="Plus Jakarta Sans"/>
                <a:cs typeface="Plus Jakarta Sans"/>
                <a:sym typeface="Plus Jakarta Sans"/>
              </a:rPr>
              <a:t> Instrument performing the piece.</a:t>
            </a:r>
            <a:endParaRPr b="0" sz="950">
              <a:solidFill>
                <a:srgbClr val="0369A1"/>
              </a:solidFill>
              <a:latin typeface="Plus Jakarta Sans SemiBold"/>
              <a:ea typeface="Plus Jakarta Sans SemiBold"/>
              <a:cs typeface="Plus Jakarta Sans SemiBold"/>
              <a:sym typeface="Plus Jakarta Sans SemiBold"/>
            </a:endParaRPr>
          </a:p>
        </p:txBody>
      </p:sp>
      <p:sp>
        <p:nvSpPr>
          <p:cNvPr id="207" name="Google Shape;207;p17"/>
          <p:cNvSpPr txBox="1"/>
          <p:nvPr/>
        </p:nvSpPr>
        <p:spPr>
          <a:xfrm>
            <a:off x="6334125" y="2647950"/>
            <a:ext cx="4857900" cy="21471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950">
                <a:solidFill>
                  <a:srgbClr val="38BDF8"/>
                </a:solidFill>
                <a:latin typeface="JetBrains Mono"/>
                <a:ea typeface="JetBrains Mono"/>
                <a:cs typeface="JetBrains Mono"/>
                <a:sym typeface="JetBrains Mono"/>
              </a:rPr>
              <a:t>// JAVA SOURCE (PaymentService.java)</a:t>
            </a:r>
            <a:endParaRPr b="0" sz="950">
              <a:solidFill>
                <a:srgbClr val="E2E8F0"/>
              </a:solidFill>
              <a:latin typeface="JetBrains Mono"/>
              <a:ea typeface="JetBrains Mono"/>
              <a:cs typeface="JetBrains Mono"/>
              <a:sym typeface="JetBrains Mono"/>
            </a:endParaRPr>
          </a:p>
          <a:p>
            <a:pPr indent="0" lvl="0" marL="0" rtl="0" algn="l">
              <a:spcBef>
                <a:spcPts val="400"/>
              </a:spcBef>
              <a:spcAft>
                <a:spcPts val="0"/>
              </a:spcAft>
              <a:buNone/>
            </a:pPr>
            <a:r>
              <a:rPr b="1" lang="en-US" sz="950">
                <a:solidFill>
                  <a:srgbClr val="F43F5E"/>
                </a:solidFill>
                <a:latin typeface="JetBrains Mono"/>
                <a:ea typeface="JetBrains Mono"/>
                <a:cs typeface="JetBrains Mono"/>
                <a:sym typeface="JetBrains Mono"/>
              </a:rPr>
              <a:t>public int</a:t>
            </a:r>
            <a:r>
              <a:rPr b="0" lang="en-US" sz="950">
                <a:solidFill>
                  <a:srgbClr val="E2E8F0"/>
                </a:solidFill>
                <a:latin typeface="JetBrains Mono"/>
                <a:ea typeface="JetBrains Mono"/>
                <a:cs typeface="JetBrains Mono"/>
                <a:sym typeface="JetBrains Mono"/>
              </a:rPr>
              <a:t> calculateTax(</a:t>
            </a:r>
            <a:r>
              <a:rPr b="1" lang="en-US" sz="950">
                <a:solidFill>
                  <a:srgbClr val="F43F5E"/>
                </a:solidFill>
                <a:latin typeface="JetBrains Mono"/>
                <a:ea typeface="JetBrains Mono"/>
                <a:cs typeface="JetBrains Mono"/>
                <a:sym typeface="JetBrains Mono"/>
              </a:rPr>
              <a:t>int</a:t>
            </a:r>
            <a:r>
              <a:rPr b="0" lang="en-US" sz="950">
                <a:solidFill>
                  <a:srgbClr val="E2E8F0"/>
                </a:solidFill>
                <a:latin typeface="JetBrains Mono"/>
                <a:ea typeface="JetBrains Mono"/>
                <a:cs typeface="JetBrains Mono"/>
                <a:sym typeface="JetBrains Mono"/>
              </a:rPr>
              <a:t> </a:t>
            </a:r>
            <a:r>
              <a:rPr b="0" lang="en-US" sz="950">
                <a:solidFill>
                  <a:srgbClr val="CBD5E1"/>
                </a:solidFill>
                <a:latin typeface="JetBrains Mono"/>
                <a:ea typeface="JetBrains Mono"/>
                <a:cs typeface="JetBrains Mono"/>
                <a:sym typeface="JetBrains Mono"/>
              </a:rPr>
              <a:t>price</a:t>
            </a:r>
            <a:r>
              <a:rPr b="0" lang="en-US" sz="950">
                <a:solidFill>
                  <a:srgbClr val="E2E8F0"/>
                </a:solidFill>
                <a:latin typeface="JetBrains Mono"/>
                <a:ea typeface="JetBrains Mono"/>
                <a:cs typeface="JetBrains Mono"/>
                <a:sym typeface="JetBrains Mono"/>
              </a:rPr>
              <a:t>) {</a:t>
            </a:r>
            <a:endParaRPr b="0" sz="950">
              <a:solidFill>
                <a:srgbClr val="E2E8F0"/>
              </a:solidFill>
              <a:latin typeface="JetBrains Mono"/>
              <a:ea typeface="JetBrains Mono"/>
              <a:cs typeface="JetBrains Mono"/>
              <a:sym typeface="JetBrains Mono"/>
            </a:endParaRPr>
          </a:p>
          <a:p>
            <a:pPr indent="0" lvl="0" marL="152400" marR="0" rtl="0" algn="l">
              <a:spcBef>
                <a:spcPts val="300"/>
              </a:spcBef>
              <a:spcAft>
                <a:spcPts val="0"/>
              </a:spcAft>
              <a:buNone/>
            </a:pPr>
            <a:r>
              <a:rPr b="1" lang="en-US" sz="950">
                <a:solidFill>
                  <a:srgbClr val="F43F5E"/>
                </a:solidFill>
                <a:latin typeface="JetBrains Mono"/>
                <a:ea typeface="JetBrains Mono"/>
                <a:cs typeface="JetBrains Mono"/>
                <a:sym typeface="JetBrains Mono"/>
              </a:rPr>
              <a:t>return</a:t>
            </a:r>
            <a:r>
              <a:rPr b="0" lang="en-US" sz="950">
                <a:solidFill>
                  <a:srgbClr val="E2E8F0"/>
                </a:solidFill>
                <a:latin typeface="JetBrains Mono"/>
                <a:ea typeface="JetBrains Mono"/>
                <a:cs typeface="JetBrains Mono"/>
                <a:sym typeface="JetBrains Mono"/>
              </a:rPr>
              <a:t> </a:t>
            </a:r>
            <a:r>
              <a:rPr b="0" lang="en-US" sz="950">
                <a:solidFill>
                  <a:srgbClr val="CBD5E1"/>
                </a:solidFill>
                <a:latin typeface="JetBrains Mono"/>
                <a:ea typeface="JetBrains Mono"/>
                <a:cs typeface="JetBrains Mono"/>
                <a:sym typeface="JetBrains Mono"/>
              </a:rPr>
              <a:t>price * 18 / 100;</a:t>
            </a:r>
            <a:endParaRPr b="0" sz="950">
              <a:solidFill>
                <a:srgbClr val="E2E8F0"/>
              </a:solidFill>
              <a:latin typeface="JetBrains Mono"/>
              <a:ea typeface="JetBrains Mono"/>
              <a:cs typeface="JetBrains Mono"/>
              <a:sym typeface="JetBrains Mono"/>
            </a:endParaRPr>
          </a:p>
          <a:p>
            <a:pPr indent="0" lvl="0" marL="0" rtl="0" algn="l">
              <a:spcBef>
                <a:spcPts val="300"/>
              </a:spcBef>
              <a:spcAft>
                <a:spcPts val="0"/>
              </a:spcAft>
              <a:buNone/>
            </a:pPr>
            <a:r>
              <a:rPr b="0" lang="en-US" sz="950">
                <a:solidFill>
                  <a:srgbClr val="E2E8F0"/>
                </a:solidFill>
                <a:latin typeface="JetBrains Mono"/>
                <a:ea typeface="JetBrains Mono"/>
                <a:cs typeface="JetBrains Mono"/>
                <a:sym typeface="JetBrains Mono"/>
              </a:rPr>
              <a:t>}</a:t>
            </a:r>
            <a:endParaRPr b="0" sz="950">
              <a:solidFill>
                <a:srgbClr val="E2E8F0"/>
              </a:solidFill>
              <a:latin typeface="JetBrains Mono"/>
              <a:ea typeface="JetBrains Mono"/>
              <a:cs typeface="JetBrains Mono"/>
              <a:sym typeface="JetBrains Mono"/>
            </a:endParaRPr>
          </a:p>
          <a:p>
            <a:pPr indent="0" lvl="0" marL="0" rtl="0" algn="l">
              <a:spcBef>
                <a:spcPts val="1800"/>
              </a:spcBef>
              <a:spcAft>
                <a:spcPts val="0"/>
              </a:spcAft>
              <a:buNone/>
            </a:pPr>
            <a:r>
              <a:rPr b="1" lang="en-US" sz="950">
                <a:solidFill>
                  <a:srgbClr val="38BDF8"/>
                </a:solidFill>
                <a:latin typeface="JetBrains Mono"/>
                <a:ea typeface="JetBrains Mono"/>
                <a:cs typeface="JetBrains Mono"/>
                <a:sym typeface="JetBrains Mono"/>
              </a:rPr>
              <a:t>// COMPILED BYTECODE (javap -c output)</a:t>
            </a:r>
            <a:endParaRPr b="0" sz="950">
              <a:solidFill>
                <a:srgbClr val="E2E8F0"/>
              </a:solidFill>
              <a:latin typeface="JetBrains Mono"/>
              <a:ea typeface="JetBrains Mono"/>
              <a:cs typeface="JetBrains Mono"/>
              <a:sym typeface="JetBrains Mono"/>
            </a:endParaRPr>
          </a:p>
          <a:p>
            <a:pPr indent="0" lvl="0" marL="0" rtl="0" algn="l">
              <a:spcBef>
                <a:spcPts val="400"/>
              </a:spcBef>
              <a:spcAft>
                <a:spcPts val="0"/>
              </a:spcAft>
              <a:buNone/>
            </a:pPr>
            <a:r>
              <a:rPr b="0" lang="en-US" sz="950">
                <a:solidFill>
                  <a:srgbClr val="A7F3D0"/>
                </a:solidFill>
                <a:latin typeface="JetBrains Mono"/>
                <a:ea typeface="JetBrains Mono"/>
                <a:cs typeface="JetBrains Mono"/>
                <a:sym typeface="JetBrains Mono"/>
              </a:rPr>
              <a:t>0: iload_1</a:t>
            </a:r>
            <a:endParaRPr b="0" sz="950">
              <a:solidFill>
                <a:srgbClr val="E2E8F0"/>
              </a:solidFill>
              <a:latin typeface="JetBrains Mono"/>
              <a:ea typeface="JetBrains Mono"/>
              <a:cs typeface="JetBrains Mono"/>
              <a:sym typeface="JetBrains Mono"/>
            </a:endParaRPr>
          </a:p>
          <a:p>
            <a:pPr indent="0" lvl="0" marL="0" rtl="0" algn="l">
              <a:spcBef>
                <a:spcPts val="200"/>
              </a:spcBef>
              <a:spcAft>
                <a:spcPts val="0"/>
              </a:spcAft>
              <a:buNone/>
            </a:pPr>
            <a:r>
              <a:rPr b="0" lang="en-US" sz="950">
                <a:solidFill>
                  <a:srgbClr val="A7F3D0"/>
                </a:solidFill>
                <a:latin typeface="JetBrains Mono"/>
                <a:ea typeface="JetBrains Mono"/>
                <a:cs typeface="JetBrains Mono"/>
                <a:sym typeface="JetBrains Mono"/>
              </a:rPr>
              <a:t>1: bipush 18</a:t>
            </a:r>
            <a:endParaRPr b="0" sz="950">
              <a:solidFill>
                <a:srgbClr val="E2E8F0"/>
              </a:solidFill>
              <a:latin typeface="JetBrains Mono"/>
              <a:ea typeface="JetBrains Mono"/>
              <a:cs typeface="JetBrains Mono"/>
              <a:sym typeface="JetBrains Mono"/>
            </a:endParaRPr>
          </a:p>
          <a:p>
            <a:pPr indent="0" lvl="0" marL="0" rtl="0" algn="l">
              <a:spcBef>
                <a:spcPts val="200"/>
              </a:spcBef>
              <a:spcAft>
                <a:spcPts val="0"/>
              </a:spcAft>
              <a:buNone/>
            </a:pPr>
            <a:r>
              <a:rPr b="0" lang="en-US" sz="950">
                <a:solidFill>
                  <a:srgbClr val="A7F3D0"/>
                </a:solidFill>
                <a:latin typeface="JetBrains Mono"/>
                <a:ea typeface="JetBrains Mono"/>
                <a:cs typeface="JetBrains Mono"/>
                <a:sym typeface="JetBrains Mono"/>
              </a:rPr>
              <a:t>3: imul</a:t>
            </a:r>
            <a:endParaRPr b="0" sz="950">
              <a:solidFill>
                <a:srgbClr val="E2E8F0"/>
              </a:solidFill>
              <a:latin typeface="JetBrains Mono"/>
              <a:ea typeface="JetBrains Mono"/>
              <a:cs typeface="JetBrains Mono"/>
              <a:sym typeface="JetBrains Mono"/>
            </a:endParaRPr>
          </a:p>
          <a:p>
            <a:pPr indent="0" lvl="0" marL="0" rtl="0" algn="l">
              <a:spcBef>
                <a:spcPts val="200"/>
              </a:spcBef>
              <a:spcAft>
                <a:spcPts val="0"/>
              </a:spcAft>
              <a:buNone/>
            </a:pPr>
            <a:r>
              <a:rPr b="0" lang="en-US" sz="950">
                <a:solidFill>
                  <a:srgbClr val="A7F3D0"/>
                </a:solidFill>
                <a:latin typeface="JetBrains Mono"/>
                <a:ea typeface="JetBrains Mono"/>
                <a:cs typeface="JetBrains Mono"/>
                <a:sym typeface="JetBrains Mono"/>
              </a:rPr>
              <a:t>4: bipush 100</a:t>
            </a:r>
            <a:endParaRPr b="0" sz="950">
              <a:solidFill>
                <a:srgbClr val="E2E8F0"/>
              </a:solidFill>
              <a:latin typeface="JetBrains Mono"/>
              <a:ea typeface="JetBrains Mono"/>
              <a:cs typeface="JetBrains Mono"/>
              <a:sym typeface="JetBrains Mono"/>
            </a:endParaRPr>
          </a:p>
          <a:p>
            <a:pPr indent="0" lvl="0" marL="0" rtl="0" algn="l">
              <a:spcBef>
                <a:spcPts val="200"/>
              </a:spcBef>
              <a:spcAft>
                <a:spcPts val="0"/>
              </a:spcAft>
              <a:buNone/>
            </a:pPr>
            <a:r>
              <a:rPr b="0" lang="en-US" sz="950">
                <a:solidFill>
                  <a:srgbClr val="A7F3D0"/>
                </a:solidFill>
                <a:latin typeface="JetBrains Mono"/>
                <a:ea typeface="JetBrains Mono"/>
                <a:cs typeface="JetBrains Mono"/>
                <a:sym typeface="JetBrains Mono"/>
              </a:rPr>
              <a:t>6: idiv</a:t>
            </a:r>
            <a:endParaRPr b="0" sz="950">
              <a:solidFill>
                <a:srgbClr val="E2E8F0"/>
              </a:solidFill>
              <a:latin typeface="JetBrains Mono"/>
              <a:ea typeface="JetBrains Mono"/>
              <a:cs typeface="JetBrains Mono"/>
              <a:sym typeface="JetBrains Mono"/>
            </a:endParaRPr>
          </a:p>
          <a:p>
            <a:pPr indent="0" lvl="0" marL="0" rtl="0" algn="l">
              <a:spcBef>
                <a:spcPts val="200"/>
              </a:spcBef>
              <a:spcAft>
                <a:spcPts val="0"/>
              </a:spcAft>
              <a:buNone/>
            </a:pPr>
            <a:r>
              <a:rPr b="0" lang="en-US" sz="950">
                <a:solidFill>
                  <a:srgbClr val="A7F3D0"/>
                </a:solidFill>
                <a:latin typeface="JetBrains Mono"/>
                <a:ea typeface="JetBrains Mono"/>
                <a:cs typeface="JetBrains Mono"/>
                <a:sym typeface="JetBrains Mono"/>
              </a:rPr>
              <a:t>7: ireturn</a:t>
            </a:r>
            <a:endParaRPr b="0" sz="950">
              <a:solidFill>
                <a:srgbClr val="E2E8F0"/>
              </a:solidFill>
              <a:latin typeface="JetBrains Mono"/>
              <a:ea typeface="JetBrains Mono"/>
              <a:cs typeface="JetBrains Mono"/>
              <a:sym typeface="JetBrains Mono"/>
            </a:endParaRPr>
          </a:p>
        </p:txBody>
      </p:sp>
      <p:sp>
        <p:nvSpPr>
          <p:cNvPr id="208" name="Google Shape;208;p17"/>
          <p:cNvSpPr txBox="1"/>
          <p:nvPr/>
        </p:nvSpPr>
        <p:spPr>
          <a:xfrm>
            <a:off x="6810375" y="2200275"/>
            <a:ext cx="4286400" cy="1461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0" lang="en-US" sz="950">
                <a:solidFill>
                  <a:srgbClr val="94A3B8"/>
                </a:solidFill>
                <a:latin typeface="JetBrains Mono Medium"/>
                <a:ea typeface="JetBrains Mono Medium"/>
                <a:cs typeface="JetBrains Mono Medium"/>
                <a:sym typeface="JetBrains Mono Medium"/>
              </a:rPr>
              <a:t>Compilation to Bytecode View</a:t>
            </a:r>
            <a:endParaRPr b="0" sz="950">
              <a:solidFill>
                <a:srgbClr val="94A3B8"/>
              </a:solidFill>
              <a:latin typeface="JetBrains Mono Medium"/>
              <a:ea typeface="JetBrains Mono Medium"/>
              <a:cs typeface="JetBrains Mono Medium"/>
              <a:sym typeface="JetBrains Mono Medium"/>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12" name="Shape 212"/>
        <p:cNvGrpSpPr/>
        <p:nvPr/>
      </p:nvGrpSpPr>
      <p:grpSpPr>
        <a:xfrm>
          <a:off x="0" y="0"/>
          <a:ext cx="0" cy="0"/>
          <a:chOff x="0" y="0"/>
          <a:chExt cx="0" cy="0"/>
        </a:xfrm>
      </p:grpSpPr>
      <p:sp>
        <p:nvSpPr>
          <p:cNvPr id="213" name="Google Shape;213;p18"/>
          <p:cNvSpPr txBox="1"/>
          <p:nvPr/>
        </p:nvSpPr>
        <p:spPr>
          <a:xfrm>
            <a:off x="685800" y="342900"/>
            <a:ext cx="2857500" cy="1461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1" lang="en-US" sz="950">
                <a:solidFill>
                  <a:srgbClr val="0284C7"/>
                </a:solidFill>
                <a:latin typeface="Plus Jakarta Sans"/>
                <a:ea typeface="Plus Jakarta Sans"/>
                <a:cs typeface="Plus Jakarta Sans"/>
                <a:sym typeface="Plus Jakarta Sans"/>
              </a:rPr>
              <a:t>OOP CORE ELEMENT</a:t>
            </a:r>
            <a:endParaRPr b="1" sz="950">
              <a:solidFill>
                <a:srgbClr val="0284C7"/>
              </a:solidFill>
              <a:latin typeface="Plus Jakarta Sans"/>
              <a:ea typeface="Plus Jakarta Sans"/>
              <a:cs typeface="Plus Jakarta Sans"/>
              <a:sym typeface="Plus Jakarta Sans"/>
            </a:endParaRPr>
          </a:p>
        </p:txBody>
      </p:sp>
      <p:sp>
        <p:nvSpPr>
          <p:cNvPr id="214" name="Google Shape;214;p18"/>
          <p:cNvSpPr txBox="1"/>
          <p:nvPr/>
        </p:nvSpPr>
        <p:spPr>
          <a:xfrm>
            <a:off x="685800" y="552450"/>
            <a:ext cx="4762500" cy="3693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0" lang="en-US" sz="2400">
                <a:solidFill>
                  <a:srgbClr val="0F172A"/>
                </a:solidFill>
                <a:latin typeface="Plus Jakarta Sans ExtraBold"/>
                <a:ea typeface="Plus Jakarta Sans ExtraBold"/>
                <a:cs typeface="Plus Jakarta Sans ExtraBold"/>
                <a:sym typeface="Plus Jakarta Sans ExtraBold"/>
              </a:rPr>
              <a:t>What is an Object?</a:t>
            </a:r>
            <a:endParaRPr b="0" sz="2400">
              <a:solidFill>
                <a:srgbClr val="0F172A"/>
              </a:solidFill>
              <a:latin typeface="Plus Jakarta Sans ExtraBold"/>
              <a:ea typeface="Plus Jakarta Sans ExtraBold"/>
              <a:cs typeface="Plus Jakarta Sans ExtraBold"/>
              <a:sym typeface="Plus Jakarta Sans ExtraBold"/>
            </a:endParaRPr>
          </a:p>
        </p:txBody>
      </p:sp>
      <p:sp>
        <p:nvSpPr>
          <p:cNvPr id="215" name="Google Shape;215;p18"/>
          <p:cNvSpPr/>
          <p:nvPr/>
        </p:nvSpPr>
        <p:spPr>
          <a:xfrm>
            <a:off x="9848850" y="400050"/>
            <a:ext cx="1657500" cy="304800"/>
          </a:xfrm>
          <a:prstGeom prst="roundRect">
            <a:avLst>
              <a:gd fmla="val 50000" name="adj"/>
            </a:avLst>
          </a:prstGeom>
          <a:solidFill>
            <a:srgbClr val="F0FDF4"/>
          </a:solidFill>
          <a:ln cap="flat" cmpd="sng" w="9525">
            <a:solidFill>
              <a:srgbClr val="BBF7D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6" name="Google Shape;216;p18"/>
          <p:cNvSpPr txBox="1"/>
          <p:nvPr/>
        </p:nvSpPr>
        <p:spPr>
          <a:xfrm>
            <a:off x="9848850" y="400050"/>
            <a:ext cx="1657500" cy="1461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ctr">
              <a:spcBef>
                <a:spcPts val="0"/>
              </a:spcBef>
              <a:spcAft>
                <a:spcPts val="0"/>
              </a:spcAft>
              <a:buNone/>
            </a:pPr>
            <a:r>
              <a:rPr b="1" lang="en-US" sz="950">
                <a:solidFill>
                  <a:srgbClr val="15803D"/>
                </a:solidFill>
                <a:latin typeface="Plus Jakarta Sans"/>
                <a:ea typeface="Plus Jakarta Sans"/>
                <a:cs typeface="Plus Jakarta Sans"/>
                <a:sym typeface="Plus Jakarta Sans"/>
              </a:rPr>
              <a:t>Heap Memory Instance</a:t>
            </a:r>
            <a:endParaRPr b="1" sz="950">
              <a:solidFill>
                <a:srgbClr val="15803D"/>
              </a:solidFill>
              <a:latin typeface="Plus Jakarta Sans"/>
              <a:ea typeface="Plus Jakarta Sans"/>
              <a:cs typeface="Plus Jakarta Sans"/>
              <a:sym typeface="Plus Jakarta Sans"/>
            </a:endParaRPr>
          </a:p>
        </p:txBody>
      </p:sp>
      <p:sp>
        <p:nvSpPr>
          <p:cNvPr id="217" name="Google Shape;217;p18"/>
          <p:cNvSpPr/>
          <p:nvPr/>
        </p:nvSpPr>
        <p:spPr>
          <a:xfrm>
            <a:off x="685800" y="1047750"/>
            <a:ext cx="10820400" cy="819300"/>
          </a:xfrm>
          <a:prstGeom prst="roundRect">
            <a:avLst>
              <a:gd fmla="val 9302"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8" name="Google Shape;218;p18"/>
          <p:cNvSpPr/>
          <p:nvPr/>
        </p:nvSpPr>
        <p:spPr>
          <a:xfrm>
            <a:off x="685800" y="1047750"/>
            <a:ext cx="47700" cy="819300"/>
          </a:xfrm>
          <a:prstGeom prst="rect">
            <a:avLst/>
          </a:prstGeom>
          <a:solidFill>
            <a:srgbClr val="0284C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9" name="Google Shape;219;p18"/>
          <p:cNvSpPr txBox="1"/>
          <p:nvPr/>
        </p:nvSpPr>
        <p:spPr>
          <a:xfrm>
            <a:off x="895350" y="1123950"/>
            <a:ext cx="10382400" cy="5079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1" lang="en-US" sz="850">
                <a:solidFill>
                  <a:srgbClr val="0284C7"/>
                </a:solidFill>
                <a:latin typeface="Plus Jakarta Sans"/>
                <a:ea typeface="Plus Jakarta Sans"/>
                <a:cs typeface="Plus Jakarta Sans"/>
                <a:sym typeface="Plus Jakarta Sans"/>
              </a:rPr>
              <a:t>SIMPLE DEFINITION</a:t>
            </a:r>
            <a:endParaRPr b="1" sz="850">
              <a:solidFill>
                <a:srgbClr val="0284C7"/>
              </a:solidFill>
              <a:latin typeface="Plus Jakarta Sans"/>
              <a:ea typeface="Plus Jakarta Sans"/>
              <a:cs typeface="Plus Jakarta Sans"/>
              <a:sym typeface="Plus Jakarta Sans"/>
            </a:endParaRPr>
          </a:p>
          <a:p>
            <a:pPr indent="0" lvl="0" marL="0" rtl="0" algn="l">
              <a:spcBef>
                <a:spcPts val="300"/>
              </a:spcBef>
              <a:spcAft>
                <a:spcPts val="0"/>
              </a:spcAft>
              <a:buNone/>
            </a:pPr>
            <a:r>
              <a:rPr b="0" lang="en-US" sz="1100">
                <a:solidFill>
                  <a:srgbClr val="1E293B"/>
                </a:solidFill>
                <a:latin typeface="Plus Jakarta Sans SemiBold"/>
                <a:ea typeface="Plus Jakarta Sans SemiBold"/>
                <a:cs typeface="Plus Jakarta Sans SemiBold"/>
                <a:sym typeface="Plus Jakarta Sans SemiBold"/>
              </a:rPr>
              <a:t>An Object is a real, living item created in computer memory. It has its own unique information (state, like a person's name and balance) and actions it can perform (behavior, like depositing money).</a:t>
            </a:r>
            <a:endParaRPr b="0" sz="1100">
              <a:solidFill>
                <a:srgbClr val="1E293B"/>
              </a:solidFill>
              <a:latin typeface="Plus Jakarta Sans SemiBold"/>
              <a:ea typeface="Plus Jakarta Sans SemiBold"/>
              <a:cs typeface="Plus Jakarta Sans SemiBold"/>
              <a:sym typeface="Plus Jakarta Sans SemiBold"/>
            </a:endParaRPr>
          </a:p>
        </p:txBody>
      </p:sp>
      <p:sp>
        <p:nvSpPr>
          <p:cNvPr id="220" name="Google Shape;220;p18"/>
          <p:cNvSpPr/>
          <p:nvPr/>
        </p:nvSpPr>
        <p:spPr>
          <a:xfrm>
            <a:off x="685800" y="2038350"/>
            <a:ext cx="4953000" cy="4438800"/>
          </a:xfrm>
          <a:prstGeom prst="roundRect">
            <a:avLst>
              <a:gd fmla="val 2575"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1" name="Google Shape;221;p18"/>
          <p:cNvSpPr txBox="1"/>
          <p:nvPr/>
        </p:nvSpPr>
        <p:spPr>
          <a:xfrm>
            <a:off x="914400" y="2228850"/>
            <a:ext cx="4495800" cy="9891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850">
                <a:solidFill>
                  <a:srgbClr val="0284C7"/>
                </a:solidFill>
                <a:latin typeface="Plus Jakarta Sans"/>
                <a:ea typeface="Plus Jakarta Sans"/>
                <a:cs typeface="Plus Jakarta Sans"/>
                <a:sym typeface="Plus Jakarta Sans"/>
              </a:rPr>
              <a:t>REAL-WORLD ANALOGY</a:t>
            </a:r>
            <a:endParaRPr b="1" sz="850">
              <a:solidFill>
                <a:srgbClr val="0284C7"/>
              </a:solidFill>
              <a:latin typeface="Plus Jakarta Sans"/>
              <a:ea typeface="Plus Jakarta Sans"/>
              <a:cs typeface="Plus Jakarta Sans"/>
              <a:sym typeface="Plus Jakarta Sans"/>
            </a:endParaRPr>
          </a:p>
          <a:p>
            <a:pPr indent="0" lvl="0" marL="0" rtl="0" algn="l">
              <a:spcBef>
                <a:spcPts val="150"/>
              </a:spcBef>
              <a:spcAft>
                <a:spcPts val="0"/>
              </a:spcAft>
              <a:buNone/>
            </a:pPr>
            <a:r>
              <a:rPr b="1" lang="en-US" sz="1800">
                <a:solidFill>
                  <a:srgbClr val="0F172A"/>
                </a:solidFill>
                <a:latin typeface="Plus Jakarta Sans"/>
                <a:ea typeface="Plus Jakarta Sans"/>
                <a:cs typeface="Plus Jakarta Sans"/>
                <a:sym typeface="Plus Jakarta Sans"/>
              </a:rPr>
              <a:t>Physical Credit Card</a:t>
            </a:r>
            <a:endParaRPr b="1" sz="1800">
              <a:solidFill>
                <a:srgbClr val="0F172A"/>
              </a:solidFill>
              <a:latin typeface="Plus Jakarta Sans"/>
              <a:ea typeface="Plus Jakarta Sans"/>
              <a:cs typeface="Plus Jakarta Sans"/>
              <a:sym typeface="Plus Jakarta Sans"/>
            </a:endParaRPr>
          </a:p>
          <a:p>
            <a:pPr indent="0" lvl="0" marL="0" rtl="0" algn="l">
              <a:spcBef>
                <a:spcPts val="600"/>
              </a:spcBef>
              <a:spcAft>
                <a:spcPts val="0"/>
              </a:spcAft>
              <a:buNone/>
            </a:pPr>
            <a:r>
              <a:rPr b="0" lang="en-US" sz="1050">
                <a:solidFill>
                  <a:srgbClr val="475569"/>
                </a:solidFill>
                <a:latin typeface="Plus Jakarta Sans"/>
                <a:ea typeface="Plus Jakarta Sans"/>
                <a:cs typeface="Plus Jakarta Sans"/>
                <a:sym typeface="Plus Jakarta Sans"/>
              </a:rPr>
              <a:t>A physical plastic card in your wallet is an object. It holds specific state: Card Number "4532...", Cardholder "Alex Vance", and Expiration Date "08/29". It has actions: swipe, tap, freeze card.</a:t>
            </a:r>
            <a:endParaRPr b="0" sz="1050">
              <a:solidFill>
                <a:srgbClr val="475569"/>
              </a:solidFill>
              <a:latin typeface="Plus Jakarta Sans"/>
              <a:ea typeface="Plus Jakarta Sans"/>
              <a:cs typeface="Plus Jakarta Sans"/>
              <a:sym typeface="Plus Jakarta Sans"/>
            </a:endParaRPr>
          </a:p>
        </p:txBody>
      </p:sp>
      <p:sp>
        <p:nvSpPr>
          <p:cNvPr id="222" name="Google Shape;222;p18"/>
          <p:cNvSpPr/>
          <p:nvPr/>
        </p:nvSpPr>
        <p:spPr>
          <a:xfrm>
            <a:off x="914400" y="3619500"/>
            <a:ext cx="4495800" cy="1009800"/>
          </a:xfrm>
          <a:prstGeom prst="roundRect">
            <a:avLst>
              <a:gd fmla="val 7547" name="adj"/>
            </a:avLst>
          </a:prstGeom>
          <a:solidFill>
            <a:srgbClr val="E0F2FE"/>
          </a:solidFill>
          <a:ln cap="flat" cmpd="sng" w="9525">
            <a:solidFill>
              <a:srgbClr val="BAE6F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3" name="Google Shape;223;p18"/>
          <p:cNvSpPr txBox="1"/>
          <p:nvPr/>
        </p:nvSpPr>
        <p:spPr>
          <a:xfrm>
            <a:off x="1066800" y="3733800"/>
            <a:ext cx="4191000" cy="4617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1" lang="en-US" sz="850">
                <a:solidFill>
                  <a:srgbClr val="0284C7"/>
                </a:solidFill>
                <a:latin typeface="Plus Jakarta Sans"/>
                <a:ea typeface="Plus Jakarta Sans"/>
                <a:cs typeface="Plus Jakarta Sans"/>
                <a:sym typeface="Plus Jakarta Sans"/>
              </a:rPr>
              <a:t>DISTINCT IDENTITY</a:t>
            </a:r>
            <a:endParaRPr b="1" sz="850">
              <a:solidFill>
                <a:srgbClr val="0284C7"/>
              </a:solidFill>
              <a:latin typeface="Plus Jakarta Sans"/>
              <a:ea typeface="Plus Jakarta Sans"/>
              <a:cs typeface="Plus Jakarta Sans"/>
              <a:sym typeface="Plus Jakarta Sans"/>
            </a:endParaRPr>
          </a:p>
          <a:p>
            <a:pPr indent="0" lvl="0" marL="0" rtl="0" algn="l">
              <a:spcBef>
                <a:spcPts val="300"/>
              </a:spcBef>
              <a:spcAft>
                <a:spcPts val="0"/>
              </a:spcAft>
              <a:buNone/>
            </a:pPr>
            <a:r>
              <a:rPr b="0" lang="en-US" sz="950">
                <a:solidFill>
                  <a:srgbClr val="0369A1"/>
                </a:solidFill>
                <a:latin typeface="Plus Jakarta Sans Medium"/>
                <a:ea typeface="Plus Jakarta Sans Medium"/>
                <a:cs typeface="Plus Jakarta Sans Medium"/>
                <a:sym typeface="Plus Jakarta Sans Medium"/>
              </a:rPr>
              <a:t>Even if two cards have identical credit limits, they are distinct physical objects with unique chip serial numbers.</a:t>
            </a:r>
            <a:endParaRPr b="0" sz="950">
              <a:solidFill>
                <a:srgbClr val="0369A1"/>
              </a:solidFill>
              <a:latin typeface="Plus Jakarta Sans Medium"/>
              <a:ea typeface="Plus Jakarta Sans Medium"/>
              <a:cs typeface="Plus Jakarta Sans Medium"/>
              <a:sym typeface="Plus Jakarta Sans Medium"/>
            </a:endParaRPr>
          </a:p>
        </p:txBody>
      </p:sp>
      <p:sp>
        <p:nvSpPr>
          <p:cNvPr id="224" name="Google Shape;224;p18"/>
          <p:cNvSpPr/>
          <p:nvPr/>
        </p:nvSpPr>
        <p:spPr>
          <a:xfrm>
            <a:off x="914400" y="4781550"/>
            <a:ext cx="4495800" cy="1428900"/>
          </a:xfrm>
          <a:prstGeom prst="roundRect">
            <a:avLst>
              <a:gd fmla="val 5333" name="adj"/>
            </a:avLst>
          </a:prstGeom>
          <a:solidFill>
            <a:srgbClr val="ECFDF5"/>
          </a:solidFill>
          <a:ln cap="flat" cmpd="sng" w="9525">
            <a:solidFill>
              <a:srgbClr val="A7F3D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5" name="Google Shape;225;p18"/>
          <p:cNvSpPr txBox="1"/>
          <p:nvPr/>
        </p:nvSpPr>
        <p:spPr>
          <a:xfrm>
            <a:off x="1066800" y="4895850"/>
            <a:ext cx="4191000" cy="6081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1" lang="en-US" sz="850">
                <a:solidFill>
                  <a:srgbClr val="047857"/>
                </a:solidFill>
                <a:latin typeface="Plus Jakarta Sans"/>
                <a:ea typeface="Plus Jakarta Sans"/>
                <a:cs typeface="Plus Jakarta Sans"/>
                <a:sym typeface="Plus Jakarta Sans"/>
              </a:rPr>
              <a:t>QA VIEW &amp; ISOLATION</a:t>
            </a:r>
            <a:endParaRPr b="1" sz="850">
              <a:solidFill>
                <a:srgbClr val="047857"/>
              </a:solidFill>
              <a:latin typeface="Plus Jakarta Sans"/>
              <a:ea typeface="Plus Jakarta Sans"/>
              <a:cs typeface="Plus Jakarta Sans"/>
              <a:sym typeface="Plus Jakarta Sans"/>
            </a:endParaRPr>
          </a:p>
          <a:p>
            <a:pPr indent="0" lvl="0" marL="0" rtl="0" algn="l">
              <a:spcBef>
                <a:spcPts val="300"/>
              </a:spcBef>
              <a:spcAft>
                <a:spcPts val="0"/>
              </a:spcAft>
              <a:buNone/>
            </a:pPr>
            <a:r>
              <a:rPr b="0" lang="en-US" sz="950">
                <a:solidFill>
                  <a:srgbClr val="065F46"/>
                </a:solidFill>
                <a:latin typeface="Plus Jakarta Sans Medium"/>
                <a:ea typeface="Plus Jakarta Sans Medium"/>
                <a:cs typeface="Plus Jakarta Sans Medium"/>
                <a:sym typeface="Plus Jakarta Sans Medium"/>
              </a:rPr>
              <a:t>Objects represent tangible entities in memory. QA verifies isolated execution across concurrent user sessions—modifying state in one object never mutates another.</a:t>
            </a:r>
            <a:endParaRPr b="0" sz="950">
              <a:solidFill>
                <a:srgbClr val="065F46"/>
              </a:solidFill>
              <a:latin typeface="Plus Jakarta Sans Medium"/>
              <a:ea typeface="Plus Jakarta Sans Medium"/>
              <a:cs typeface="Plus Jakarta Sans Medium"/>
              <a:sym typeface="Plus Jakarta Sans Medium"/>
            </a:endParaRPr>
          </a:p>
        </p:txBody>
      </p:sp>
      <p:sp>
        <p:nvSpPr>
          <p:cNvPr id="226" name="Google Shape;226;p18"/>
          <p:cNvSpPr/>
          <p:nvPr/>
        </p:nvSpPr>
        <p:spPr>
          <a:xfrm>
            <a:off x="5829300" y="2038350"/>
            <a:ext cx="5676900" cy="4438800"/>
          </a:xfrm>
          <a:prstGeom prst="roundRect">
            <a:avLst>
              <a:gd fmla="val 2575" name="adj"/>
            </a:avLst>
          </a:prstGeom>
          <a:solidFill>
            <a:srgbClr val="0F172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7" name="Google Shape;227;p18"/>
          <p:cNvSpPr/>
          <p:nvPr/>
        </p:nvSpPr>
        <p:spPr>
          <a:xfrm>
            <a:off x="5972175" y="2200275"/>
            <a:ext cx="95400" cy="95400"/>
          </a:xfrm>
          <a:prstGeom prst="ellipse">
            <a:avLst/>
          </a:prstGeom>
          <a:solidFill>
            <a:srgbClr val="EF44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8" name="Google Shape;228;p18"/>
          <p:cNvSpPr/>
          <p:nvPr/>
        </p:nvSpPr>
        <p:spPr>
          <a:xfrm>
            <a:off x="6124575" y="2200275"/>
            <a:ext cx="95400" cy="95400"/>
          </a:xfrm>
          <a:prstGeom prst="ellipse">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9" name="Google Shape;229;p18"/>
          <p:cNvSpPr/>
          <p:nvPr/>
        </p:nvSpPr>
        <p:spPr>
          <a:xfrm>
            <a:off x="6276975" y="2200275"/>
            <a:ext cx="95400" cy="95400"/>
          </a:xfrm>
          <a:prstGeom prst="ellipse">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230" name="Google Shape;230;p18"/>
          <p:cNvCxnSpPr/>
          <p:nvPr/>
        </p:nvCxnSpPr>
        <p:spPr>
          <a:xfrm>
            <a:off x="5829300" y="2438400"/>
            <a:ext cx="5676900" cy="0"/>
          </a:xfrm>
          <a:prstGeom prst="straightConnector1">
            <a:avLst/>
          </a:prstGeom>
          <a:solidFill>
            <a:srgbClr val="FFFFFF"/>
          </a:solidFill>
          <a:ln cap="flat" cmpd="sng" w="9525">
            <a:solidFill>
              <a:srgbClr val="1E293B"/>
            </a:solidFill>
            <a:prstDash val="solid"/>
            <a:round/>
            <a:headEnd len="sm" w="sm" type="none"/>
            <a:tailEnd len="sm" w="sm" type="none"/>
          </a:ln>
        </p:spPr>
      </p:cxnSp>
      <p:sp>
        <p:nvSpPr>
          <p:cNvPr id="231" name="Google Shape;231;p18"/>
          <p:cNvSpPr txBox="1"/>
          <p:nvPr/>
        </p:nvSpPr>
        <p:spPr>
          <a:xfrm>
            <a:off x="6515100" y="2152650"/>
            <a:ext cx="4762500" cy="1461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0" lang="en-US" sz="950">
                <a:solidFill>
                  <a:srgbClr val="94A3B8"/>
                </a:solidFill>
                <a:latin typeface="JetBrains Mono Medium"/>
                <a:ea typeface="JetBrains Mono Medium"/>
                <a:cs typeface="JetBrains Mono Medium"/>
                <a:sym typeface="JetBrains Mono Medium"/>
              </a:rPr>
              <a:t>Code Implementation (CreditCard.java)</a:t>
            </a:r>
            <a:endParaRPr b="0" sz="950">
              <a:solidFill>
                <a:srgbClr val="94A3B8"/>
              </a:solidFill>
              <a:latin typeface="JetBrains Mono Medium"/>
              <a:ea typeface="JetBrains Mono Medium"/>
              <a:cs typeface="JetBrains Mono Medium"/>
              <a:sym typeface="JetBrains Mono Medium"/>
            </a:endParaRPr>
          </a:p>
        </p:txBody>
      </p:sp>
      <p:sp>
        <p:nvSpPr>
          <p:cNvPr id="232" name="Google Shape;232;p18"/>
          <p:cNvSpPr txBox="1"/>
          <p:nvPr/>
        </p:nvSpPr>
        <p:spPr>
          <a:xfrm>
            <a:off x="6019800" y="2571750"/>
            <a:ext cx="5295900" cy="16317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lang="en-US" sz="950">
                <a:solidFill>
                  <a:srgbClr val="64748B"/>
                </a:solidFill>
                <a:latin typeface="JetBrains Mono"/>
                <a:ea typeface="JetBrains Mono"/>
                <a:cs typeface="JetBrains Mono"/>
                <a:sym typeface="JetBrains Mono"/>
              </a:rPr>
              <a:t>// 1. Instantiating independent objects in heap memory</a:t>
            </a:r>
            <a:endParaRPr sz="950">
              <a:solidFill>
                <a:srgbClr val="64748B"/>
              </a:solidFill>
              <a:latin typeface="JetBrains Mono"/>
              <a:ea typeface="JetBrains Mono"/>
              <a:cs typeface="JetBrains Mono"/>
              <a:sym typeface="JetBrains Mono"/>
            </a:endParaRPr>
          </a:p>
          <a:p>
            <a:pPr indent="0" lvl="0" marL="0" rtl="0" algn="l">
              <a:spcBef>
                <a:spcPts val="300"/>
              </a:spcBef>
              <a:spcAft>
                <a:spcPts val="0"/>
              </a:spcAft>
              <a:buNone/>
            </a:pPr>
            <a:r>
              <a:rPr b="1" lang="en-US" sz="950">
                <a:solidFill>
                  <a:srgbClr val="F43F5E"/>
                </a:solidFill>
                <a:latin typeface="JetBrains Mono"/>
                <a:ea typeface="JetBrains Mono"/>
                <a:cs typeface="JetBrains Mono"/>
                <a:sym typeface="JetBrains Mono"/>
              </a:rPr>
              <a:t>CreditCard</a:t>
            </a:r>
            <a:r>
              <a:rPr lang="en-US" sz="950">
                <a:solidFill>
                  <a:srgbClr val="E2E8F0"/>
                </a:solidFill>
                <a:latin typeface="JetBrains Mono"/>
                <a:ea typeface="JetBrains Mono"/>
                <a:cs typeface="JetBrains Mono"/>
                <a:sym typeface="JetBrains Mono"/>
              </a:rPr>
              <a:t> card1 = </a:t>
            </a:r>
            <a:r>
              <a:rPr b="1" lang="en-US" sz="950">
                <a:solidFill>
                  <a:srgbClr val="F43F5E"/>
                </a:solidFill>
                <a:latin typeface="JetBrains Mono"/>
                <a:ea typeface="JetBrains Mono"/>
                <a:cs typeface="JetBrains Mono"/>
                <a:sym typeface="JetBrains Mono"/>
              </a:rPr>
              <a:t>new</a:t>
            </a:r>
            <a:r>
              <a:rPr lang="en-US" sz="950">
                <a:solidFill>
                  <a:srgbClr val="E2E8F0"/>
                </a:solidFill>
                <a:latin typeface="JetBrains Mono"/>
                <a:ea typeface="JetBrains Mono"/>
                <a:cs typeface="JetBrains Mono"/>
                <a:sym typeface="JetBrains Mono"/>
              </a:rPr>
              <a:t> CreditCard(</a:t>
            </a:r>
            <a:r>
              <a:rPr lang="en-US" sz="950">
                <a:solidFill>
                  <a:srgbClr val="A7F3D0"/>
                </a:solidFill>
                <a:latin typeface="JetBrains Mono"/>
                <a:ea typeface="JetBrains Mono"/>
                <a:cs typeface="JetBrains Mono"/>
                <a:sym typeface="JetBrains Mono"/>
              </a:rPr>
              <a:t>"41112222"</a:t>
            </a:r>
            <a:r>
              <a:rPr lang="en-US" sz="950">
                <a:solidFill>
                  <a:srgbClr val="E2E8F0"/>
                </a:solidFill>
                <a:latin typeface="JetBrains Mono"/>
                <a:ea typeface="JetBrains Mono"/>
                <a:cs typeface="JetBrains Mono"/>
                <a:sym typeface="JetBrains Mono"/>
              </a:rPr>
              <a:t>, </a:t>
            </a:r>
            <a:r>
              <a:rPr lang="en-US" sz="950">
                <a:solidFill>
                  <a:srgbClr val="A7F3D0"/>
                </a:solidFill>
                <a:latin typeface="JetBrains Mono"/>
                <a:ea typeface="JetBrains Mono"/>
                <a:cs typeface="JetBrains Mono"/>
                <a:sym typeface="JetBrains Mono"/>
              </a:rPr>
              <a:t>"Alex"</a:t>
            </a:r>
            <a:r>
              <a:rPr lang="en-US" sz="950">
                <a:solidFill>
                  <a:srgbClr val="E2E8F0"/>
                </a:solidFill>
                <a:latin typeface="JetBrains Mono"/>
                <a:ea typeface="JetBrains Mono"/>
                <a:cs typeface="JetBrains Mono"/>
                <a:sym typeface="JetBrains Mono"/>
              </a:rPr>
              <a:t>);</a:t>
            </a:r>
            <a:endParaRPr sz="950">
              <a:solidFill>
                <a:srgbClr val="E2E8F0"/>
              </a:solidFill>
              <a:latin typeface="JetBrains Mono"/>
              <a:ea typeface="JetBrains Mono"/>
              <a:cs typeface="JetBrains Mono"/>
              <a:sym typeface="JetBrains Mono"/>
            </a:endParaRPr>
          </a:p>
          <a:p>
            <a:pPr indent="0" lvl="0" marL="0" rtl="0" algn="l">
              <a:spcBef>
                <a:spcPts val="150"/>
              </a:spcBef>
              <a:spcAft>
                <a:spcPts val="0"/>
              </a:spcAft>
              <a:buNone/>
            </a:pPr>
            <a:r>
              <a:rPr b="1" lang="en-US" sz="950">
                <a:solidFill>
                  <a:srgbClr val="F43F5E"/>
                </a:solidFill>
                <a:latin typeface="JetBrains Mono"/>
                <a:ea typeface="JetBrains Mono"/>
                <a:cs typeface="JetBrains Mono"/>
                <a:sym typeface="JetBrains Mono"/>
              </a:rPr>
              <a:t>CreditCard</a:t>
            </a:r>
            <a:r>
              <a:rPr lang="en-US" sz="950">
                <a:solidFill>
                  <a:srgbClr val="E2E8F0"/>
                </a:solidFill>
                <a:latin typeface="JetBrains Mono"/>
                <a:ea typeface="JetBrains Mono"/>
                <a:cs typeface="JetBrains Mono"/>
                <a:sym typeface="JetBrains Mono"/>
              </a:rPr>
              <a:t> card2 = </a:t>
            </a:r>
            <a:r>
              <a:rPr b="1" lang="en-US" sz="950">
                <a:solidFill>
                  <a:srgbClr val="F43F5E"/>
                </a:solidFill>
                <a:latin typeface="JetBrains Mono"/>
                <a:ea typeface="JetBrains Mono"/>
                <a:cs typeface="JetBrains Mono"/>
                <a:sym typeface="JetBrains Mono"/>
              </a:rPr>
              <a:t>new</a:t>
            </a:r>
            <a:r>
              <a:rPr lang="en-US" sz="950">
                <a:solidFill>
                  <a:srgbClr val="E2E8F0"/>
                </a:solidFill>
                <a:latin typeface="JetBrains Mono"/>
                <a:ea typeface="JetBrains Mono"/>
                <a:cs typeface="JetBrains Mono"/>
                <a:sym typeface="JetBrains Mono"/>
              </a:rPr>
              <a:t> CreditCard(</a:t>
            </a:r>
            <a:r>
              <a:rPr lang="en-US" sz="950">
                <a:solidFill>
                  <a:srgbClr val="A7F3D0"/>
                </a:solidFill>
                <a:latin typeface="JetBrains Mono"/>
                <a:ea typeface="JetBrains Mono"/>
                <a:cs typeface="JetBrains Mono"/>
                <a:sym typeface="JetBrains Mono"/>
              </a:rPr>
              <a:t>"55008888"</a:t>
            </a:r>
            <a:r>
              <a:rPr lang="en-US" sz="950">
                <a:solidFill>
                  <a:srgbClr val="E2E8F0"/>
                </a:solidFill>
                <a:latin typeface="JetBrains Mono"/>
                <a:ea typeface="JetBrains Mono"/>
                <a:cs typeface="JetBrains Mono"/>
                <a:sym typeface="JetBrains Mono"/>
              </a:rPr>
              <a:t>, </a:t>
            </a:r>
            <a:r>
              <a:rPr lang="en-US" sz="950">
                <a:solidFill>
                  <a:srgbClr val="A7F3D0"/>
                </a:solidFill>
                <a:latin typeface="JetBrains Mono"/>
                <a:ea typeface="JetBrains Mono"/>
                <a:cs typeface="JetBrains Mono"/>
                <a:sym typeface="JetBrains Mono"/>
              </a:rPr>
              <a:t>"Maya"</a:t>
            </a:r>
            <a:r>
              <a:rPr lang="en-US" sz="950">
                <a:solidFill>
                  <a:srgbClr val="E2E8F0"/>
                </a:solidFill>
                <a:latin typeface="JetBrains Mono"/>
                <a:ea typeface="JetBrains Mono"/>
                <a:cs typeface="JetBrains Mono"/>
                <a:sym typeface="JetBrains Mono"/>
              </a:rPr>
              <a:t>);</a:t>
            </a:r>
            <a:endParaRPr sz="950">
              <a:solidFill>
                <a:srgbClr val="E2E8F0"/>
              </a:solidFill>
              <a:latin typeface="JetBrains Mono"/>
              <a:ea typeface="JetBrains Mono"/>
              <a:cs typeface="JetBrains Mono"/>
              <a:sym typeface="JetBrains Mono"/>
            </a:endParaRPr>
          </a:p>
          <a:p>
            <a:pPr indent="0" lvl="0" marL="0" rtl="0" algn="l">
              <a:spcBef>
                <a:spcPts val="1200"/>
              </a:spcBef>
              <a:spcAft>
                <a:spcPts val="0"/>
              </a:spcAft>
              <a:buNone/>
            </a:pPr>
            <a:r>
              <a:rPr lang="en-US" sz="950">
                <a:solidFill>
                  <a:srgbClr val="64748B"/>
                </a:solidFill>
                <a:latin typeface="JetBrains Mono"/>
                <a:ea typeface="JetBrains Mono"/>
                <a:cs typeface="JetBrains Mono"/>
                <a:sym typeface="JetBrains Mono"/>
              </a:rPr>
              <a:t>// 2. Each object manages its own distinct state</a:t>
            </a:r>
            <a:endParaRPr sz="950">
              <a:solidFill>
                <a:srgbClr val="64748B"/>
              </a:solidFill>
              <a:latin typeface="JetBrains Mono"/>
              <a:ea typeface="JetBrains Mono"/>
              <a:cs typeface="JetBrains Mono"/>
              <a:sym typeface="JetBrains Mono"/>
            </a:endParaRPr>
          </a:p>
          <a:p>
            <a:pPr indent="0" lvl="0" marL="0" rtl="0" algn="l">
              <a:spcBef>
                <a:spcPts val="300"/>
              </a:spcBef>
              <a:spcAft>
                <a:spcPts val="0"/>
              </a:spcAft>
              <a:buNone/>
            </a:pPr>
            <a:r>
              <a:rPr lang="en-US" sz="950">
                <a:solidFill>
                  <a:srgbClr val="E2E8F0"/>
                </a:solidFill>
                <a:latin typeface="JetBrains Mono"/>
                <a:ea typeface="JetBrains Mono"/>
                <a:cs typeface="JetBrains Mono"/>
                <a:sym typeface="JetBrains Mono"/>
              </a:rPr>
              <a:t>card1.charge(</a:t>
            </a:r>
            <a:r>
              <a:rPr b="1" lang="en-US" sz="950">
                <a:solidFill>
                  <a:srgbClr val="F43F5E"/>
                </a:solidFill>
                <a:latin typeface="JetBrains Mono"/>
                <a:ea typeface="JetBrains Mono"/>
                <a:cs typeface="JetBrains Mono"/>
                <a:sym typeface="JetBrains Mono"/>
              </a:rPr>
              <a:t>new</a:t>
            </a:r>
            <a:r>
              <a:rPr lang="en-US" sz="950">
                <a:solidFill>
                  <a:srgbClr val="E2E8F0"/>
                </a:solidFill>
                <a:latin typeface="JetBrains Mono"/>
                <a:ea typeface="JetBrains Mono"/>
                <a:cs typeface="JetBrains Mono"/>
                <a:sym typeface="JetBrains Mono"/>
              </a:rPr>
              <a:t> BigDecimal(</a:t>
            </a:r>
            <a:r>
              <a:rPr lang="en-US" sz="950">
                <a:solidFill>
                  <a:srgbClr val="A7F3D0"/>
                </a:solidFill>
                <a:latin typeface="JetBrains Mono"/>
                <a:ea typeface="JetBrains Mono"/>
                <a:cs typeface="JetBrains Mono"/>
                <a:sym typeface="JetBrains Mono"/>
              </a:rPr>
              <a:t>"150.00"</a:t>
            </a:r>
            <a:r>
              <a:rPr lang="en-US" sz="950">
                <a:solidFill>
                  <a:srgbClr val="E2E8F0"/>
                </a:solidFill>
                <a:latin typeface="JetBrains Mono"/>
                <a:ea typeface="JetBrains Mono"/>
                <a:cs typeface="JetBrains Mono"/>
                <a:sym typeface="JetBrains Mono"/>
              </a:rPr>
              <a:t>));</a:t>
            </a:r>
            <a:endParaRPr sz="950">
              <a:solidFill>
                <a:srgbClr val="E2E8F0"/>
              </a:solidFill>
              <a:latin typeface="JetBrains Mono"/>
              <a:ea typeface="JetBrains Mono"/>
              <a:cs typeface="JetBrains Mono"/>
              <a:sym typeface="JetBrains Mono"/>
            </a:endParaRPr>
          </a:p>
          <a:p>
            <a:pPr indent="0" lvl="0" marL="0" rtl="0" algn="l">
              <a:spcBef>
                <a:spcPts val="1200"/>
              </a:spcBef>
              <a:spcAft>
                <a:spcPts val="0"/>
              </a:spcAft>
              <a:buNone/>
            </a:pPr>
            <a:r>
              <a:rPr lang="en-US" sz="950">
                <a:solidFill>
                  <a:srgbClr val="64748B"/>
                </a:solidFill>
                <a:latin typeface="JetBrains Mono"/>
                <a:ea typeface="JetBrains Mono"/>
                <a:cs typeface="JetBrains Mono"/>
                <a:sym typeface="JetBrains Mono"/>
              </a:rPr>
              <a:t>// 3. Verify state isolation across instances</a:t>
            </a:r>
            <a:endParaRPr sz="950">
              <a:solidFill>
                <a:srgbClr val="64748B"/>
              </a:solidFill>
              <a:latin typeface="JetBrains Mono"/>
              <a:ea typeface="JetBrains Mono"/>
              <a:cs typeface="JetBrains Mono"/>
              <a:sym typeface="JetBrains Mono"/>
            </a:endParaRPr>
          </a:p>
          <a:p>
            <a:pPr indent="0" lvl="0" marL="0" rtl="0" algn="l">
              <a:spcBef>
                <a:spcPts val="300"/>
              </a:spcBef>
              <a:spcAft>
                <a:spcPts val="0"/>
              </a:spcAft>
              <a:buNone/>
            </a:pPr>
            <a:r>
              <a:rPr lang="en-US" sz="950">
                <a:solidFill>
                  <a:srgbClr val="E2E8F0"/>
                </a:solidFill>
                <a:latin typeface="JetBrains Mono"/>
                <a:ea typeface="JetBrains Mono"/>
                <a:cs typeface="JetBrains Mono"/>
                <a:sym typeface="JetBrains Mono"/>
              </a:rPr>
              <a:t>System.out.println(card1.getBalance()); </a:t>
            </a:r>
            <a:r>
              <a:rPr lang="en-US" sz="950">
                <a:solidFill>
                  <a:srgbClr val="38BDF8"/>
                </a:solidFill>
                <a:latin typeface="JetBrains Mono"/>
                <a:ea typeface="JetBrains Mono"/>
                <a:cs typeface="JetBrains Mono"/>
                <a:sym typeface="JetBrains Mono"/>
              </a:rPr>
              <a:t>// -&gt; 150.00</a:t>
            </a:r>
            <a:endParaRPr sz="950">
              <a:solidFill>
                <a:srgbClr val="E2E8F0"/>
              </a:solidFill>
              <a:latin typeface="JetBrains Mono"/>
              <a:ea typeface="JetBrains Mono"/>
              <a:cs typeface="JetBrains Mono"/>
              <a:sym typeface="JetBrains Mono"/>
            </a:endParaRPr>
          </a:p>
          <a:p>
            <a:pPr indent="0" lvl="0" marL="0" rtl="0" algn="l">
              <a:spcBef>
                <a:spcPts val="150"/>
              </a:spcBef>
              <a:spcAft>
                <a:spcPts val="0"/>
              </a:spcAft>
              <a:buNone/>
            </a:pPr>
            <a:r>
              <a:rPr lang="en-US" sz="950">
                <a:solidFill>
                  <a:srgbClr val="E2E8F0"/>
                </a:solidFill>
                <a:latin typeface="JetBrains Mono"/>
                <a:ea typeface="JetBrains Mono"/>
                <a:cs typeface="JetBrains Mono"/>
                <a:sym typeface="JetBrains Mono"/>
              </a:rPr>
              <a:t>System.out.println(card2.getBalance()); </a:t>
            </a:r>
            <a:r>
              <a:rPr lang="en-US" sz="950">
                <a:solidFill>
                  <a:srgbClr val="38BDF8"/>
                </a:solidFill>
                <a:latin typeface="JetBrains Mono"/>
                <a:ea typeface="JetBrains Mono"/>
                <a:cs typeface="JetBrains Mono"/>
                <a:sym typeface="JetBrains Mono"/>
              </a:rPr>
              <a:t>// -&gt; 0.00</a:t>
            </a:r>
            <a:endParaRPr sz="950">
              <a:solidFill>
                <a:srgbClr val="E2E8F0"/>
              </a:solidFill>
              <a:latin typeface="JetBrains Mono"/>
              <a:ea typeface="JetBrains Mono"/>
              <a:cs typeface="JetBrains Mono"/>
              <a:sym typeface="JetBrains Mon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36" name="Shape 236"/>
        <p:cNvGrpSpPr/>
        <p:nvPr/>
      </p:nvGrpSpPr>
      <p:grpSpPr>
        <a:xfrm>
          <a:off x="0" y="0"/>
          <a:ext cx="0" cy="0"/>
          <a:chOff x="0" y="0"/>
          <a:chExt cx="0" cy="0"/>
        </a:xfrm>
      </p:grpSpPr>
      <p:grpSp>
        <p:nvGrpSpPr>
          <p:cNvPr id="237" name="Google Shape;237;p19"/>
          <p:cNvGrpSpPr/>
          <p:nvPr/>
        </p:nvGrpSpPr>
        <p:grpSpPr>
          <a:xfrm>
            <a:off x="762000" y="342900"/>
            <a:ext cx="10668150" cy="590550"/>
            <a:chOff x="762000" y="342900"/>
            <a:chExt cx="10668150" cy="590550"/>
          </a:xfrm>
        </p:grpSpPr>
        <p:sp>
          <p:nvSpPr>
            <p:cNvPr id="238" name="Google Shape;238;p19"/>
            <p:cNvSpPr txBox="1"/>
            <p:nvPr/>
          </p:nvSpPr>
          <p:spPr>
            <a:xfrm>
              <a:off x="762000" y="342900"/>
              <a:ext cx="2857500" cy="190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US" sz="950">
                  <a:solidFill>
                    <a:srgbClr val="0284C7"/>
                  </a:solidFill>
                  <a:latin typeface="Plus Jakarta Sans"/>
                  <a:ea typeface="Plus Jakarta Sans"/>
                  <a:cs typeface="Plus Jakarta Sans"/>
                  <a:sym typeface="Plus Jakarta Sans"/>
                </a:rPr>
                <a:t>OOP CORE ELEMENT</a:t>
              </a:r>
              <a:endParaRPr b="1" sz="950">
                <a:solidFill>
                  <a:srgbClr val="0284C7"/>
                </a:solidFill>
                <a:latin typeface="Plus Jakarta Sans"/>
                <a:ea typeface="Plus Jakarta Sans"/>
                <a:cs typeface="Plus Jakarta Sans"/>
                <a:sym typeface="Plus Jakarta Sans"/>
              </a:endParaRPr>
            </a:p>
          </p:txBody>
        </p:sp>
        <p:sp>
          <p:nvSpPr>
            <p:cNvPr id="239" name="Google Shape;239;p19"/>
            <p:cNvSpPr txBox="1"/>
            <p:nvPr/>
          </p:nvSpPr>
          <p:spPr>
            <a:xfrm>
              <a:off x="762000" y="552450"/>
              <a:ext cx="4762500" cy="3810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US" sz="2400">
                  <a:solidFill>
                    <a:srgbClr val="0F172A"/>
                  </a:solidFill>
                  <a:latin typeface="Plus Jakarta Sans ExtraBold"/>
                  <a:ea typeface="Plus Jakarta Sans ExtraBold"/>
                  <a:cs typeface="Plus Jakarta Sans ExtraBold"/>
                  <a:sym typeface="Plus Jakarta Sans ExtraBold"/>
                </a:rPr>
                <a:t>What is a Class?</a:t>
              </a:r>
              <a:endParaRPr b="0" sz="2400">
                <a:solidFill>
                  <a:srgbClr val="0F172A"/>
                </a:solidFill>
                <a:latin typeface="Plus Jakarta Sans ExtraBold"/>
                <a:ea typeface="Plus Jakarta Sans ExtraBold"/>
                <a:cs typeface="Plus Jakarta Sans ExtraBold"/>
                <a:sym typeface="Plus Jakarta Sans ExtraBold"/>
              </a:endParaRPr>
            </a:p>
          </p:txBody>
        </p:sp>
        <p:sp>
          <p:nvSpPr>
            <p:cNvPr id="240" name="Google Shape;240;p19"/>
            <p:cNvSpPr/>
            <p:nvPr/>
          </p:nvSpPr>
          <p:spPr>
            <a:xfrm>
              <a:off x="9772650" y="361950"/>
              <a:ext cx="1657500" cy="304800"/>
            </a:xfrm>
            <a:prstGeom prst="roundRect">
              <a:avLst>
                <a:gd fmla="val 50000" name="adj"/>
              </a:avLst>
            </a:prstGeom>
            <a:solidFill>
              <a:srgbClr val="EFF6FF"/>
            </a:solidFill>
            <a:ln cap="flat" cmpd="sng" w="9525">
              <a:solidFill>
                <a:srgbClr val="BFDBF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1" name="Google Shape;241;p19"/>
            <p:cNvSpPr txBox="1"/>
            <p:nvPr/>
          </p:nvSpPr>
          <p:spPr>
            <a:xfrm>
              <a:off x="9772650" y="361950"/>
              <a:ext cx="1657500" cy="304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950">
                  <a:solidFill>
                    <a:srgbClr val="1D4ED8"/>
                  </a:solidFill>
                  <a:latin typeface="Plus Jakarta Sans"/>
                  <a:ea typeface="Plus Jakarta Sans"/>
                  <a:cs typeface="Plus Jakarta Sans"/>
                  <a:sym typeface="Plus Jakarta Sans"/>
                </a:rPr>
                <a:t>Architectural Template</a:t>
              </a:r>
              <a:endParaRPr b="1" sz="950">
                <a:solidFill>
                  <a:srgbClr val="1D4ED8"/>
                </a:solidFill>
                <a:latin typeface="Plus Jakarta Sans"/>
                <a:ea typeface="Plus Jakarta Sans"/>
                <a:cs typeface="Plus Jakarta Sans"/>
                <a:sym typeface="Plus Jakarta Sans"/>
              </a:endParaRPr>
            </a:p>
          </p:txBody>
        </p:sp>
      </p:grpSp>
      <p:grpSp>
        <p:nvGrpSpPr>
          <p:cNvPr id="242" name="Google Shape;242;p19"/>
          <p:cNvGrpSpPr/>
          <p:nvPr/>
        </p:nvGrpSpPr>
        <p:grpSpPr>
          <a:xfrm>
            <a:off x="762000" y="1047750"/>
            <a:ext cx="10668000" cy="819300"/>
            <a:chOff x="762000" y="1047750"/>
            <a:chExt cx="10668000" cy="819300"/>
          </a:xfrm>
        </p:grpSpPr>
        <p:sp>
          <p:nvSpPr>
            <p:cNvPr id="243" name="Google Shape;243;p19"/>
            <p:cNvSpPr/>
            <p:nvPr/>
          </p:nvSpPr>
          <p:spPr>
            <a:xfrm>
              <a:off x="762000" y="1047750"/>
              <a:ext cx="10668000" cy="819300"/>
            </a:xfrm>
            <a:prstGeom prst="roundRect">
              <a:avLst>
                <a:gd fmla="val 9302"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4" name="Google Shape;244;p19"/>
            <p:cNvSpPr/>
            <p:nvPr/>
          </p:nvSpPr>
          <p:spPr>
            <a:xfrm>
              <a:off x="762000" y="1047750"/>
              <a:ext cx="47700" cy="819300"/>
            </a:xfrm>
            <a:prstGeom prst="roundRect">
              <a:avLst>
                <a:gd fmla="val 40000" name="adj"/>
              </a:avLst>
            </a:prstGeom>
            <a:solidFill>
              <a:srgbClr val="0284C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5" name="Google Shape;245;p19"/>
            <p:cNvSpPr txBox="1"/>
            <p:nvPr/>
          </p:nvSpPr>
          <p:spPr>
            <a:xfrm>
              <a:off x="971550" y="1123950"/>
              <a:ext cx="10268100" cy="666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850">
                  <a:solidFill>
                    <a:srgbClr val="0284C7"/>
                  </a:solidFill>
                  <a:latin typeface="Plus Jakarta Sans"/>
                  <a:ea typeface="Plus Jakarta Sans"/>
                  <a:cs typeface="Plus Jakarta Sans"/>
                  <a:sym typeface="Plus Jakarta Sans"/>
                </a:rPr>
                <a:t>SIMPLE DEFINITION</a:t>
              </a:r>
              <a:endParaRPr b="1" sz="850">
                <a:solidFill>
                  <a:srgbClr val="0284C7"/>
                </a:solidFill>
                <a:latin typeface="Plus Jakarta Sans"/>
                <a:ea typeface="Plus Jakarta Sans"/>
                <a:cs typeface="Plus Jakarta Sans"/>
                <a:sym typeface="Plus Jakarta Sans"/>
              </a:endParaRPr>
            </a:p>
            <a:p>
              <a:pPr indent="0" lvl="0" marL="0" rtl="0" algn="l">
                <a:spcBef>
                  <a:spcPts val="300"/>
                </a:spcBef>
                <a:spcAft>
                  <a:spcPts val="0"/>
                </a:spcAft>
                <a:buNone/>
              </a:pPr>
              <a:r>
                <a:rPr b="0" lang="en-US" sz="1100">
                  <a:solidFill>
                    <a:srgbClr val="1E293B"/>
                  </a:solidFill>
                  <a:latin typeface="Plus Jakarta Sans SemiBold"/>
                  <a:ea typeface="Plus Jakarta Sans SemiBold"/>
                  <a:cs typeface="Plus Jakarta Sans SemiBold"/>
                  <a:sym typeface="Plus Jakarta Sans SemiBold"/>
                </a:rPr>
                <a:t>A Class is simply the master template or blueprint that describes what kind of data an object will hold and what actions it will be able to do once it is created.</a:t>
              </a:r>
              <a:endParaRPr b="0" sz="1100">
                <a:solidFill>
                  <a:srgbClr val="1E293B"/>
                </a:solidFill>
                <a:latin typeface="Plus Jakarta Sans SemiBold"/>
                <a:ea typeface="Plus Jakarta Sans SemiBold"/>
                <a:cs typeface="Plus Jakarta Sans SemiBold"/>
                <a:sym typeface="Plus Jakarta Sans SemiBold"/>
              </a:endParaRPr>
            </a:p>
          </p:txBody>
        </p:sp>
      </p:grpSp>
      <p:grpSp>
        <p:nvGrpSpPr>
          <p:cNvPr id="246" name="Google Shape;246;p19"/>
          <p:cNvGrpSpPr/>
          <p:nvPr/>
        </p:nvGrpSpPr>
        <p:grpSpPr>
          <a:xfrm>
            <a:off x="762000" y="2038350"/>
            <a:ext cx="4953000" cy="4438800"/>
            <a:chOff x="762000" y="2038350"/>
            <a:chExt cx="4953000" cy="4438800"/>
          </a:xfrm>
        </p:grpSpPr>
        <p:sp>
          <p:nvSpPr>
            <p:cNvPr id="247" name="Google Shape;247;p19"/>
            <p:cNvSpPr/>
            <p:nvPr/>
          </p:nvSpPr>
          <p:spPr>
            <a:xfrm>
              <a:off x="762000" y="2038350"/>
              <a:ext cx="4953000" cy="4438800"/>
            </a:xfrm>
            <a:prstGeom prst="roundRect">
              <a:avLst>
                <a:gd fmla="val 2575"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8" name="Google Shape;248;p19"/>
            <p:cNvSpPr txBox="1"/>
            <p:nvPr/>
          </p:nvSpPr>
          <p:spPr>
            <a:xfrm>
              <a:off x="990600" y="2228850"/>
              <a:ext cx="4495800" cy="1238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850">
                  <a:solidFill>
                    <a:srgbClr val="0284C7"/>
                  </a:solidFill>
                  <a:latin typeface="Plus Jakarta Sans"/>
                  <a:ea typeface="Plus Jakarta Sans"/>
                  <a:cs typeface="Plus Jakarta Sans"/>
                  <a:sym typeface="Plus Jakarta Sans"/>
                </a:rPr>
                <a:t>REAL-WORLD ANALOGY</a:t>
              </a:r>
              <a:endParaRPr b="1" sz="850">
                <a:solidFill>
                  <a:srgbClr val="0284C7"/>
                </a:solidFill>
                <a:latin typeface="Plus Jakarta Sans"/>
                <a:ea typeface="Plus Jakarta Sans"/>
                <a:cs typeface="Plus Jakarta Sans"/>
                <a:sym typeface="Plus Jakarta Sans"/>
              </a:endParaRPr>
            </a:p>
            <a:p>
              <a:pPr indent="0" lvl="0" marL="0" rtl="0" algn="l">
                <a:spcBef>
                  <a:spcPts val="300"/>
                </a:spcBef>
                <a:spcAft>
                  <a:spcPts val="0"/>
                </a:spcAft>
                <a:buNone/>
              </a:pPr>
              <a:r>
                <a:rPr b="1" lang="en-US" sz="1800">
                  <a:solidFill>
                    <a:srgbClr val="0F172A"/>
                  </a:solidFill>
                  <a:latin typeface="Plus Jakarta Sans"/>
                  <a:ea typeface="Plus Jakarta Sans"/>
                  <a:cs typeface="Plus Jakarta Sans"/>
                  <a:sym typeface="Plus Jakarta Sans"/>
                </a:rPr>
                <a:t>Architectural Blueprint</a:t>
              </a:r>
              <a:endParaRPr b="1" sz="1800">
                <a:solidFill>
                  <a:srgbClr val="0F172A"/>
                </a:solidFill>
                <a:latin typeface="Plus Jakarta Sans"/>
                <a:ea typeface="Plus Jakarta Sans"/>
                <a:cs typeface="Plus Jakarta Sans"/>
                <a:sym typeface="Plus Jakarta Sans"/>
              </a:endParaRPr>
            </a:p>
            <a:p>
              <a:pPr indent="0" lvl="0" marL="0" rtl="0" algn="l">
                <a:spcBef>
                  <a:spcPts val="600"/>
                </a:spcBef>
                <a:spcAft>
                  <a:spcPts val="0"/>
                </a:spcAft>
                <a:buNone/>
              </a:pPr>
              <a:r>
                <a:rPr b="0" lang="en-US" sz="1050">
                  <a:solidFill>
                    <a:srgbClr val="475569"/>
                  </a:solidFill>
                  <a:latin typeface="Plus Jakarta Sans"/>
                  <a:ea typeface="Plus Jakarta Sans"/>
                  <a:cs typeface="Plus Jakarta Sans"/>
                  <a:sym typeface="Plus Jakarta Sans"/>
                </a:rPr>
                <a:t>An architectural blueprint specifies room dimensions, electrical circuits, and plumbing pipes. You cannot sleep inside a blueprint; it takes zero physical land. From one blueprint, builders can construct 500 identical houses in a development.</a:t>
              </a:r>
              <a:endParaRPr b="0" sz="1050">
                <a:solidFill>
                  <a:srgbClr val="475569"/>
                </a:solidFill>
                <a:latin typeface="Plus Jakarta Sans"/>
                <a:ea typeface="Plus Jakarta Sans"/>
                <a:cs typeface="Plus Jakarta Sans"/>
                <a:sym typeface="Plus Jakarta Sans"/>
              </a:endParaRPr>
            </a:p>
          </p:txBody>
        </p:sp>
        <p:sp>
          <p:nvSpPr>
            <p:cNvPr id="249" name="Google Shape;249;p19"/>
            <p:cNvSpPr/>
            <p:nvPr/>
          </p:nvSpPr>
          <p:spPr>
            <a:xfrm>
              <a:off x="990600" y="3619500"/>
              <a:ext cx="4495800" cy="1009800"/>
            </a:xfrm>
            <a:prstGeom prst="roundRect">
              <a:avLst>
                <a:gd fmla="val 7547" name="adj"/>
              </a:avLst>
            </a:prstGeom>
            <a:solidFill>
              <a:srgbClr val="E0F2FE"/>
            </a:solidFill>
            <a:ln cap="flat" cmpd="sng" w="9525">
              <a:solidFill>
                <a:srgbClr val="BAE6F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0" name="Google Shape;250;p19"/>
            <p:cNvSpPr txBox="1"/>
            <p:nvPr/>
          </p:nvSpPr>
          <p:spPr>
            <a:xfrm>
              <a:off x="1143000" y="3733800"/>
              <a:ext cx="4191000" cy="781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850">
                  <a:solidFill>
                    <a:srgbClr val="0284C7"/>
                  </a:solidFill>
                  <a:latin typeface="Plus Jakarta Sans"/>
                  <a:ea typeface="Plus Jakarta Sans"/>
                  <a:cs typeface="Plus Jakarta Sans"/>
                  <a:sym typeface="Plus Jakarta Sans"/>
                </a:rPr>
                <a:t>BLUEPRINT VS INSTANCE</a:t>
              </a:r>
              <a:endParaRPr b="1" sz="850">
                <a:solidFill>
                  <a:srgbClr val="0284C7"/>
                </a:solidFill>
                <a:latin typeface="Plus Jakarta Sans"/>
                <a:ea typeface="Plus Jakarta Sans"/>
                <a:cs typeface="Plus Jakarta Sans"/>
                <a:sym typeface="Plus Jakarta Sans"/>
              </a:endParaRPr>
            </a:p>
            <a:p>
              <a:pPr indent="0" lvl="0" marL="0" rtl="0" algn="l">
                <a:spcBef>
                  <a:spcPts val="400"/>
                </a:spcBef>
                <a:spcAft>
                  <a:spcPts val="0"/>
                </a:spcAft>
                <a:buNone/>
              </a:pPr>
              <a:r>
                <a:rPr b="1" lang="en-US" sz="950">
                  <a:solidFill>
                    <a:srgbClr val="0369A1"/>
                  </a:solidFill>
                  <a:latin typeface="Plus Jakarta Sans"/>
                  <a:ea typeface="Plus Jakarta Sans"/>
                  <a:cs typeface="Plus Jakarta Sans"/>
                  <a:sym typeface="Plus Jakarta Sans"/>
                </a:rPr>
                <a:t>Class:</a:t>
              </a:r>
              <a:r>
                <a:rPr b="0" lang="en-US" sz="950">
                  <a:solidFill>
                    <a:srgbClr val="0369A1"/>
                  </a:solidFill>
                  <a:latin typeface="Plus Jakarta Sans SemiBold"/>
                  <a:ea typeface="Plus Jakarta Sans SemiBold"/>
                  <a:cs typeface="Plus Jakarta Sans SemiBold"/>
                  <a:sym typeface="Plus Jakarta Sans SemiBold"/>
                </a:rPr>
                <a:t> Blueprint definition → </a:t>
              </a:r>
              <a:r>
                <a:rPr b="1" lang="en-US" sz="950">
                  <a:solidFill>
                    <a:srgbClr val="0369A1"/>
                  </a:solidFill>
                  <a:latin typeface="Plus Jakarta Sans"/>
                  <a:ea typeface="Plus Jakarta Sans"/>
                  <a:cs typeface="Plus Jakarta Sans"/>
                  <a:sym typeface="Plus Jakarta Sans"/>
                </a:rPr>
                <a:t>Object:</a:t>
              </a:r>
              <a:r>
                <a:rPr b="0" lang="en-US" sz="950">
                  <a:solidFill>
                    <a:srgbClr val="0369A1"/>
                  </a:solidFill>
                  <a:latin typeface="Plus Jakarta Sans SemiBold"/>
                  <a:ea typeface="Plus Jakarta Sans SemiBold"/>
                  <a:cs typeface="Plus Jakarta Sans SemiBold"/>
                  <a:sym typeface="Plus Jakarta Sans SemiBold"/>
                </a:rPr>
                <a:t> Actual physical house built on the street.</a:t>
              </a:r>
              <a:endParaRPr b="0" sz="950">
                <a:solidFill>
                  <a:srgbClr val="0369A1"/>
                </a:solidFill>
                <a:latin typeface="Plus Jakarta Sans SemiBold"/>
                <a:ea typeface="Plus Jakarta Sans SemiBold"/>
                <a:cs typeface="Plus Jakarta Sans SemiBold"/>
                <a:sym typeface="Plus Jakarta Sans SemiBold"/>
              </a:endParaRPr>
            </a:p>
          </p:txBody>
        </p:sp>
        <p:sp>
          <p:nvSpPr>
            <p:cNvPr id="251" name="Google Shape;251;p19"/>
            <p:cNvSpPr/>
            <p:nvPr/>
          </p:nvSpPr>
          <p:spPr>
            <a:xfrm>
              <a:off x="990600" y="4781550"/>
              <a:ext cx="4495800" cy="1428900"/>
            </a:xfrm>
            <a:prstGeom prst="roundRect">
              <a:avLst>
                <a:gd fmla="val 5333" name="adj"/>
              </a:avLst>
            </a:prstGeom>
            <a:solidFill>
              <a:srgbClr val="ECFDF5"/>
            </a:solidFill>
            <a:ln cap="flat" cmpd="sng" w="9525">
              <a:solidFill>
                <a:srgbClr val="A7F3D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2" name="Google Shape;252;p19"/>
            <p:cNvSpPr txBox="1"/>
            <p:nvPr/>
          </p:nvSpPr>
          <p:spPr>
            <a:xfrm>
              <a:off x="1143000" y="4914900"/>
              <a:ext cx="4191000" cy="1162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850">
                  <a:solidFill>
                    <a:srgbClr val="047857"/>
                  </a:solidFill>
                  <a:latin typeface="Plus Jakarta Sans"/>
                  <a:ea typeface="Plus Jakarta Sans"/>
                  <a:cs typeface="Plus Jakarta Sans"/>
                  <a:sym typeface="Plus Jakarta Sans"/>
                </a:rPr>
                <a:t>QA VIEW &amp; SCHEMA ASSERTIONS</a:t>
              </a:r>
              <a:endParaRPr b="1" sz="850">
                <a:solidFill>
                  <a:srgbClr val="047857"/>
                </a:solidFill>
                <a:latin typeface="Plus Jakarta Sans"/>
                <a:ea typeface="Plus Jakarta Sans"/>
                <a:cs typeface="Plus Jakarta Sans"/>
                <a:sym typeface="Plus Jakarta Sans"/>
              </a:endParaRPr>
            </a:p>
            <a:p>
              <a:pPr indent="0" lvl="0" marL="0" rtl="0" algn="l">
                <a:spcBef>
                  <a:spcPts val="400"/>
                </a:spcBef>
                <a:spcAft>
                  <a:spcPts val="0"/>
                </a:spcAft>
                <a:buNone/>
              </a:pPr>
              <a:r>
                <a:rPr b="0" lang="en-US" sz="950">
                  <a:solidFill>
                    <a:srgbClr val="065F46"/>
                  </a:solidFill>
                  <a:latin typeface="Plus Jakarta Sans Medium"/>
                  <a:ea typeface="Plus Jakarta Sans Medium"/>
                  <a:cs typeface="Plus Jakarta Sans Medium"/>
                  <a:sym typeface="Plus Jakarta Sans Medium"/>
                </a:rPr>
                <a:t>The class dictates what fields must be tested in API assertions. QA tests schema validation to ensure instantiated object payloads strictly adhere to declared attribute types and operational contracts.</a:t>
              </a:r>
              <a:endParaRPr b="0" sz="950">
                <a:solidFill>
                  <a:srgbClr val="065F46"/>
                </a:solidFill>
                <a:latin typeface="Plus Jakarta Sans Medium"/>
                <a:ea typeface="Plus Jakarta Sans Medium"/>
                <a:cs typeface="Plus Jakarta Sans Medium"/>
                <a:sym typeface="Plus Jakarta Sans Medium"/>
              </a:endParaRPr>
            </a:p>
          </p:txBody>
        </p:sp>
      </p:grpSp>
      <p:grpSp>
        <p:nvGrpSpPr>
          <p:cNvPr id="253" name="Google Shape;253;p19"/>
          <p:cNvGrpSpPr/>
          <p:nvPr/>
        </p:nvGrpSpPr>
        <p:grpSpPr>
          <a:xfrm>
            <a:off x="5905500" y="2038350"/>
            <a:ext cx="5524500" cy="4438800"/>
            <a:chOff x="5905500" y="2038350"/>
            <a:chExt cx="5524500" cy="4438800"/>
          </a:xfrm>
        </p:grpSpPr>
        <p:sp>
          <p:nvSpPr>
            <p:cNvPr id="254" name="Google Shape;254;p19"/>
            <p:cNvSpPr/>
            <p:nvPr/>
          </p:nvSpPr>
          <p:spPr>
            <a:xfrm>
              <a:off x="5905500" y="2038350"/>
              <a:ext cx="5524500" cy="4438800"/>
            </a:xfrm>
            <a:prstGeom prst="roundRect">
              <a:avLst>
                <a:gd fmla="val 2575" name="adj"/>
              </a:avLst>
            </a:prstGeom>
            <a:solidFill>
              <a:srgbClr val="0F172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5" name="Google Shape;255;p19"/>
            <p:cNvSpPr/>
            <p:nvPr/>
          </p:nvSpPr>
          <p:spPr>
            <a:xfrm>
              <a:off x="6096000" y="2200275"/>
              <a:ext cx="95400" cy="95400"/>
            </a:xfrm>
            <a:prstGeom prst="ellipse">
              <a:avLst/>
            </a:prstGeom>
            <a:solidFill>
              <a:srgbClr val="EF44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6" name="Google Shape;256;p19"/>
            <p:cNvSpPr/>
            <p:nvPr/>
          </p:nvSpPr>
          <p:spPr>
            <a:xfrm>
              <a:off x="6248400" y="2200275"/>
              <a:ext cx="95400" cy="95400"/>
            </a:xfrm>
            <a:prstGeom prst="ellipse">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7" name="Google Shape;257;p19"/>
            <p:cNvSpPr/>
            <p:nvPr/>
          </p:nvSpPr>
          <p:spPr>
            <a:xfrm>
              <a:off x="6400800" y="2200275"/>
              <a:ext cx="95400" cy="95400"/>
            </a:xfrm>
            <a:prstGeom prst="ellipse">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258" name="Google Shape;258;p19"/>
            <p:cNvCxnSpPr/>
            <p:nvPr/>
          </p:nvCxnSpPr>
          <p:spPr>
            <a:xfrm>
              <a:off x="5905500" y="2438400"/>
              <a:ext cx="5524500" cy="0"/>
            </a:xfrm>
            <a:prstGeom prst="straightConnector1">
              <a:avLst/>
            </a:prstGeom>
            <a:solidFill>
              <a:srgbClr val="FFFFFF"/>
            </a:solidFill>
            <a:ln cap="flat" cmpd="sng" w="9525">
              <a:solidFill>
                <a:srgbClr val="1E293B"/>
              </a:solidFill>
              <a:prstDash val="solid"/>
              <a:round/>
              <a:headEnd len="sm" w="sm" type="none"/>
              <a:tailEnd len="sm" w="sm" type="none"/>
            </a:ln>
          </p:spPr>
        </p:cxnSp>
        <p:sp>
          <p:nvSpPr>
            <p:cNvPr id="259" name="Google Shape;259;p19"/>
            <p:cNvSpPr txBox="1"/>
            <p:nvPr/>
          </p:nvSpPr>
          <p:spPr>
            <a:xfrm>
              <a:off x="6619875" y="2162175"/>
              <a:ext cx="4572000" cy="190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US" sz="950">
                  <a:solidFill>
                    <a:srgbClr val="94A3B8"/>
                  </a:solidFill>
                  <a:latin typeface="JetBrains Mono Medium"/>
                  <a:ea typeface="JetBrains Mono Medium"/>
                  <a:cs typeface="JetBrains Mono Medium"/>
                  <a:sym typeface="JetBrains Mono Medium"/>
                </a:rPr>
                <a:t>Class Template Definition (UserAccount.java)</a:t>
              </a:r>
              <a:endParaRPr b="0" sz="950">
                <a:solidFill>
                  <a:srgbClr val="94A3B8"/>
                </a:solidFill>
                <a:latin typeface="JetBrains Mono Medium"/>
                <a:ea typeface="JetBrains Mono Medium"/>
                <a:cs typeface="JetBrains Mono Medium"/>
                <a:sym typeface="JetBrains Mono Medium"/>
              </a:endParaRPr>
            </a:p>
          </p:txBody>
        </p:sp>
        <p:sp>
          <p:nvSpPr>
            <p:cNvPr id="260" name="Google Shape;260;p19"/>
            <p:cNvSpPr txBox="1"/>
            <p:nvPr/>
          </p:nvSpPr>
          <p:spPr>
            <a:xfrm>
              <a:off x="6134100" y="2609850"/>
              <a:ext cx="5067300" cy="3619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950">
                  <a:solidFill>
                    <a:srgbClr val="64748B"/>
                  </a:solidFill>
                  <a:latin typeface="JetBrains Mono"/>
                  <a:ea typeface="JetBrains Mono"/>
                  <a:cs typeface="JetBrains Mono"/>
                  <a:sym typeface="JetBrains Mono"/>
                </a:rPr>
                <a:t>// Master class blueprint describing state &amp; behavior</a:t>
              </a:r>
              <a:endParaRPr b="0" sz="950">
                <a:solidFill>
                  <a:srgbClr val="64748B"/>
                </a:solidFill>
                <a:latin typeface="JetBrains Mono"/>
                <a:ea typeface="JetBrains Mono"/>
                <a:cs typeface="JetBrains Mono"/>
                <a:sym typeface="JetBrains Mono"/>
              </a:endParaRPr>
            </a:p>
            <a:p>
              <a:pPr indent="0" lvl="0" marL="0" rtl="0" algn="l">
                <a:spcBef>
                  <a:spcPts val="600"/>
                </a:spcBef>
                <a:spcAft>
                  <a:spcPts val="0"/>
                </a:spcAft>
                <a:buNone/>
              </a:pPr>
              <a:r>
                <a:rPr b="1" lang="en-US" sz="950">
                  <a:solidFill>
                    <a:srgbClr val="F43F5E"/>
                  </a:solidFill>
                  <a:latin typeface="JetBrains Mono"/>
                  <a:ea typeface="JetBrains Mono"/>
                  <a:cs typeface="JetBrains Mono"/>
                  <a:sym typeface="JetBrains Mono"/>
                </a:rPr>
                <a:t>public class</a:t>
              </a:r>
              <a:r>
                <a:rPr b="0" lang="en-US" sz="950">
                  <a:solidFill>
                    <a:srgbClr val="E2E8F0"/>
                  </a:solidFill>
                  <a:latin typeface="JetBrains Mono"/>
                  <a:ea typeface="JetBrains Mono"/>
                  <a:cs typeface="JetBrains Mono"/>
                  <a:sym typeface="JetBrains Mono"/>
                </a:rPr>
                <a:t> </a:t>
              </a:r>
              <a:r>
                <a:rPr b="1" lang="en-US" sz="950">
                  <a:solidFill>
                    <a:srgbClr val="38BDF8"/>
                  </a:solidFill>
                  <a:latin typeface="JetBrains Mono"/>
                  <a:ea typeface="JetBrains Mono"/>
                  <a:cs typeface="JetBrains Mono"/>
                  <a:sym typeface="JetBrains Mono"/>
                </a:rPr>
                <a:t>UserAccount</a:t>
              </a:r>
              <a:r>
                <a:rPr b="0" lang="en-US" sz="950">
                  <a:solidFill>
                    <a:srgbClr val="E2E8F0"/>
                  </a:solidFill>
                  <a:latin typeface="JetBrains Mono"/>
                  <a:ea typeface="JetBrains Mono"/>
                  <a:cs typeface="JetBrains Mono"/>
                  <a:sym typeface="JetBrains Mono"/>
                </a:rPr>
                <a:t> {</a:t>
              </a:r>
              <a:endParaRPr b="0" sz="950">
                <a:solidFill>
                  <a:srgbClr val="E2E8F0"/>
                </a:solidFill>
                <a:latin typeface="JetBrains Mono"/>
                <a:ea typeface="JetBrains Mono"/>
                <a:cs typeface="JetBrains Mono"/>
                <a:sym typeface="JetBrains Mono"/>
              </a:endParaRPr>
            </a:p>
            <a:p>
              <a:pPr indent="0" lvl="0" marL="203200" marR="0" rtl="0" algn="l">
                <a:spcBef>
                  <a:spcPts val="1000"/>
                </a:spcBef>
                <a:spcAft>
                  <a:spcPts val="0"/>
                </a:spcAft>
                <a:buNone/>
              </a:pPr>
              <a:r>
                <a:rPr b="0" lang="en-US" sz="950">
                  <a:solidFill>
                    <a:srgbClr val="64748B"/>
                  </a:solidFill>
                  <a:latin typeface="JetBrains Mono"/>
                  <a:ea typeface="JetBrains Mono"/>
                  <a:cs typeface="JetBrains Mono"/>
                  <a:sym typeface="JetBrains Mono"/>
                </a:rPr>
                <a:t>// Structural attributes (State schema)</a:t>
              </a:r>
              <a:endParaRPr b="0" sz="950">
                <a:solidFill>
                  <a:srgbClr val="64748B"/>
                </a:solidFill>
                <a:latin typeface="JetBrains Mono"/>
                <a:ea typeface="JetBrains Mono"/>
                <a:cs typeface="JetBrains Mono"/>
                <a:sym typeface="JetBrains Mono"/>
              </a:endParaRPr>
            </a:p>
            <a:p>
              <a:pPr indent="0" lvl="0" marL="203200" marR="0" rtl="0" algn="l">
                <a:spcBef>
                  <a:spcPts val="400"/>
                </a:spcBef>
                <a:spcAft>
                  <a:spcPts val="0"/>
                </a:spcAft>
                <a:buNone/>
              </a:pPr>
              <a:r>
                <a:rPr b="1" lang="en-US" sz="950">
                  <a:solidFill>
                    <a:srgbClr val="F43F5E"/>
                  </a:solidFill>
                  <a:latin typeface="JetBrains Mono"/>
                  <a:ea typeface="JetBrains Mono"/>
                  <a:cs typeface="JetBrains Mono"/>
                  <a:sym typeface="JetBrains Mono"/>
                </a:rPr>
                <a:t>private final</a:t>
              </a:r>
              <a:r>
                <a:rPr b="0" lang="en-US" sz="950">
                  <a:solidFill>
                    <a:srgbClr val="E2E8F0"/>
                  </a:solidFill>
                  <a:latin typeface="JetBrains Mono"/>
                  <a:ea typeface="JetBrains Mono"/>
                  <a:cs typeface="JetBrains Mono"/>
                  <a:sym typeface="JetBrains Mono"/>
                </a:rPr>
                <a:t> String userId;</a:t>
              </a:r>
              <a:endParaRPr b="0" sz="950">
                <a:solidFill>
                  <a:srgbClr val="E2E8F0"/>
                </a:solidFill>
                <a:latin typeface="JetBrains Mono"/>
                <a:ea typeface="JetBrains Mono"/>
                <a:cs typeface="JetBrains Mono"/>
                <a:sym typeface="JetBrains Mono"/>
              </a:endParaRPr>
            </a:p>
            <a:p>
              <a:pPr indent="0" lvl="0" marL="203200" marR="0" rtl="0" algn="l">
                <a:spcBef>
                  <a:spcPts val="300"/>
                </a:spcBef>
                <a:spcAft>
                  <a:spcPts val="0"/>
                </a:spcAft>
                <a:buNone/>
              </a:pPr>
              <a:r>
                <a:rPr b="1" lang="en-US" sz="950">
                  <a:solidFill>
                    <a:srgbClr val="F43F5E"/>
                  </a:solidFill>
                  <a:latin typeface="JetBrains Mono"/>
                  <a:ea typeface="JetBrains Mono"/>
                  <a:cs typeface="JetBrains Mono"/>
                  <a:sym typeface="JetBrains Mono"/>
                </a:rPr>
                <a:t>private</a:t>
              </a:r>
              <a:r>
                <a:rPr b="0" lang="en-US" sz="950">
                  <a:solidFill>
                    <a:srgbClr val="E2E8F0"/>
                  </a:solidFill>
                  <a:latin typeface="JetBrains Mono"/>
                  <a:ea typeface="JetBrains Mono"/>
                  <a:cs typeface="JetBrains Mono"/>
                  <a:sym typeface="JetBrains Mono"/>
                </a:rPr>
                <a:t> String email;</a:t>
              </a:r>
              <a:endParaRPr b="0" sz="950">
                <a:solidFill>
                  <a:srgbClr val="E2E8F0"/>
                </a:solidFill>
                <a:latin typeface="JetBrains Mono"/>
                <a:ea typeface="JetBrains Mono"/>
                <a:cs typeface="JetBrains Mono"/>
                <a:sym typeface="JetBrains Mono"/>
              </a:endParaRPr>
            </a:p>
            <a:p>
              <a:pPr indent="0" lvl="0" marL="203200" marR="0" rtl="0" algn="l">
                <a:spcBef>
                  <a:spcPts val="300"/>
                </a:spcBef>
                <a:spcAft>
                  <a:spcPts val="0"/>
                </a:spcAft>
                <a:buNone/>
              </a:pPr>
              <a:r>
                <a:rPr b="1" lang="en-US" sz="950">
                  <a:solidFill>
                    <a:srgbClr val="F43F5E"/>
                  </a:solidFill>
                  <a:latin typeface="JetBrains Mono"/>
                  <a:ea typeface="JetBrains Mono"/>
                  <a:cs typeface="JetBrains Mono"/>
                  <a:sym typeface="JetBrains Mono"/>
                </a:rPr>
                <a:t>private boolean</a:t>
              </a:r>
              <a:r>
                <a:rPr b="0" lang="en-US" sz="950">
                  <a:solidFill>
                    <a:srgbClr val="E2E8F0"/>
                  </a:solidFill>
                  <a:latin typeface="JetBrains Mono"/>
                  <a:ea typeface="JetBrains Mono"/>
                  <a:cs typeface="JetBrains Mono"/>
                  <a:sym typeface="JetBrains Mono"/>
                </a:rPr>
                <a:t> kycVerified;</a:t>
              </a:r>
              <a:endParaRPr b="0" sz="950">
                <a:solidFill>
                  <a:srgbClr val="E2E8F0"/>
                </a:solidFill>
                <a:latin typeface="JetBrains Mono"/>
                <a:ea typeface="JetBrains Mono"/>
                <a:cs typeface="JetBrains Mono"/>
                <a:sym typeface="JetBrains Mono"/>
              </a:endParaRPr>
            </a:p>
            <a:p>
              <a:pPr indent="0" lvl="0" marL="203200" marR="0" rtl="0" algn="l">
                <a:spcBef>
                  <a:spcPts val="1400"/>
                </a:spcBef>
                <a:spcAft>
                  <a:spcPts val="0"/>
                </a:spcAft>
                <a:buNone/>
              </a:pPr>
              <a:r>
                <a:rPr b="0" lang="en-US" sz="950">
                  <a:solidFill>
                    <a:srgbClr val="64748B"/>
                  </a:solidFill>
                  <a:latin typeface="JetBrains Mono"/>
                  <a:ea typeface="JetBrains Mono"/>
                  <a:cs typeface="JetBrains Mono"/>
                  <a:sym typeface="JetBrains Mono"/>
                </a:rPr>
                <a:t>// Behavioral methods (Operations schema)</a:t>
              </a:r>
              <a:endParaRPr b="0" sz="950">
                <a:solidFill>
                  <a:srgbClr val="64748B"/>
                </a:solidFill>
                <a:latin typeface="JetBrains Mono"/>
                <a:ea typeface="JetBrains Mono"/>
                <a:cs typeface="JetBrains Mono"/>
                <a:sym typeface="JetBrains Mono"/>
              </a:endParaRPr>
            </a:p>
            <a:p>
              <a:pPr indent="0" lvl="0" marL="203200" marR="0" rtl="0" algn="l">
                <a:spcBef>
                  <a:spcPts val="400"/>
                </a:spcBef>
                <a:spcAft>
                  <a:spcPts val="0"/>
                </a:spcAft>
                <a:buNone/>
              </a:pPr>
              <a:r>
                <a:rPr b="1" lang="en-US" sz="950">
                  <a:solidFill>
                    <a:srgbClr val="F43F5E"/>
                  </a:solidFill>
                  <a:latin typeface="JetBrains Mono"/>
                  <a:ea typeface="JetBrains Mono"/>
                  <a:cs typeface="JetBrains Mono"/>
                  <a:sym typeface="JetBrains Mono"/>
                </a:rPr>
                <a:t>public void</a:t>
              </a:r>
              <a:r>
                <a:rPr b="0" lang="en-US" sz="950">
                  <a:solidFill>
                    <a:srgbClr val="E2E8F0"/>
                  </a:solidFill>
                  <a:latin typeface="JetBrains Mono"/>
                  <a:ea typeface="JetBrains Mono"/>
                  <a:cs typeface="JetBrains Mono"/>
                  <a:sym typeface="JetBrains Mono"/>
                </a:rPr>
                <a:t> </a:t>
              </a:r>
              <a:r>
                <a:rPr b="0" lang="en-US" sz="950">
                  <a:solidFill>
                    <a:srgbClr val="A7F3D0"/>
                  </a:solidFill>
                  <a:latin typeface="JetBrains Mono"/>
                  <a:ea typeface="JetBrains Mono"/>
                  <a:cs typeface="JetBrains Mono"/>
                  <a:sym typeface="JetBrains Mono"/>
                </a:rPr>
                <a:t>approveKyc</a:t>
              </a:r>
              <a:r>
                <a:rPr b="0" lang="en-US" sz="950">
                  <a:solidFill>
                    <a:srgbClr val="E2E8F0"/>
                  </a:solidFill>
                  <a:latin typeface="JetBrains Mono"/>
                  <a:ea typeface="JetBrains Mono"/>
                  <a:cs typeface="JetBrains Mono"/>
                  <a:sym typeface="JetBrains Mono"/>
                </a:rPr>
                <a:t>() {</a:t>
              </a:r>
              <a:endParaRPr b="0" sz="950">
                <a:solidFill>
                  <a:srgbClr val="E2E8F0"/>
                </a:solidFill>
                <a:latin typeface="JetBrains Mono"/>
                <a:ea typeface="JetBrains Mono"/>
                <a:cs typeface="JetBrains Mono"/>
                <a:sym typeface="JetBrains Mono"/>
              </a:endParaRPr>
            </a:p>
            <a:p>
              <a:pPr indent="0" lvl="0" marL="406400" marR="0" rtl="0" algn="l">
                <a:spcBef>
                  <a:spcPts val="300"/>
                </a:spcBef>
                <a:spcAft>
                  <a:spcPts val="0"/>
                </a:spcAft>
                <a:buNone/>
              </a:pPr>
              <a:r>
                <a:rPr b="1" lang="en-US" sz="950">
                  <a:solidFill>
                    <a:srgbClr val="F43F5E"/>
                  </a:solidFill>
                  <a:latin typeface="JetBrains Mono"/>
                  <a:ea typeface="JetBrains Mono"/>
                  <a:cs typeface="JetBrains Mono"/>
                  <a:sym typeface="JetBrains Mono"/>
                </a:rPr>
                <a:t>this</a:t>
              </a:r>
              <a:r>
                <a:rPr b="0" lang="en-US" sz="950">
                  <a:solidFill>
                    <a:srgbClr val="E2E8F0"/>
                  </a:solidFill>
                  <a:latin typeface="JetBrains Mono"/>
                  <a:ea typeface="JetBrains Mono"/>
                  <a:cs typeface="JetBrains Mono"/>
                  <a:sym typeface="JetBrains Mono"/>
                </a:rPr>
                <a:t>.kycVerified = </a:t>
              </a:r>
              <a:r>
                <a:rPr b="1" lang="en-US" sz="950">
                  <a:solidFill>
                    <a:srgbClr val="F43F5E"/>
                  </a:solidFill>
                  <a:latin typeface="JetBrains Mono"/>
                  <a:ea typeface="JetBrains Mono"/>
                  <a:cs typeface="JetBrains Mono"/>
                  <a:sym typeface="JetBrains Mono"/>
                </a:rPr>
                <a:t>true</a:t>
              </a:r>
              <a:r>
                <a:rPr b="0" lang="en-US" sz="950">
                  <a:solidFill>
                    <a:srgbClr val="E2E8F0"/>
                  </a:solidFill>
                  <a:latin typeface="JetBrains Mono"/>
                  <a:ea typeface="JetBrains Mono"/>
                  <a:cs typeface="JetBrains Mono"/>
                  <a:sym typeface="JetBrains Mono"/>
                </a:rPr>
                <a:t>;</a:t>
              </a:r>
              <a:endParaRPr b="0" sz="950">
                <a:solidFill>
                  <a:srgbClr val="E2E8F0"/>
                </a:solidFill>
                <a:latin typeface="JetBrains Mono"/>
                <a:ea typeface="JetBrains Mono"/>
                <a:cs typeface="JetBrains Mono"/>
                <a:sym typeface="JetBrains Mono"/>
              </a:endParaRPr>
            </a:p>
            <a:p>
              <a:pPr indent="0" lvl="0" marL="203200" marR="0" rtl="0" algn="l">
                <a:spcBef>
                  <a:spcPts val="300"/>
                </a:spcBef>
                <a:spcAft>
                  <a:spcPts val="0"/>
                </a:spcAft>
                <a:buNone/>
              </a:pPr>
              <a:r>
                <a:rPr b="0" lang="en-US" sz="950">
                  <a:solidFill>
                    <a:srgbClr val="E2E8F0"/>
                  </a:solidFill>
                  <a:latin typeface="JetBrains Mono"/>
                  <a:ea typeface="JetBrains Mono"/>
                  <a:cs typeface="JetBrains Mono"/>
                  <a:sym typeface="JetBrains Mono"/>
                </a:rPr>
                <a:t>}</a:t>
              </a:r>
              <a:endParaRPr b="0" sz="950">
                <a:solidFill>
                  <a:srgbClr val="E2E8F0"/>
                </a:solidFill>
                <a:latin typeface="JetBrains Mono"/>
                <a:ea typeface="JetBrains Mono"/>
                <a:cs typeface="JetBrains Mono"/>
                <a:sym typeface="JetBrains Mono"/>
              </a:endParaRPr>
            </a:p>
            <a:p>
              <a:pPr indent="0" lvl="0" marL="0" rtl="0" algn="l">
                <a:spcBef>
                  <a:spcPts val="1000"/>
                </a:spcBef>
                <a:spcAft>
                  <a:spcPts val="0"/>
                </a:spcAft>
                <a:buNone/>
              </a:pPr>
              <a:r>
                <a:rPr b="0" lang="en-US" sz="950">
                  <a:solidFill>
                    <a:srgbClr val="E2E8F0"/>
                  </a:solidFill>
                  <a:latin typeface="JetBrains Mono"/>
                  <a:ea typeface="JetBrains Mono"/>
                  <a:cs typeface="JetBrains Mono"/>
                  <a:sym typeface="JetBrains Mono"/>
                </a:rPr>
                <a:t>}</a:t>
              </a:r>
              <a:endParaRPr b="0" sz="950">
                <a:solidFill>
                  <a:srgbClr val="E2E8F0"/>
                </a:solidFill>
                <a:latin typeface="JetBrains Mono"/>
                <a:ea typeface="JetBrains Mono"/>
                <a:cs typeface="JetBrains Mono"/>
                <a:sym typeface="JetBrains Mono"/>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4" name="Shape 264"/>
        <p:cNvGrpSpPr/>
        <p:nvPr/>
      </p:nvGrpSpPr>
      <p:grpSpPr>
        <a:xfrm>
          <a:off x="0" y="0"/>
          <a:ext cx="0" cy="0"/>
          <a:chOff x="0" y="0"/>
          <a:chExt cx="0" cy="0"/>
        </a:xfrm>
      </p:grpSpPr>
      <p:grpSp>
        <p:nvGrpSpPr>
          <p:cNvPr id="265" name="Google Shape;265;p20"/>
          <p:cNvGrpSpPr/>
          <p:nvPr/>
        </p:nvGrpSpPr>
        <p:grpSpPr>
          <a:xfrm>
            <a:off x="685800" y="342900"/>
            <a:ext cx="10820250" cy="590550"/>
            <a:chOff x="685800" y="342900"/>
            <a:chExt cx="10820250" cy="590550"/>
          </a:xfrm>
        </p:grpSpPr>
        <p:sp>
          <p:nvSpPr>
            <p:cNvPr id="266" name="Google Shape;266;p20"/>
            <p:cNvSpPr txBox="1"/>
            <p:nvPr/>
          </p:nvSpPr>
          <p:spPr>
            <a:xfrm>
              <a:off x="685800" y="342900"/>
              <a:ext cx="2857500" cy="1716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950">
                  <a:solidFill>
                    <a:srgbClr val="0284C7"/>
                  </a:solidFill>
                  <a:latin typeface="Plus Jakarta Sans"/>
                  <a:ea typeface="Plus Jakarta Sans"/>
                  <a:cs typeface="Plus Jakarta Sans"/>
                  <a:sym typeface="Plus Jakarta Sans"/>
                </a:rPr>
                <a:t>PILLAR 01</a:t>
              </a:r>
              <a:endParaRPr b="1" sz="950">
                <a:solidFill>
                  <a:srgbClr val="0284C7"/>
                </a:solidFill>
                <a:latin typeface="Plus Jakarta Sans"/>
                <a:ea typeface="Plus Jakarta Sans"/>
                <a:cs typeface="Plus Jakarta Sans"/>
                <a:sym typeface="Plus Jakarta Sans"/>
              </a:endParaRPr>
            </a:p>
          </p:txBody>
        </p:sp>
        <p:sp>
          <p:nvSpPr>
            <p:cNvPr id="267" name="Google Shape;267;p20"/>
            <p:cNvSpPr txBox="1"/>
            <p:nvPr/>
          </p:nvSpPr>
          <p:spPr>
            <a:xfrm>
              <a:off x="685800" y="552450"/>
              <a:ext cx="4762500" cy="381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US" sz="2400">
                  <a:solidFill>
                    <a:srgbClr val="0F172A"/>
                  </a:solidFill>
                  <a:latin typeface="Plus Jakarta Sans ExtraBold"/>
                  <a:ea typeface="Plus Jakarta Sans ExtraBold"/>
                  <a:cs typeface="Plus Jakarta Sans ExtraBold"/>
                  <a:sym typeface="Plus Jakarta Sans ExtraBold"/>
                </a:rPr>
                <a:t>Encapsulation</a:t>
              </a:r>
              <a:endParaRPr b="0" sz="2400">
                <a:solidFill>
                  <a:srgbClr val="0F172A"/>
                </a:solidFill>
                <a:latin typeface="Plus Jakarta Sans ExtraBold"/>
                <a:ea typeface="Plus Jakarta Sans ExtraBold"/>
                <a:cs typeface="Plus Jakarta Sans ExtraBold"/>
                <a:sym typeface="Plus Jakarta Sans ExtraBold"/>
              </a:endParaRPr>
            </a:p>
          </p:txBody>
        </p:sp>
        <p:sp>
          <p:nvSpPr>
            <p:cNvPr id="268" name="Google Shape;268;p20"/>
            <p:cNvSpPr/>
            <p:nvPr/>
          </p:nvSpPr>
          <p:spPr>
            <a:xfrm>
              <a:off x="9696450" y="400050"/>
              <a:ext cx="1809600" cy="304800"/>
            </a:xfrm>
            <a:prstGeom prst="roundRect">
              <a:avLst>
                <a:gd fmla="val 50000" name="adj"/>
              </a:avLst>
            </a:prstGeom>
            <a:solidFill>
              <a:srgbClr val="F0FDF4"/>
            </a:solidFill>
            <a:ln cap="flat" cmpd="sng" w="9525">
              <a:solidFill>
                <a:srgbClr val="BBF7D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9" name="Google Shape;269;p20"/>
            <p:cNvSpPr txBox="1"/>
            <p:nvPr/>
          </p:nvSpPr>
          <p:spPr>
            <a:xfrm>
              <a:off x="9696450" y="400050"/>
              <a:ext cx="1809600" cy="304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US" sz="950">
                  <a:solidFill>
                    <a:srgbClr val="15803D"/>
                  </a:solidFill>
                  <a:latin typeface="Plus Jakarta Sans"/>
                  <a:ea typeface="Plus Jakarta Sans"/>
                  <a:cs typeface="Plus Jakarta Sans"/>
                  <a:sym typeface="Plus Jakarta Sans"/>
                </a:rPr>
                <a:t>Data Hiding &amp; Invariants</a:t>
              </a:r>
              <a:endParaRPr b="1" sz="950">
                <a:solidFill>
                  <a:srgbClr val="15803D"/>
                </a:solidFill>
                <a:latin typeface="Plus Jakarta Sans"/>
                <a:ea typeface="Plus Jakarta Sans"/>
                <a:cs typeface="Plus Jakarta Sans"/>
                <a:sym typeface="Plus Jakarta Sans"/>
              </a:endParaRPr>
            </a:p>
          </p:txBody>
        </p:sp>
      </p:grpSp>
      <p:grpSp>
        <p:nvGrpSpPr>
          <p:cNvPr id="270" name="Google Shape;270;p20"/>
          <p:cNvGrpSpPr/>
          <p:nvPr/>
        </p:nvGrpSpPr>
        <p:grpSpPr>
          <a:xfrm>
            <a:off x="685800" y="1047750"/>
            <a:ext cx="10820400" cy="819300"/>
            <a:chOff x="685800" y="1047750"/>
            <a:chExt cx="10820400" cy="819300"/>
          </a:xfrm>
        </p:grpSpPr>
        <p:sp>
          <p:nvSpPr>
            <p:cNvPr id="271" name="Google Shape;271;p20"/>
            <p:cNvSpPr/>
            <p:nvPr/>
          </p:nvSpPr>
          <p:spPr>
            <a:xfrm>
              <a:off x="685800" y="1047750"/>
              <a:ext cx="10820400" cy="819300"/>
            </a:xfrm>
            <a:prstGeom prst="roundRect">
              <a:avLst>
                <a:gd fmla="val 9302"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2" name="Google Shape;272;p20"/>
            <p:cNvSpPr/>
            <p:nvPr/>
          </p:nvSpPr>
          <p:spPr>
            <a:xfrm>
              <a:off x="685800" y="1047750"/>
              <a:ext cx="47700" cy="819300"/>
            </a:xfrm>
            <a:prstGeom prst="roundRect">
              <a:avLst>
                <a:gd fmla="val 40000" name="adj"/>
              </a:avLst>
            </a:prstGeom>
            <a:solidFill>
              <a:srgbClr val="0284C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3" name="Google Shape;273;p20"/>
            <p:cNvSpPr txBox="1"/>
            <p:nvPr/>
          </p:nvSpPr>
          <p:spPr>
            <a:xfrm>
              <a:off x="895350" y="1123950"/>
              <a:ext cx="10382400" cy="666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850">
                  <a:solidFill>
                    <a:srgbClr val="0284C7"/>
                  </a:solidFill>
                  <a:latin typeface="Plus Jakarta Sans"/>
                  <a:ea typeface="Plus Jakarta Sans"/>
                  <a:cs typeface="Plus Jakarta Sans"/>
                  <a:sym typeface="Plus Jakarta Sans"/>
                </a:rPr>
                <a:t>SIMPLE DEFINITION</a:t>
              </a:r>
              <a:endParaRPr b="1" sz="850">
                <a:solidFill>
                  <a:srgbClr val="0284C7"/>
                </a:solidFill>
                <a:latin typeface="Plus Jakarta Sans"/>
                <a:ea typeface="Plus Jakarta Sans"/>
                <a:cs typeface="Plus Jakarta Sans"/>
                <a:sym typeface="Plus Jakarta Sans"/>
              </a:endParaRPr>
            </a:p>
            <a:p>
              <a:pPr indent="0" lvl="0" marL="0" rtl="0" algn="l">
                <a:spcBef>
                  <a:spcPts val="300"/>
                </a:spcBef>
                <a:spcAft>
                  <a:spcPts val="0"/>
                </a:spcAft>
                <a:buNone/>
              </a:pPr>
              <a:r>
                <a:rPr b="0" lang="en-US" sz="1100">
                  <a:solidFill>
                    <a:srgbClr val="1E293B"/>
                  </a:solidFill>
                  <a:latin typeface="Plus Jakarta Sans SemiBold"/>
                  <a:ea typeface="Plus Jakarta Sans SemiBold"/>
                  <a:cs typeface="Plus Jakarta Sans SemiBold"/>
                  <a:sym typeface="Plus Jakarta Sans SemiBold"/>
                </a:rPr>
                <a:t>Encapsulation means keeping your data variables private and protected so outsiders cannot directly mess with them. They must use safe, public methods that check the rules first.</a:t>
              </a:r>
              <a:endParaRPr b="0" sz="1100">
                <a:solidFill>
                  <a:srgbClr val="1E293B"/>
                </a:solidFill>
                <a:latin typeface="Plus Jakarta Sans SemiBold"/>
                <a:ea typeface="Plus Jakarta Sans SemiBold"/>
                <a:cs typeface="Plus Jakarta Sans SemiBold"/>
                <a:sym typeface="Plus Jakarta Sans SemiBold"/>
              </a:endParaRPr>
            </a:p>
          </p:txBody>
        </p:sp>
      </p:grpSp>
      <p:grpSp>
        <p:nvGrpSpPr>
          <p:cNvPr id="274" name="Google Shape;274;p20"/>
          <p:cNvGrpSpPr/>
          <p:nvPr/>
        </p:nvGrpSpPr>
        <p:grpSpPr>
          <a:xfrm>
            <a:off x="685800" y="2038350"/>
            <a:ext cx="4953000" cy="4438800"/>
            <a:chOff x="685800" y="2038350"/>
            <a:chExt cx="4953000" cy="4438800"/>
          </a:xfrm>
        </p:grpSpPr>
        <p:sp>
          <p:nvSpPr>
            <p:cNvPr id="275" name="Google Shape;275;p20"/>
            <p:cNvSpPr/>
            <p:nvPr/>
          </p:nvSpPr>
          <p:spPr>
            <a:xfrm>
              <a:off x="685800" y="2038350"/>
              <a:ext cx="4953000" cy="4438800"/>
            </a:xfrm>
            <a:prstGeom prst="roundRect">
              <a:avLst>
                <a:gd fmla="val 2575"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6" name="Google Shape;276;p20"/>
            <p:cNvSpPr txBox="1"/>
            <p:nvPr/>
          </p:nvSpPr>
          <p:spPr>
            <a:xfrm>
              <a:off x="914400" y="2228850"/>
              <a:ext cx="4495800" cy="1143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US" sz="850">
                  <a:solidFill>
                    <a:srgbClr val="0284C7"/>
                  </a:solidFill>
                  <a:latin typeface="Plus Jakarta Sans"/>
                  <a:ea typeface="Plus Jakarta Sans"/>
                  <a:cs typeface="Plus Jakarta Sans"/>
                  <a:sym typeface="Plus Jakarta Sans"/>
                </a:rPr>
                <a:t>REAL-WORLD ANALOGY</a:t>
              </a:r>
              <a:endParaRPr b="1" sz="850">
                <a:solidFill>
                  <a:srgbClr val="0284C7"/>
                </a:solidFill>
                <a:latin typeface="Plus Jakarta Sans"/>
                <a:ea typeface="Plus Jakarta Sans"/>
                <a:cs typeface="Plus Jakarta Sans"/>
                <a:sym typeface="Plus Jakarta Sans"/>
              </a:endParaRPr>
            </a:p>
            <a:p>
              <a:pPr indent="0" lvl="0" marL="0" rtl="0" algn="l">
                <a:spcBef>
                  <a:spcPts val="200"/>
                </a:spcBef>
                <a:spcAft>
                  <a:spcPts val="0"/>
                </a:spcAft>
                <a:buNone/>
              </a:pPr>
              <a:r>
                <a:rPr b="1" lang="en-US" sz="1800">
                  <a:solidFill>
                    <a:srgbClr val="0F172A"/>
                  </a:solidFill>
                  <a:latin typeface="Plus Jakarta Sans"/>
                  <a:ea typeface="Plus Jakarta Sans"/>
                  <a:cs typeface="Plus Jakarta Sans"/>
                  <a:sym typeface="Plus Jakarta Sans"/>
                </a:rPr>
                <a:t>Medicine Capsule</a:t>
              </a:r>
              <a:endParaRPr b="1" sz="1800">
                <a:solidFill>
                  <a:srgbClr val="0F172A"/>
                </a:solidFill>
                <a:latin typeface="Plus Jakarta Sans"/>
                <a:ea typeface="Plus Jakarta Sans"/>
                <a:cs typeface="Plus Jakarta Sans"/>
                <a:sym typeface="Plus Jakarta Sans"/>
              </a:endParaRPr>
            </a:p>
            <a:p>
              <a:pPr indent="0" lvl="0" marL="0" rtl="0" algn="l">
                <a:spcBef>
                  <a:spcPts val="600"/>
                </a:spcBef>
                <a:spcAft>
                  <a:spcPts val="0"/>
                </a:spcAft>
                <a:buNone/>
              </a:pPr>
              <a:r>
                <a:rPr b="0" lang="en-US" sz="1050">
                  <a:solidFill>
                    <a:srgbClr val="475569"/>
                  </a:solidFill>
                  <a:latin typeface="Plus Jakarta Sans"/>
                  <a:ea typeface="Plus Jakarta Sans"/>
                  <a:cs typeface="Plus Jakarta Sans"/>
                  <a:sym typeface="Plus Jakarta Sans"/>
                </a:rPr>
                <a:t>A medicinal capsule seals active pharmaceutical ingredients inside a gelatin shell. Patients take the exact prescribed dosage without manually handling or contaminating the medicinal powder inside.</a:t>
              </a:r>
              <a:endParaRPr b="0" sz="1050">
                <a:solidFill>
                  <a:srgbClr val="475569"/>
                </a:solidFill>
                <a:latin typeface="Plus Jakarta Sans"/>
                <a:ea typeface="Plus Jakarta Sans"/>
                <a:cs typeface="Plus Jakarta Sans"/>
                <a:sym typeface="Plus Jakarta Sans"/>
              </a:endParaRPr>
            </a:p>
          </p:txBody>
        </p:sp>
        <p:sp>
          <p:nvSpPr>
            <p:cNvPr id="277" name="Google Shape;277;p20"/>
            <p:cNvSpPr/>
            <p:nvPr/>
          </p:nvSpPr>
          <p:spPr>
            <a:xfrm>
              <a:off x="914400" y="3543300"/>
              <a:ext cx="4495800" cy="1009800"/>
            </a:xfrm>
            <a:prstGeom prst="roundRect">
              <a:avLst>
                <a:gd fmla="val 7547" name="adj"/>
              </a:avLst>
            </a:prstGeom>
            <a:solidFill>
              <a:srgbClr val="FEF2F2"/>
            </a:solidFill>
            <a:ln cap="flat" cmpd="sng" w="9525">
              <a:solidFill>
                <a:srgbClr val="FECAC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8" name="Google Shape;278;p20"/>
            <p:cNvSpPr txBox="1"/>
            <p:nvPr/>
          </p:nvSpPr>
          <p:spPr>
            <a:xfrm>
              <a:off x="1066800" y="3657600"/>
              <a:ext cx="4191000" cy="7812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850">
                  <a:solidFill>
                    <a:srgbClr val="991B1B"/>
                  </a:solidFill>
                  <a:latin typeface="Plus Jakarta Sans"/>
                  <a:ea typeface="Plus Jakarta Sans"/>
                  <a:cs typeface="Plus Jakarta Sans"/>
                  <a:sym typeface="Plus Jakarta Sans"/>
                </a:rPr>
                <a:t>WITHOUT ENCAPSULATION</a:t>
              </a:r>
              <a:endParaRPr b="1" sz="850">
                <a:solidFill>
                  <a:srgbClr val="991B1B"/>
                </a:solidFill>
                <a:latin typeface="Plus Jakarta Sans"/>
                <a:ea typeface="Plus Jakarta Sans"/>
                <a:cs typeface="Plus Jakarta Sans"/>
                <a:sym typeface="Plus Jakarta Sans"/>
              </a:endParaRPr>
            </a:p>
            <a:p>
              <a:pPr indent="0" lvl="0" marL="0" rtl="0" algn="l">
                <a:spcBef>
                  <a:spcPts val="300"/>
                </a:spcBef>
                <a:spcAft>
                  <a:spcPts val="0"/>
                </a:spcAft>
                <a:buNone/>
              </a:pPr>
              <a:r>
                <a:rPr b="0" lang="en-US" sz="950">
                  <a:solidFill>
                    <a:srgbClr val="991B1B"/>
                  </a:solidFill>
                  <a:latin typeface="Plus Jakarta Sans Medium"/>
                  <a:ea typeface="Plus Jakarta Sans Medium"/>
                  <a:cs typeface="Plus Jakarta Sans Medium"/>
                  <a:sym typeface="Plus Jakarta Sans Medium"/>
                </a:rPr>
                <a:t>Direct public access allows bad actors or accidental typos to set an account balance to -$9,999.00.</a:t>
              </a:r>
              <a:endParaRPr b="0" sz="950">
                <a:solidFill>
                  <a:srgbClr val="991B1B"/>
                </a:solidFill>
                <a:latin typeface="Plus Jakarta Sans Medium"/>
                <a:ea typeface="Plus Jakarta Sans Medium"/>
                <a:cs typeface="Plus Jakarta Sans Medium"/>
                <a:sym typeface="Plus Jakarta Sans Medium"/>
              </a:endParaRPr>
            </a:p>
          </p:txBody>
        </p:sp>
        <p:sp>
          <p:nvSpPr>
            <p:cNvPr id="279" name="Google Shape;279;p20"/>
            <p:cNvSpPr/>
            <p:nvPr/>
          </p:nvSpPr>
          <p:spPr>
            <a:xfrm>
              <a:off x="914400" y="4705350"/>
              <a:ext cx="4495800" cy="1047900"/>
            </a:xfrm>
            <a:prstGeom prst="roundRect">
              <a:avLst>
                <a:gd fmla="val 7272" name="adj"/>
              </a:avLst>
            </a:prstGeom>
            <a:solidFill>
              <a:srgbClr val="ECFDF5"/>
            </a:solidFill>
            <a:ln cap="flat" cmpd="sng" w="9525">
              <a:solidFill>
                <a:srgbClr val="A7F3D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0" name="Google Shape;280;p20"/>
            <p:cNvSpPr txBox="1"/>
            <p:nvPr/>
          </p:nvSpPr>
          <p:spPr>
            <a:xfrm>
              <a:off x="1066800" y="4819650"/>
              <a:ext cx="4191000" cy="8193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850">
                  <a:solidFill>
                    <a:srgbClr val="047857"/>
                  </a:solidFill>
                  <a:latin typeface="Plus Jakarta Sans"/>
                  <a:ea typeface="Plus Jakarta Sans"/>
                  <a:cs typeface="Plus Jakarta Sans"/>
                  <a:sym typeface="Plus Jakarta Sans"/>
                </a:rPr>
                <a:t>QA VIEW &amp; INVARIANTS</a:t>
              </a:r>
              <a:endParaRPr b="1" sz="850">
                <a:solidFill>
                  <a:srgbClr val="047857"/>
                </a:solidFill>
                <a:latin typeface="Plus Jakarta Sans"/>
                <a:ea typeface="Plus Jakarta Sans"/>
                <a:cs typeface="Plus Jakarta Sans"/>
                <a:sym typeface="Plus Jakarta Sans"/>
              </a:endParaRPr>
            </a:p>
            <a:p>
              <a:pPr indent="0" lvl="0" marL="0" rtl="0" algn="l">
                <a:spcBef>
                  <a:spcPts val="300"/>
                </a:spcBef>
                <a:spcAft>
                  <a:spcPts val="0"/>
                </a:spcAft>
                <a:buNone/>
              </a:pPr>
              <a:r>
                <a:rPr b="0" lang="en-US" sz="950">
                  <a:solidFill>
                    <a:srgbClr val="065F46"/>
                  </a:solidFill>
                  <a:latin typeface="Plus Jakarta Sans Medium"/>
                  <a:ea typeface="Plus Jakarta Sans Medium"/>
                  <a:cs typeface="Plus Jakarta Sans Medium"/>
                  <a:sym typeface="Plus Jakarta Sans Medium"/>
                </a:rPr>
                <a:t>Protects internal state from illegal external tampering. Validation logic ensures impossible states cannot occur.</a:t>
              </a:r>
              <a:endParaRPr b="0" sz="950">
                <a:solidFill>
                  <a:srgbClr val="065F46"/>
                </a:solidFill>
                <a:latin typeface="Plus Jakarta Sans Medium"/>
                <a:ea typeface="Plus Jakarta Sans Medium"/>
                <a:cs typeface="Plus Jakarta Sans Medium"/>
                <a:sym typeface="Plus Jakarta Sans Medium"/>
              </a:endParaRPr>
            </a:p>
          </p:txBody>
        </p:sp>
      </p:grpSp>
      <p:grpSp>
        <p:nvGrpSpPr>
          <p:cNvPr id="281" name="Google Shape;281;p20"/>
          <p:cNvGrpSpPr/>
          <p:nvPr/>
        </p:nvGrpSpPr>
        <p:grpSpPr>
          <a:xfrm>
            <a:off x="5829300" y="2038350"/>
            <a:ext cx="5676900" cy="4438800"/>
            <a:chOff x="5829300" y="2038350"/>
            <a:chExt cx="5676900" cy="4438800"/>
          </a:xfrm>
        </p:grpSpPr>
        <p:sp>
          <p:nvSpPr>
            <p:cNvPr id="282" name="Google Shape;282;p20"/>
            <p:cNvSpPr/>
            <p:nvPr/>
          </p:nvSpPr>
          <p:spPr>
            <a:xfrm>
              <a:off x="5829300" y="2038350"/>
              <a:ext cx="5676900" cy="4438800"/>
            </a:xfrm>
            <a:prstGeom prst="roundRect">
              <a:avLst>
                <a:gd fmla="val 2575" name="adj"/>
              </a:avLst>
            </a:prstGeom>
            <a:solidFill>
              <a:srgbClr val="0F172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3" name="Google Shape;283;p20"/>
            <p:cNvSpPr/>
            <p:nvPr/>
          </p:nvSpPr>
          <p:spPr>
            <a:xfrm>
              <a:off x="5972175" y="2200275"/>
              <a:ext cx="95400" cy="95400"/>
            </a:xfrm>
            <a:prstGeom prst="ellipse">
              <a:avLst/>
            </a:prstGeom>
            <a:solidFill>
              <a:srgbClr val="EF44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4" name="Google Shape;284;p20"/>
            <p:cNvSpPr/>
            <p:nvPr/>
          </p:nvSpPr>
          <p:spPr>
            <a:xfrm>
              <a:off x="6124575" y="2200275"/>
              <a:ext cx="95400" cy="95400"/>
            </a:xfrm>
            <a:prstGeom prst="ellipse">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5" name="Google Shape;285;p20"/>
            <p:cNvSpPr/>
            <p:nvPr/>
          </p:nvSpPr>
          <p:spPr>
            <a:xfrm>
              <a:off x="6276975" y="2200275"/>
              <a:ext cx="95400" cy="95400"/>
            </a:xfrm>
            <a:prstGeom prst="ellipse">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286" name="Google Shape;286;p20"/>
            <p:cNvCxnSpPr/>
            <p:nvPr/>
          </p:nvCxnSpPr>
          <p:spPr>
            <a:xfrm>
              <a:off x="5829300" y="2438400"/>
              <a:ext cx="5676900" cy="0"/>
            </a:xfrm>
            <a:prstGeom prst="straightConnector1">
              <a:avLst/>
            </a:prstGeom>
            <a:solidFill>
              <a:srgbClr val="FFFFFF"/>
            </a:solidFill>
            <a:ln cap="flat" cmpd="sng" w="9525">
              <a:solidFill>
                <a:srgbClr val="1E293B"/>
              </a:solidFill>
              <a:prstDash val="solid"/>
              <a:round/>
              <a:headEnd len="sm" w="sm" type="none"/>
              <a:tailEnd len="sm" w="sm" type="none"/>
            </a:ln>
          </p:spPr>
        </p:cxnSp>
        <p:sp>
          <p:nvSpPr>
            <p:cNvPr id="287" name="Google Shape;287;p20"/>
            <p:cNvSpPr txBox="1"/>
            <p:nvPr/>
          </p:nvSpPr>
          <p:spPr>
            <a:xfrm>
              <a:off x="6515100" y="2152650"/>
              <a:ext cx="4762500" cy="1716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US" sz="950">
                  <a:solidFill>
                    <a:srgbClr val="94A3B8"/>
                  </a:solidFill>
                  <a:latin typeface="JetBrains Mono Medium"/>
                  <a:ea typeface="JetBrains Mono Medium"/>
                  <a:cs typeface="JetBrains Mono Medium"/>
                  <a:sym typeface="JetBrains Mono Medium"/>
                </a:rPr>
                <a:t>Code Implementation (Wallet.java)</a:t>
              </a:r>
              <a:endParaRPr b="0" sz="950">
                <a:solidFill>
                  <a:srgbClr val="94A3B8"/>
                </a:solidFill>
                <a:latin typeface="JetBrains Mono Medium"/>
                <a:ea typeface="JetBrains Mono Medium"/>
                <a:cs typeface="JetBrains Mono Medium"/>
                <a:sym typeface="JetBrains Mono Medium"/>
              </a:endParaRPr>
            </a:p>
          </p:txBody>
        </p:sp>
        <p:sp>
          <p:nvSpPr>
            <p:cNvPr id="288" name="Google Shape;288;p20"/>
            <p:cNvSpPr txBox="1"/>
            <p:nvPr/>
          </p:nvSpPr>
          <p:spPr>
            <a:xfrm>
              <a:off x="6019800" y="2590800"/>
              <a:ext cx="5295900" cy="37149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US" sz="925">
                  <a:solidFill>
                    <a:srgbClr val="64748B"/>
                  </a:solidFill>
                  <a:latin typeface="JetBrains Mono"/>
                  <a:ea typeface="JetBrains Mono"/>
                  <a:cs typeface="JetBrains Mono"/>
                  <a:sym typeface="JetBrains Mono"/>
                </a:rPr>
                <a:t>// 1. Encapsulated state guarded by private access</a:t>
              </a:r>
              <a:endParaRPr b="0" sz="925">
                <a:solidFill>
                  <a:srgbClr val="64748B"/>
                </a:solidFill>
                <a:latin typeface="JetBrains Mono"/>
                <a:ea typeface="JetBrains Mono"/>
                <a:cs typeface="JetBrains Mono"/>
                <a:sym typeface="JetBrains Mono"/>
              </a:endParaRPr>
            </a:p>
            <a:p>
              <a:pPr indent="0" lvl="0" marL="0" rtl="0" algn="l">
                <a:spcBef>
                  <a:spcPts val="400"/>
                </a:spcBef>
                <a:spcAft>
                  <a:spcPts val="0"/>
                </a:spcAft>
                <a:buNone/>
              </a:pPr>
              <a:r>
                <a:rPr b="1" lang="en-US" sz="925">
                  <a:solidFill>
                    <a:srgbClr val="F43F5E"/>
                  </a:solidFill>
                  <a:latin typeface="JetBrains Mono"/>
                  <a:ea typeface="JetBrains Mono"/>
                  <a:cs typeface="JetBrains Mono"/>
                  <a:sym typeface="JetBrains Mono"/>
                </a:rPr>
                <a:t>public class</a:t>
              </a:r>
              <a:r>
                <a:rPr b="0" lang="en-US" sz="925">
                  <a:solidFill>
                    <a:srgbClr val="64748B"/>
                  </a:solidFill>
                  <a:latin typeface="JetBrains Mono"/>
                  <a:ea typeface="JetBrains Mono"/>
                  <a:cs typeface="JetBrains Mono"/>
                  <a:sym typeface="JetBrains Mono"/>
                </a:rPr>
                <a:t> </a:t>
              </a:r>
              <a:r>
                <a:rPr b="1" lang="en-US" sz="925">
                  <a:solidFill>
                    <a:srgbClr val="38BDF8"/>
                  </a:solidFill>
                  <a:latin typeface="JetBrains Mono"/>
                  <a:ea typeface="JetBrains Mono"/>
                  <a:cs typeface="JetBrains Mono"/>
                  <a:sym typeface="JetBrains Mono"/>
                </a:rPr>
                <a:t>Wallet</a:t>
              </a:r>
              <a:r>
                <a:rPr b="0" lang="en-US" sz="925">
                  <a:solidFill>
                    <a:srgbClr val="64748B"/>
                  </a:solidFill>
                  <a:latin typeface="JetBrains Mono"/>
                  <a:ea typeface="JetBrains Mono"/>
                  <a:cs typeface="JetBrains Mono"/>
                  <a:sym typeface="JetBrains Mono"/>
                </a:rPr>
                <a:t> </a:t>
              </a:r>
              <a:r>
                <a:rPr b="0" lang="en-US" sz="925">
                  <a:solidFill>
                    <a:srgbClr val="E2E8F0"/>
                  </a:solidFill>
                  <a:latin typeface="JetBrains Mono"/>
                  <a:ea typeface="JetBrains Mono"/>
                  <a:cs typeface="JetBrains Mono"/>
                  <a:sym typeface="JetBrains Mono"/>
                </a:rPr>
                <a:t>{</a:t>
              </a:r>
              <a:endParaRPr b="0" sz="925">
                <a:solidFill>
                  <a:srgbClr val="64748B"/>
                </a:solidFill>
                <a:latin typeface="JetBrains Mono"/>
                <a:ea typeface="JetBrains Mono"/>
                <a:cs typeface="JetBrains Mono"/>
                <a:sym typeface="JetBrains Mono"/>
              </a:endParaRPr>
            </a:p>
            <a:p>
              <a:pPr indent="0" lvl="0" marL="177800" marR="0" rtl="0" algn="l">
                <a:spcBef>
                  <a:spcPts val="300"/>
                </a:spcBef>
                <a:spcAft>
                  <a:spcPts val="0"/>
                </a:spcAft>
                <a:buNone/>
              </a:pPr>
              <a:r>
                <a:rPr b="1" lang="en-US" sz="925">
                  <a:solidFill>
                    <a:srgbClr val="F43F5E"/>
                  </a:solidFill>
                  <a:latin typeface="JetBrains Mono"/>
                  <a:ea typeface="JetBrains Mono"/>
                  <a:cs typeface="JetBrains Mono"/>
                  <a:sym typeface="JetBrains Mono"/>
                </a:rPr>
                <a:t>private</a:t>
              </a:r>
              <a:r>
                <a:rPr b="0" lang="en-US" sz="925">
                  <a:solidFill>
                    <a:srgbClr val="64748B"/>
                  </a:solidFill>
                  <a:latin typeface="JetBrains Mono"/>
                  <a:ea typeface="JetBrains Mono"/>
                  <a:cs typeface="JetBrains Mono"/>
                  <a:sym typeface="JetBrains Mono"/>
                </a:rPr>
                <a:t> </a:t>
              </a:r>
              <a:r>
                <a:rPr b="0" lang="en-US" sz="925">
                  <a:solidFill>
                    <a:srgbClr val="E2E8F0"/>
                  </a:solidFill>
                  <a:latin typeface="JetBrains Mono"/>
                  <a:ea typeface="JetBrains Mono"/>
                  <a:cs typeface="JetBrains Mono"/>
                  <a:sym typeface="JetBrains Mono"/>
                </a:rPr>
                <a:t>BigDecimal balance = BigDecimal.ZERO;</a:t>
              </a:r>
              <a:endParaRPr b="0" sz="925">
                <a:solidFill>
                  <a:srgbClr val="64748B"/>
                </a:solidFill>
                <a:latin typeface="JetBrains Mono"/>
                <a:ea typeface="JetBrains Mono"/>
                <a:cs typeface="JetBrains Mono"/>
                <a:sym typeface="JetBrains Mono"/>
              </a:endParaRPr>
            </a:p>
            <a:p>
              <a:pPr indent="0" lvl="0" marL="177800" marR="0" rtl="0" algn="l">
                <a:spcBef>
                  <a:spcPts val="1200"/>
                </a:spcBef>
                <a:spcAft>
                  <a:spcPts val="0"/>
                </a:spcAft>
                <a:buNone/>
              </a:pPr>
              <a:r>
                <a:rPr b="0" lang="en-US" sz="925">
                  <a:solidFill>
                    <a:srgbClr val="64748B"/>
                  </a:solidFill>
                  <a:latin typeface="JetBrains Mono"/>
                  <a:ea typeface="JetBrains Mono"/>
                  <a:cs typeface="JetBrains Mono"/>
                  <a:sym typeface="JetBrains Mono"/>
                </a:rPr>
                <a:t>// 2. Guarded public method enforces rules</a:t>
              </a:r>
              <a:endParaRPr b="0" sz="925">
                <a:solidFill>
                  <a:srgbClr val="64748B"/>
                </a:solidFill>
                <a:latin typeface="JetBrains Mono"/>
                <a:ea typeface="JetBrains Mono"/>
                <a:cs typeface="JetBrains Mono"/>
                <a:sym typeface="JetBrains Mono"/>
              </a:endParaRPr>
            </a:p>
            <a:p>
              <a:pPr indent="0" lvl="0" marL="177800" marR="0" rtl="0" algn="l">
                <a:spcBef>
                  <a:spcPts val="300"/>
                </a:spcBef>
                <a:spcAft>
                  <a:spcPts val="0"/>
                </a:spcAft>
                <a:buNone/>
              </a:pPr>
              <a:r>
                <a:rPr b="1" lang="en-US" sz="925">
                  <a:solidFill>
                    <a:srgbClr val="F43F5E"/>
                  </a:solidFill>
                  <a:latin typeface="JetBrains Mono"/>
                  <a:ea typeface="JetBrains Mono"/>
                  <a:cs typeface="JetBrains Mono"/>
                  <a:sym typeface="JetBrains Mono"/>
                </a:rPr>
                <a:t>public void</a:t>
              </a:r>
              <a:r>
                <a:rPr b="0" lang="en-US" sz="925">
                  <a:solidFill>
                    <a:srgbClr val="64748B"/>
                  </a:solidFill>
                  <a:latin typeface="JetBrains Mono"/>
                  <a:ea typeface="JetBrains Mono"/>
                  <a:cs typeface="JetBrains Mono"/>
                  <a:sym typeface="JetBrains Mono"/>
                </a:rPr>
                <a:t> </a:t>
              </a:r>
              <a:r>
                <a:rPr b="0" lang="en-US" sz="925">
                  <a:solidFill>
                    <a:srgbClr val="A7F3D0"/>
                  </a:solidFill>
                  <a:latin typeface="JetBrains Mono"/>
                  <a:ea typeface="JetBrains Mono"/>
                  <a:cs typeface="JetBrains Mono"/>
                  <a:sym typeface="JetBrains Mono"/>
                </a:rPr>
                <a:t>withdraw</a:t>
              </a:r>
              <a:r>
                <a:rPr b="0" lang="en-US" sz="925">
                  <a:solidFill>
                    <a:srgbClr val="E2E8F0"/>
                  </a:solidFill>
                  <a:latin typeface="JetBrains Mono"/>
                  <a:ea typeface="JetBrains Mono"/>
                  <a:cs typeface="JetBrains Mono"/>
                  <a:sym typeface="JetBrains Mono"/>
                </a:rPr>
                <a:t>(BigDecimal amount) {</a:t>
              </a:r>
              <a:endParaRPr b="0" sz="925">
                <a:solidFill>
                  <a:srgbClr val="64748B"/>
                </a:solidFill>
                <a:latin typeface="JetBrains Mono"/>
                <a:ea typeface="JetBrains Mono"/>
                <a:cs typeface="JetBrains Mono"/>
                <a:sym typeface="JetBrains Mono"/>
              </a:endParaRPr>
            </a:p>
            <a:p>
              <a:pPr indent="0" lvl="0" marL="355600" marR="0" rtl="0" algn="l">
                <a:spcBef>
                  <a:spcPts val="300"/>
                </a:spcBef>
                <a:spcAft>
                  <a:spcPts val="0"/>
                </a:spcAft>
                <a:buNone/>
              </a:pPr>
              <a:r>
                <a:rPr b="1" lang="en-US" sz="925">
                  <a:solidFill>
                    <a:srgbClr val="F43F5E"/>
                  </a:solidFill>
                  <a:latin typeface="JetBrains Mono"/>
                  <a:ea typeface="JetBrains Mono"/>
                  <a:cs typeface="JetBrains Mono"/>
                  <a:sym typeface="JetBrains Mono"/>
                </a:rPr>
                <a:t>if</a:t>
              </a:r>
              <a:r>
                <a:rPr b="0" lang="en-US" sz="925">
                  <a:solidFill>
                    <a:srgbClr val="64748B"/>
                  </a:solidFill>
                  <a:latin typeface="JetBrains Mono"/>
                  <a:ea typeface="JetBrains Mono"/>
                  <a:cs typeface="JetBrains Mono"/>
                  <a:sym typeface="JetBrains Mono"/>
                </a:rPr>
                <a:t> </a:t>
              </a:r>
              <a:r>
                <a:rPr b="0" lang="en-US" sz="925">
                  <a:solidFill>
                    <a:srgbClr val="E2E8F0"/>
                  </a:solidFill>
                  <a:latin typeface="JetBrains Mono"/>
                  <a:ea typeface="JetBrains Mono"/>
                  <a:cs typeface="JetBrains Mono"/>
                  <a:sym typeface="JetBrains Mono"/>
                </a:rPr>
                <a:t>(amount.compareTo(BigDecimal.ZERO) &lt;= </a:t>
              </a:r>
              <a:r>
                <a:rPr b="0" lang="en-US" sz="925">
                  <a:solidFill>
                    <a:srgbClr val="F43F5E"/>
                  </a:solidFill>
                  <a:latin typeface="JetBrains Mono"/>
                  <a:ea typeface="JetBrains Mono"/>
                  <a:cs typeface="JetBrains Mono"/>
                  <a:sym typeface="JetBrains Mono"/>
                </a:rPr>
                <a:t>0</a:t>
              </a:r>
              <a:r>
                <a:rPr b="0" lang="en-US" sz="925">
                  <a:solidFill>
                    <a:srgbClr val="E2E8F0"/>
                  </a:solidFill>
                  <a:latin typeface="JetBrains Mono"/>
                  <a:ea typeface="JetBrains Mono"/>
                  <a:cs typeface="JetBrains Mono"/>
                  <a:sym typeface="JetBrains Mono"/>
                </a:rPr>
                <a:t>) {</a:t>
              </a:r>
              <a:endParaRPr b="0" sz="925">
                <a:solidFill>
                  <a:srgbClr val="64748B"/>
                </a:solidFill>
                <a:latin typeface="JetBrains Mono"/>
                <a:ea typeface="JetBrains Mono"/>
                <a:cs typeface="JetBrains Mono"/>
                <a:sym typeface="JetBrains Mono"/>
              </a:endParaRPr>
            </a:p>
            <a:p>
              <a:pPr indent="0" lvl="0" marL="533400" marR="0" rtl="0" algn="l">
                <a:spcBef>
                  <a:spcPts val="200"/>
                </a:spcBef>
                <a:spcAft>
                  <a:spcPts val="0"/>
                </a:spcAft>
                <a:buNone/>
              </a:pPr>
              <a:r>
                <a:rPr b="1" lang="en-US" sz="925">
                  <a:solidFill>
                    <a:srgbClr val="F43F5E"/>
                  </a:solidFill>
                  <a:latin typeface="JetBrains Mono"/>
                  <a:ea typeface="JetBrains Mono"/>
                  <a:cs typeface="JetBrains Mono"/>
                  <a:sym typeface="JetBrains Mono"/>
                </a:rPr>
                <a:t>throw new</a:t>
              </a:r>
              <a:r>
                <a:rPr b="0" lang="en-US" sz="925">
                  <a:solidFill>
                    <a:srgbClr val="64748B"/>
                  </a:solidFill>
                  <a:latin typeface="JetBrains Mono"/>
                  <a:ea typeface="JetBrains Mono"/>
                  <a:cs typeface="JetBrains Mono"/>
                  <a:sym typeface="JetBrains Mono"/>
                </a:rPr>
                <a:t> </a:t>
              </a:r>
              <a:r>
                <a:rPr b="0" lang="en-US" sz="925">
                  <a:solidFill>
                    <a:srgbClr val="E2E8F0"/>
                  </a:solidFill>
                  <a:latin typeface="JetBrains Mono"/>
                  <a:ea typeface="JetBrains Mono"/>
                  <a:cs typeface="JetBrains Mono"/>
                  <a:sym typeface="JetBrains Mono"/>
                </a:rPr>
                <a:t>IllegalArgumentException(</a:t>
              </a:r>
              <a:endParaRPr b="0" sz="925">
                <a:solidFill>
                  <a:srgbClr val="64748B"/>
                </a:solidFill>
                <a:latin typeface="JetBrains Mono"/>
                <a:ea typeface="JetBrains Mono"/>
                <a:cs typeface="JetBrains Mono"/>
                <a:sym typeface="JetBrains Mono"/>
              </a:endParaRPr>
            </a:p>
            <a:p>
              <a:pPr indent="0" lvl="0" marL="711200" marR="0" rtl="0" algn="l">
                <a:spcBef>
                  <a:spcPts val="200"/>
                </a:spcBef>
                <a:spcAft>
                  <a:spcPts val="0"/>
                </a:spcAft>
                <a:buNone/>
              </a:pPr>
              <a:r>
                <a:rPr b="0" lang="en-US" sz="925">
                  <a:solidFill>
                    <a:srgbClr val="A7F3D0"/>
                  </a:solidFill>
                  <a:latin typeface="JetBrains Mono"/>
                  <a:ea typeface="JetBrains Mono"/>
                  <a:cs typeface="JetBrains Mono"/>
                  <a:sym typeface="JetBrains Mono"/>
                </a:rPr>
                <a:t>"Amount must be positive"</a:t>
              </a:r>
              <a:r>
                <a:rPr b="0" lang="en-US" sz="925">
                  <a:solidFill>
                    <a:srgbClr val="E2E8F0"/>
                  </a:solidFill>
                  <a:latin typeface="JetBrains Mono"/>
                  <a:ea typeface="JetBrains Mono"/>
                  <a:cs typeface="JetBrains Mono"/>
                  <a:sym typeface="JetBrains Mono"/>
                </a:rPr>
                <a:t>);</a:t>
              </a:r>
              <a:endParaRPr b="0" sz="925">
                <a:solidFill>
                  <a:srgbClr val="64748B"/>
                </a:solidFill>
                <a:latin typeface="JetBrains Mono"/>
                <a:ea typeface="JetBrains Mono"/>
                <a:cs typeface="JetBrains Mono"/>
                <a:sym typeface="JetBrains Mono"/>
              </a:endParaRPr>
            </a:p>
            <a:p>
              <a:pPr indent="0" lvl="0" marL="355600" marR="0" rtl="0" algn="l">
                <a:spcBef>
                  <a:spcPts val="300"/>
                </a:spcBef>
                <a:spcAft>
                  <a:spcPts val="0"/>
                </a:spcAft>
                <a:buNone/>
              </a:pPr>
              <a:r>
                <a:rPr b="0" lang="en-US" sz="925">
                  <a:solidFill>
                    <a:srgbClr val="E2E8F0"/>
                  </a:solidFill>
                  <a:latin typeface="JetBrains Mono"/>
                  <a:ea typeface="JetBrains Mono"/>
                  <a:cs typeface="JetBrains Mono"/>
                  <a:sym typeface="JetBrains Mono"/>
                </a:rPr>
                <a:t>}</a:t>
              </a:r>
              <a:endParaRPr b="0" sz="925">
                <a:solidFill>
                  <a:srgbClr val="64748B"/>
                </a:solidFill>
                <a:latin typeface="JetBrains Mono"/>
                <a:ea typeface="JetBrains Mono"/>
                <a:cs typeface="JetBrains Mono"/>
                <a:sym typeface="JetBrains Mono"/>
              </a:endParaRPr>
            </a:p>
            <a:p>
              <a:pPr indent="0" lvl="0" marL="355600" marR="0" rtl="0" algn="l">
                <a:spcBef>
                  <a:spcPts val="300"/>
                </a:spcBef>
                <a:spcAft>
                  <a:spcPts val="0"/>
                </a:spcAft>
                <a:buNone/>
              </a:pPr>
              <a:r>
                <a:rPr b="1" lang="en-US" sz="925">
                  <a:solidFill>
                    <a:srgbClr val="F43F5E"/>
                  </a:solidFill>
                  <a:latin typeface="JetBrains Mono"/>
                  <a:ea typeface="JetBrains Mono"/>
                  <a:cs typeface="JetBrains Mono"/>
                  <a:sym typeface="JetBrains Mono"/>
                </a:rPr>
                <a:t>if</a:t>
              </a:r>
              <a:r>
                <a:rPr b="0" lang="en-US" sz="925">
                  <a:solidFill>
                    <a:srgbClr val="64748B"/>
                  </a:solidFill>
                  <a:latin typeface="JetBrains Mono"/>
                  <a:ea typeface="JetBrains Mono"/>
                  <a:cs typeface="JetBrains Mono"/>
                  <a:sym typeface="JetBrains Mono"/>
                </a:rPr>
                <a:t> </a:t>
              </a:r>
              <a:r>
                <a:rPr b="0" lang="en-US" sz="925">
                  <a:solidFill>
                    <a:srgbClr val="E2E8F0"/>
                  </a:solidFill>
                  <a:latin typeface="JetBrains Mono"/>
                  <a:ea typeface="JetBrains Mono"/>
                  <a:cs typeface="JetBrains Mono"/>
                  <a:sym typeface="JetBrains Mono"/>
                </a:rPr>
                <a:t>(balance.compareTo(amount) &lt; </a:t>
              </a:r>
              <a:r>
                <a:rPr b="0" lang="en-US" sz="925">
                  <a:solidFill>
                    <a:srgbClr val="F43F5E"/>
                  </a:solidFill>
                  <a:latin typeface="JetBrains Mono"/>
                  <a:ea typeface="JetBrains Mono"/>
                  <a:cs typeface="JetBrains Mono"/>
                  <a:sym typeface="JetBrains Mono"/>
                </a:rPr>
                <a:t>0</a:t>
              </a:r>
              <a:r>
                <a:rPr b="0" lang="en-US" sz="925">
                  <a:solidFill>
                    <a:srgbClr val="E2E8F0"/>
                  </a:solidFill>
                  <a:latin typeface="JetBrains Mono"/>
                  <a:ea typeface="JetBrains Mono"/>
                  <a:cs typeface="JetBrains Mono"/>
                  <a:sym typeface="JetBrains Mono"/>
                </a:rPr>
                <a:t>) {</a:t>
              </a:r>
              <a:endParaRPr b="0" sz="925">
                <a:solidFill>
                  <a:srgbClr val="64748B"/>
                </a:solidFill>
                <a:latin typeface="JetBrains Mono"/>
                <a:ea typeface="JetBrains Mono"/>
                <a:cs typeface="JetBrains Mono"/>
                <a:sym typeface="JetBrains Mono"/>
              </a:endParaRPr>
            </a:p>
            <a:p>
              <a:pPr indent="0" lvl="0" marL="533400" marR="0" rtl="0" algn="l">
                <a:spcBef>
                  <a:spcPts val="200"/>
                </a:spcBef>
                <a:spcAft>
                  <a:spcPts val="0"/>
                </a:spcAft>
                <a:buNone/>
              </a:pPr>
              <a:r>
                <a:rPr b="1" lang="en-US" sz="925">
                  <a:solidFill>
                    <a:srgbClr val="F43F5E"/>
                  </a:solidFill>
                  <a:latin typeface="JetBrains Mono"/>
                  <a:ea typeface="JetBrains Mono"/>
                  <a:cs typeface="JetBrains Mono"/>
                  <a:sym typeface="JetBrains Mono"/>
                </a:rPr>
                <a:t>throw new</a:t>
              </a:r>
              <a:r>
                <a:rPr b="0" lang="en-US" sz="925">
                  <a:solidFill>
                    <a:srgbClr val="64748B"/>
                  </a:solidFill>
                  <a:latin typeface="JetBrains Mono"/>
                  <a:ea typeface="JetBrains Mono"/>
                  <a:cs typeface="JetBrains Mono"/>
                  <a:sym typeface="JetBrains Mono"/>
                </a:rPr>
                <a:t> </a:t>
              </a:r>
              <a:r>
                <a:rPr b="0" lang="en-US" sz="925">
                  <a:solidFill>
                    <a:srgbClr val="E2E8F0"/>
                  </a:solidFill>
                  <a:latin typeface="JetBrains Mono"/>
                  <a:ea typeface="JetBrains Mono"/>
                  <a:cs typeface="JetBrains Mono"/>
                  <a:sym typeface="JetBrains Mono"/>
                </a:rPr>
                <a:t>InsufficientFundsException(</a:t>
              </a:r>
              <a:endParaRPr b="0" sz="925">
                <a:solidFill>
                  <a:srgbClr val="64748B"/>
                </a:solidFill>
                <a:latin typeface="JetBrains Mono"/>
                <a:ea typeface="JetBrains Mono"/>
                <a:cs typeface="JetBrains Mono"/>
                <a:sym typeface="JetBrains Mono"/>
              </a:endParaRPr>
            </a:p>
            <a:p>
              <a:pPr indent="0" lvl="0" marL="711200" marR="0" rtl="0" algn="l">
                <a:spcBef>
                  <a:spcPts val="200"/>
                </a:spcBef>
                <a:spcAft>
                  <a:spcPts val="0"/>
                </a:spcAft>
                <a:buNone/>
              </a:pPr>
              <a:r>
                <a:rPr b="0" lang="en-US" sz="925">
                  <a:solidFill>
                    <a:srgbClr val="A7F3D0"/>
                  </a:solidFill>
                  <a:latin typeface="JetBrains Mono"/>
                  <a:ea typeface="JetBrains Mono"/>
                  <a:cs typeface="JetBrains Mono"/>
                  <a:sym typeface="JetBrains Mono"/>
                </a:rPr>
                <a:t>"Balance too low"</a:t>
              </a:r>
              <a:r>
                <a:rPr b="0" lang="en-US" sz="925">
                  <a:solidFill>
                    <a:srgbClr val="E2E8F0"/>
                  </a:solidFill>
                  <a:latin typeface="JetBrains Mono"/>
                  <a:ea typeface="JetBrains Mono"/>
                  <a:cs typeface="JetBrains Mono"/>
                  <a:sym typeface="JetBrains Mono"/>
                </a:rPr>
                <a:t>);</a:t>
              </a:r>
              <a:endParaRPr b="0" sz="925">
                <a:solidFill>
                  <a:srgbClr val="64748B"/>
                </a:solidFill>
                <a:latin typeface="JetBrains Mono"/>
                <a:ea typeface="JetBrains Mono"/>
                <a:cs typeface="JetBrains Mono"/>
                <a:sym typeface="JetBrains Mono"/>
              </a:endParaRPr>
            </a:p>
            <a:p>
              <a:pPr indent="0" lvl="0" marL="355600" marR="0" rtl="0" algn="l">
                <a:spcBef>
                  <a:spcPts val="300"/>
                </a:spcBef>
                <a:spcAft>
                  <a:spcPts val="0"/>
                </a:spcAft>
                <a:buNone/>
              </a:pPr>
              <a:r>
                <a:rPr b="0" lang="en-US" sz="925">
                  <a:solidFill>
                    <a:srgbClr val="E2E8F0"/>
                  </a:solidFill>
                  <a:latin typeface="JetBrains Mono"/>
                  <a:ea typeface="JetBrains Mono"/>
                  <a:cs typeface="JetBrains Mono"/>
                  <a:sym typeface="JetBrains Mono"/>
                </a:rPr>
                <a:t>}</a:t>
              </a:r>
              <a:endParaRPr b="0" sz="925">
                <a:solidFill>
                  <a:srgbClr val="64748B"/>
                </a:solidFill>
                <a:latin typeface="JetBrains Mono"/>
                <a:ea typeface="JetBrains Mono"/>
                <a:cs typeface="JetBrains Mono"/>
                <a:sym typeface="JetBrains Mono"/>
              </a:endParaRPr>
            </a:p>
            <a:p>
              <a:pPr indent="0" lvl="0" marL="355600" marR="0" rtl="0" algn="l">
                <a:spcBef>
                  <a:spcPts val="300"/>
                </a:spcBef>
                <a:spcAft>
                  <a:spcPts val="0"/>
                </a:spcAft>
                <a:buNone/>
              </a:pPr>
              <a:r>
                <a:rPr b="1" lang="en-US" sz="925">
                  <a:solidFill>
                    <a:srgbClr val="F43F5E"/>
                  </a:solidFill>
                  <a:latin typeface="JetBrains Mono"/>
                  <a:ea typeface="JetBrains Mono"/>
                  <a:cs typeface="JetBrains Mono"/>
                  <a:sym typeface="JetBrains Mono"/>
                </a:rPr>
                <a:t>this</a:t>
              </a:r>
              <a:r>
                <a:rPr b="0" lang="en-US" sz="925">
                  <a:solidFill>
                    <a:srgbClr val="E2E8F0"/>
                  </a:solidFill>
                  <a:latin typeface="JetBrains Mono"/>
                  <a:ea typeface="JetBrains Mono"/>
                  <a:cs typeface="JetBrains Mono"/>
                  <a:sym typeface="JetBrains Mono"/>
                </a:rPr>
                <a:t>.balance = </a:t>
              </a:r>
              <a:r>
                <a:rPr b="1" lang="en-US" sz="925">
                  <a:solidFill>
                    <a:srgbClr val="F43F5E"/>
                  </a:solidFill>
                  <a:latin typeface="JetBrains Mono"/>
                  <a:ea typeface="JetBrains Mono"/>
                  <a:cs typeface="JetBrains Mono"/>
                  <a:sym typeface="JetBrains Mono"/>
                </a:rPr>
                <a:t>this</a:t>
              </a:r>
              <a:r>
                <a:rPr b="0" lang="en-US" sz="925">
                  <a:solidFill>
                    <a:srgbClr val="E2E8F0"/>
                  </a:solidFill>
                  <a:latin typeface="JetBrains Mono"/>
                  <a:ea typeface="JetBrains Mono"/>
                  <a:cs typeface="JetBrains Mono"/>
                  <a:sym typeface="JetBrains Mono"/>
                </a:rPr>
                <a:t>.balance.subtract(amount);</a:t>
              </a:r>
              <a:endParaRPr b="0" sz="925">
                <a:solidFill>
                  <a:srgbClr val="64748B"/>
                </a:solidFill>
                <a:latin typeface="JetBrains Mono"/>
                <a:ea typeface="JetBrains Mono"/>
                <a:cs typeface="JetBrains Mono"/>
                <a:sym typeface="JetBrains Mono"/>
              </a:endParaRPr>
            </a:p>
            <a:p>
              <a:pPr indent="0" lvl="0" marL="177800" marR="0" rtl="0" algn="l">
                <a:spcBef>
                  <a:spcPts val="300"/>
                </a:spcBef>
                <a:spcAft>
                  <a:spcPts val="0"/>
                </a:spcAft>
                <a:buNone/>
              </a:pPr>
              <a:r>
                <a:rPr b="0" lang="en-US" sz="925">
                  <a:solidFill>
                    <a:srgbClr val="E2E8F0"/>
                  </a:solidFill>
                  <a:latin typeface="JetBrains Mono"/>
                  <a:ea typeface="JetBrains Mono"/>
                  <a:cs typeface="JetBrains Mono"/>
                  <a:sym typeface="JetBrains Mono"/>
                </a:rPr>
                <a:t>}</a:t>
              </a:r>
              <a:endParaRPr b="0" sz="925">
                <a:solidFill>
                  <a:srgbClr val="64748B"/>
                </a:solidFill>
                <a:latin typeface="JetBrains Mono"/>
                <a:ea typeface="JetBrains Mono"/>
                <a:cs typeface="JetBrains Mono"/>
                <a:sym typeface="JetBrains Mono"/>
              </a:endParaRPr>
            </a:p>
            <a:p>
              <a:pPr indent="0" lvl="0" marL="0" rtl="0" algn="l">
                <a:spcBef>
                  <a:spcPts val="300"/>
                </a:spcBef>
                <a:spcAft>
                  <a:spcPts val="0"/>
                </a:spcAft>
                <a:buNone/>
              </a:pPr>
              <a:r>
                <a:rPr b="0" lang="en-US" sz="925">
                  <a:solidFill>
                    <a:srgbClr val="E2E8F0"/>
                  </a:solidFill>
                  <a:latin typeface="JetBrains Mono"/>
                  <a:ea typeface="JetBrains Mono"/>
                  <a:cs typeface="JetBrains Mono"/>
                  <a:sym typeface="JetBrains Mono"/>
                </a:rPr>
                <a:t>}</a:t>
              </a:r>
              <a:endParaRPr b="0" sz="925">
                <a:solidFill>
                  <a:srgbClr val="64748B"/>
                </a:solidFill>
                <a:latin typeface="JetBrains Mono"/>
                <a:ea typeface="JetBrains Mono"/>
                <a:cs typeface="JetBrains Mono"/>
                <a:sym typeface="JetBrains Mono"/>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92" name="Shape 292"/>
        <p:cNvGrpSpPr/>
        <p:nvPr/>
      </p:nvGrpSpPr>
      <p:grpSpPr>
        <a:xfrm>
          <a:off x="0" y="0"/>
          <a:ext cx="0" cy="0"/>
          <a:chOff x="0" y="0"/>
          <a:chExt cx="0" cy="0"/>
        </a:xfrm>
      </p:grpSpPr>
      <p:grpSp>
        <p:nvGrpSpPr>
          <p:cNvPr id="293" name="Google Shape;293;p21"/>
          <p:cNvGrpSpPr/>
          <p:nvPr/>
        </p:nvGrpSpPr>
        <p:grpSpPr>
          <a:xfrm>
            <a:off x="685800" y="342900"/>
            <a:ext cx="10820400" cy="590550"/>
            <a:chOff x="0" y="0"/>
            <a:chExt cx="10820400" cy="590550"/>
          </a:xfrm>
        </p:grpSpPr>
        <p:sp>
          <p:nvSpPr>
            <p:cNvPr id="294" name="Google Shape;294;p21"/>
            <p:cNvSpPr txBox="1"/>
            <p:nvPr/>
          </p:nvSpPr>
          <p:spPr>
            <a:xfrm>
              <a:off x="0" y="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950">
                  <a:solidFill>
                    <a:srgbClr val="0284C7"/>
                  </a:solidFill>
                  <a:latin typeface="Plus Jakarta Sans"/>
                  <a:ea typeface="Plus Jakarta Sans"/>
                  <a:cs typeface="Plus Jakarta Sans"/>
                  <a:sym typeface="Plus Jakarta Sans"/>
                </a:rPr>
                <a:t>PILLAR 02</a:t>
              </a:r>
              <a:endParaRPr b="1" sz="950">
                <a:solidFill>
                  <a:srgbClr val="0284C7"/>
                </a:solidFill>
                <a:latin typeface="Plus Jakarta Sans"/>
                <a:ea typeface="Plus Jakarta Sans"/>
                <a:cs typeface="Plus Jakarta Sans"/>
                <a:sym typeface="Plus Jakarta Sans"/>
              </a:endParaRPr>
            </a:p>
          </p:txBody>
        </p:sp>
        <p:sp>
          <p:nvSpPr>
            <p:cNvPr id="295" name="Google Shape;295;p21"/>
            <p:cNvSpPr txBox="1"/>
            <p:nvPr/>
          </p:nvSpPr>
          <p:spPr>
            <a:xfrm>
              <a:off x="0" y="209550"/>
              <a:ext cx="57150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2400">
                  <a:solidFill>
                    <a:srgbClr val="0F172A"/>
                  </a:solidFill>
                  <a:latin typeface="Plus Jakarta Sans ExtraBold"/>
                  <a:ea typeface="Plus Jakarta Sans ExtraBold"/>
                  <a:cs typeface="Plus Jakarta Sans ExtraBold"/>
                  <a:sym typeface="Plus Jakarta Sans ExtraBold"/>
                </a:rPr>
                <a:t>Inheritance: Types &amp; Mechanics</a:t>
              </a:r>
              <a:endParaRPr b="0" sz="2400">
                <a:solidFill>
                  <a:srgbClr val="0F172A"/>
                </a:solidFill>
                <a:latin typeface="Plus Jakarta Sans ExtraBold"/>
                <a:ea typeface="Plus Jakarta Sans ExtraBold"/>
                <a:cs typeface="Plus Jakarta Sans ExtraBold"/>
                <a:sym typeface="Plus Jakarta Sans ExtraBold"/>
              </a:endParaRPr>
            </a:p>
          </p:txBody>
        </p:sp>
        <p:sp>
          <p:nvSpPr>
            <p:cNvPr id="296" name="Google Shape;296;p21"/>
            <p:cNvSpPr/>
            <p:nvPr/>
          </p:nvSpPr>
          <p:spPr>
            <a:xfrm>
              <a:off x="9334500" y="57150"/>
              <a:ext cx="1485900" cy="304800"/>
            </a:xfrm>
            <a:prstGeom prst="roundRect">
              <a:avLst>
                <a:gd fmla="val 50000" name="adj"/>
              </a:avLst>
            </a:prstGeom>
            <a:solidFill>
              <a:srgbClr val="FEF3C7"/>
            </a:solidFill>
            <a:ln cap="flat" cmpd="sng" w="9525">
              <a:solidFill>
                <a:srgbClr val="FDE68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7" name="Google Shape;297;p21"/>
            <p:cNvSpPr txBox="1"/>
            <p:nvPr/>
          </p:nvSpPr>
          <p:spPr>
            <a:xfrm>
              <a:off x="9334500" y="57150"/>
              <a:ext cx="1485900" cy="304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950">
                  <a:solidFill>
                    <a:srgbClr val="B45309"/>
                  </a:solidFill>
                  <a:latin typeface="Plus Jakarta Sans"/>
                  <a:ea typeface="Plus Jakarta Sans"/>
                  <a:cs typeface="Plus Jakarta Sans"/>
                  <a:sym typeface="Plus Jakarta Sans"/>
                </a:rPr>
                <a:t>Subtyping &amp; Reuse</a:t>
              </a:r>
              <a:endParaRPr b="1" sz="950">
                <a:solidFill>
                  <a:srgbClr val="B45309"/>
                </a:solidFill>
                <a:latin typeface="Plus Jakarta Sans"/>
                <a:ea typeface="Plus Jakarta Sans"/>
                <a:cs typeface="Plus Jakarta Sans"/>
                <a:sym typeface="Plus Jakarta Sans"/>
              </a:endParaRPr>
            </a:p>
          </p:txBody>
        </p:sp>
      </p:grpSp>
      <p:grpSp>
        <p:nvGrpSpPr>
          <p:cNvPr id="298" name="Google Shape;298;p21"/>
          <p:cNvGrpSpPr/>
          <p:nvPr/>
        </p:nvGrpSpPr>
        <p:grpSpPr>
          <a:xfrm>
            <a:off x="685800" y="1047750"/>
            <a:ext cx="10820400" cy="819300"/>
            <a:chOff x="0" y="0"/>
            <a:chExt cx="10820400" cy="819300"/>
          </a:xfrm>
        </p:grpSpPr>
        <p:sp>
          <p:nvSpPr>
            <p:cNvPr id="299" name="Google Shape;299;p21"/>
            <p:cNvSpPr/>
            <p:nvPr/>
          </p:nvSpPr>
          <p:spPr>
            <a:xfrm>
              <a:off x="0" y="0"/>
              <a:ext cx="10820400" cy="819300"/>
            </a:xfrm>
            <a:prstGeom prst="roundRect">
              <a:avLst>
                <a:gd fmla="val 9302"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0" name="Google Shape;300;p21"/>
            <p:cNvSpPr/>
            <p:nvPr/>
          </p:nvSpPr>
          <p:spPr>
            <a:xfrm>
              <a:off x="0" y="0"/>
              <a:ext cx="47700" cy="819300"/>
            </a:xfrm>
            <a:prstGeom prst="roundRect">
              <a:avLst>
                <a:gd fmla="val 40000" name="adj"/>
              </a:avLst>
            </a:prstGeom>
            <a:solidFill>
              <a:srgbClr val="0284C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1" name="Google Shape;301;p21"/>
            <p:cNvSpPr txBox="1"/>
            <p:nvPr/>
          </p:nvSpPr>
          <p:spPr>
            <a:xfrm>
              <a:off x="209550" y="95250"/>
              <a:ext cx="10382400" cy="628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850">
                  <a:solidFill>
                    <a:srgbClr val="0284C7"/>
                  </a:solidFill>
                  <a:latin typeface="Plus Jakarta Sans"/>
                  <a:ea typeface="Plus Jakarta Sans"/>
                  <a:cs typeface="Plus Jakarta Sans"/>
                  <a:sym typeface="Plus Jakarta Sans"/>
                </a:rPr>
                <a:t>SIMPLE DEFINITION</a:t>
              </a:r>
              <a:endParaRPr b="1" sz="850">
                <a:solidFill>
                  <a:srgbClr val="0284C7"/>
                </a:solidFill>
                <a:latin typeface="Plus Jakarta Sans"/>
                <a:ea typeface="Plus Jakarta Sans"/>
                <a:cs typeface="Plus Jakarta Sans"/>
                <a:sym typeface="Plus Jakarta Sans"/>
              </a:endParaRPr>
            </a:p>
            <a:p>
              <a:pPr indent="0" lvl="0" marL="0" rtl="0" algn="l">
                <a:spcBef>
                  <a:spcPts val="400"/>
                </a:spcBef>
                <a:spcAft>
                  <a:spcPts val="0"/>
                </a:spcAft>
                <a:buNone/>
              </a:pPr>
              <a:r>
                <a:rPr b="0" lang="en-US" sz="1100">
                  <a:solidFill>
                    <a:srgbClr val="1E293B"/>
                  </a:solidFill>
                  <a:latin typeface="Plus Jakarta Sans SemiBold"/>
                  <a:ea typeface="Plus Jakarta Sans SemiBold"/>
                  <a:cs typeface="Plus Jakarta Sans SemiBold"/>
                  <a:sym typeface="Plus Jakarta Sans SemiBold"/>
                </a:rPr>
                <a:t>Inheritance allows a new child class to automatically reuse the fields and methods of an existing parent class, saving you from writing duplicate code.</a:t>
              </a:r>
              <a:endParaRPr b="0" sz="1100">
                <a:solidFill>
                  <a:srgbClr val="1E293B"/>
                </a:solidFill>
                <a:latin typeface="Plus Jakarta Sans SemiBold"/>
                <a:ea typeface="Plus Jakarta Sans SemiBold"/>
                <a:cs typeface="Plus Jakarta Sans SemiBold"/>
                <a:sym typeface="Plus Jakarta Sans SemiBold"/>
              </a:endParaRPr>
            </a:p>
          </p:txBody>
        </p:sp>
      </p:grpSp>
      <p:grpSp>
        <p:nvGrpSpPr>
          <p:cNvPr id="302" name="Google Shape;302;p21"/>
          <p:cNvGrpSpPr/>
          <p:nvPr/>
        </p:nvGrpSpPr>
        <p:grpSpPr>
          <a:xfrm>
            <a:off x="685800" y="2038350"/>
            <a:ext cx="4953000" cy="4438650"/>
            <a:chOff x="0" y="0"/>
            <a:chExt cx="4953000" cy="4438650"/>
          </a:xfrm>
        </p:grpSpPr>
        <p:sp>
          <p:nvSpPr>
            <p:cNvPr id="303" name="Google Shape;303;p21"/>
            <p:cNvSpPr/>
            <p:nvPr/>
          </p:nvSpPr>
          <p:spPr>
            <a:xfrm>
              <a:off x="0" y="0"/>
              <a:ext cx="4953000" cy="2457600"/>
            </a:xfrm>
            <a:prstGeom prst="roundRect">
              <a:avLst>
                <a:gd fmla="val 4651"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4" name="Google Shape;304;p21"/>
            <p:cNvSpPr txBox="1"/>
            <p:nvPr/>
          </p:nvSpPr>
          <p:spPr>
            <a:xfrm>
              <a:off x="190500" y="152400"/>
              <a:ext cx="4572000" cy="2152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850">
                  <a:solidFill>
                    <a:srgbClr val="0284C7"/>
                  </a:solidFill>
                  <a:latin typeface="Plus Jakarta Sans"/>
                  <a:ea typeface="Plus Jakarta Sans"/>
                  <a:cs typeface="Plus Jakarta Sans"/>
                  <a:sym typeface="Plus Jakarta Sans"/>
                </a:rPr>
                <a:t>ALL 4 INHERITANCE FLAVORS</a:t>
              </a:r>
              <a:endParaRPr b="1" sz="850">
                <a:solidFill>
                  <a:srgbClr val="0284C7"/>
                </a:solidFill>
                <a:latin typeface="Plus Jakarta Sans"/>
                <a:ea typeface="Plus Jakarta Sans"/>
                <a:cs typeface="Plus Jakarta Sans"/>
                <a:sym typeface="Plus Jakarta Sans"/>
              </a:endParaRPr>
            </a:p>
            <a:p>
              <a:pPr indent="-288925" lvl="0" marL="457200" rtl="0" algn="l">
                <a:spcBef>
                  <a:spcPts val="1000"/>
                </a:spcBef>
                <a:spcAft>
                  <a:spcPts val="0"/>
                </a:spcAft>
                <a:buClr>
                  <a:srgbClr val="334155"/>
                </a:buClr>
                <a:buSzPts val="950"/>
                <a:buFont typeface="Plus Jakarta Sans"/>
                <a:buChar char="●"/>
              </a:pPr>
              <a:r>
                <a:rPr b="1" lang="en-US" sz="950">
                  <a:solidFill>
                    <a:srgbClr val="0F172A"/>
                  </a:solidFill>
                  <a:latin typeface="Plus Jakarta Sans"/>
                  <a:ea typeface="Plus Jakarta Sans"/>
                  <a:cs typeface="Plus Jakarta Sans"/>
                  <a:sym typeface="Plus Jakarta Sans"/>
                </a:rPr>
                <a:t>Single:</a:t>
              </a:r>
              <a:r>
                <a:rPr lang="en-US" sz="950">
                  <a:solidFill>
                    <a:srgbClr val="334155"/>
                  </a:solidFill>
                  <a:latin typeface="Plus Jakarta Sans"/>
                  <a:ea typeface="Plus Jakarta Sans"/>
                  <a:cs typeface="Plus Jakarta Sans"/>
                  <a:sym typeface="Plus Jakarta Sans"/>
                </a:rPr>
                <a:t> Class B extends Class A </a:t>
              </a:r>
              <a:r>
                <a:rPr lang="en-US" sz="950">
                  <a:solidFill>
                    <a:srgbClr val="64748B"/>
                  </a:solidFill>
                  <a:latin typeface="Plus Jakarta Sans"/>
                  <a:ea typeface="Plus Jakarta Sans"/>
                  <a:cs typeface="Plus Jakarta Sans"/>
                  <a:sym typeface="Plus Jakarta Sans"/>
                </a:rPr>
                <a:t>(e.g., SavingsAccount extends Account)</a:t>
              </a:r>
              <a:endParaRPr sz="950">
                <a:solidFill>
                  <a:srgbClr val="334155"/>
                </a:solidFill>
                <a:latin typeface="Plus Jakarta Sans"/>
                <a:ea typeface="Plus Jakarta Sans"/>
                <a:cs typeface="Plus Jakarta Sans"/>
                <a:sym typeface="Plus Jakarta Sans"/>
              </a:endParaRPr>
            </a:p>
            <a:p>
              <a:pPr indent="-288925" lvl="0" marL="457200" rtl="0" algn="l">
                <a:spcBef>
                  <a:spcPts val="800"/>
                </a:spcBef>
                <a:spcAft>
                  <a:spcPts val="0"/>
                </a:spcAft>
                <a:buClr>
                  <a:srgbClr val="334155"/>
                </a:buClr>
                <a:buSzPts val="950"/>
                <a:buFont typeface="Plus Jakarta Sans"/>
                <a:buChar char="●"/>
              </a:pPr>
              <a:r>
                <a:rPr b="1" lang="en-US" sz="950">
                  <a:solidFill>
                    <a:srgbClr val="0F172A"/>
                  </a:solidFill>
                  <a:latin typeface="Plus Jakarta Sans"/>
                  <a:ea typeface="Plus Jakarta Sans"/>
                  <a:cs typeface="Plus Jakarta Sans"/>
                  <a:sym typeface="Plus Jakarta Sans"/>
                </a:rPr>
                <a:t>Multilevel:</a:t>
              </a:r>
              <a:r>
                <a:rPr lang="en-US" sz="950">
                  <a:solidFill>
                    <a:srgbClr val="334155"/>
                  </a:solidFill>
                  <a:latin typeface="Plus Jakarta Sans"/>
                  <a:ea typeface="Plus Jakarta Sans"/>
                  <a:cs typeface="Plus Jakarta Sans"/>
                  <a:sym typeface="Plus Jakarta Sans"/>
                </a:rPr>
                <a:t> C extends B, B extends A </a:t>
              </a:r>
              <a:r>
                <a:rPr lang="en-US" sz="950">
                  <a:solidFill>
                    <a:srgbClr val="64748B"/>
                  </a:solidFill>
                  <a:latin typeface="Plus Jakarta Sans"/>
                  <a:ea typeface="Plus Jakarta Sans"/>
                  <a:cs typeface="Plus Jakarta Sans"/>
                  <a:sym typeface="Plus Jakarta Sans"/>
                </a:rPr>
                <a:t>(e.g., FixedDeposit → Savings → Account)</a:t>
              </a:r>
              <a:endParaRPr sz="950">
                <a:solidFill>
                  <a:srgbClr val="334155"/>
                </a:solidFill>
                <a:latin typeface="Plus Jakarta Sans"/>
                <a:ea typeface="Plus Jakarta Sans"/>
                <a:cs typeface="Plus Jakarta Sans"/>
                <a:sym typeface="Plus Jakarta Sans"/>
              </a:endParaRPr>
            </a:p>
            <a:p>
              <a:pPr indent="-288925" lvl="0" marL="457200" rtl="0" algn="l">
                <a:spcBef>
                  <a:spcPts val="800"/>
                </a:spcBef>
                <a:spcAft>
                  <a:spcPts val="0"/>
                </a:spcAft>
                <a:buClr>
                  <a:srgbClr val="334155"/>
                </a:buClr>
                <a:buSzPts val="950"/>
                <a:buFont typeface="Plus Jakarta Sans"/>
                <a:buChar char="●"/>
              </a:pPr>
              <a:r>
                <a:rPr b="1" lang="en-US" sz="950">
                  <a:solidFill>
                    <a:srgbClr val="0F172A"/>
                  </a:solidFill>
                  <a:latin typeface="Plus Jakarta Sans"/>
                  <a:ea typeface="Plus Jakarta Sans"/>
                  <a:cs typeface="Plus Jakarta Sans"/>
                  <a:sym typeface="Plus Jakarta Sans"/>
                </a:rPr>
                <a:t>Hierarchical:</a:t>
              </a:r>
              <a:r>
                <a:rPr lang="en-US" sz="950">
                  <a:solidFill>
                    <a:srgbClr val="334155"/>
                  </a:solidFill>
                  <a:latin typeface="Plus Jakarta Sans"/>
                  <a:ea typeface="Plus Jakarta Sans"/>
                  <a:cs typeface="Plus Jakarta Sans"/>
                  <a:sym typeface="Plus Jakarta Sans"/>
                </a:rPr>
                <a:t> B and C both extend A </a:t>
              </a:r>
              <a:r>
                <a:rPr lang="en-US" sz="950">
                  <a:solidFill>
                    <a:srgbClr val="64748B"/>
                  </a:solidFill>
                  <a:latin typeface="Plus Jakarta Sans"/>
                  <a:ea typeface="Plus Jakarta Sans"/>
                  <a:cs typeface="Plus Jakarta Sans"/>
                  <a:sym typeface="Plus Jakarta Sans"/>
                </a:rPr>
                <a:t>(e.g., Checking and Savings extend Account)</a:t>
              </a:r>
              <a:endParaRPr sz="950">
                <a:solidFill>
                  <a:srgbClr val="334155"/>
                </a:solidFill>
                <a:latin typeface="Plus Jakarta Sans"/>
                <a:ea typeface="Plus Jakarta Sans"/>
                <a:cs typeface="Plus Jakarta Sans"/>
                <a:sym typeface="Plus Jakarta Sans"/>
              </a:endParaRPr>
            </a:p>
            <a:p>
              <a:pPr indent="-288925" lvl="0" marL="457200" rtl="0" algn="l">
                <a:spcBef>
                  <a:spcPts val="800"/>
                </a:spcBef>
                <a:spcAft>
                  <a:spcPts val="0"/>
                </a:spcAft>
                <a:buClr>
                  <a:srgbClr val="334155"/>
                </a:buClr>
                <a:buSzPts val="950"/>
                <a:buFont typeface="Plus Jakarta Sans"/>
                <a:buChar char="●"/>
              </a:pPr>
              <a:r>
                <a:rPr b="1" lang="en-US" sz="950">
                  <a:solidFill>
                    <a:srgbClr val="0F172A"/>
                  </a:solidFill>
                  <a:latin typeface="Plus Jakarta Sans"/>
                  <a:ea typeface="Plus Jakarta Sans"/>
                  <a:cs typeface="Plus Jakarta Sans"/>
                  <a:sym typeface="Plus Jakarta Sans"/>
                </a:rPr>
                <a:t>Multiple (via Interfaces):</a:t>
              </a:r>
              <a:r>
                <a:rPr lang="en-US" sz="950">
                  <a:solidFill>
                    <a:srgbClr val="334155"/>
                  </a:solidFill>
                  <a:latin typeface="Plus Jakarta Sans"/>
                  <a:ea typeface="Plus Jakarta Sans"/>
                  <a:cs typeface="Plus Jakarta Sans"/>
                  <a:sym typeface="Plus Jakarta Sans"/>
                </a:rPr>
                <a:t> Class A implements Auditable, Taxable </a:t>
              </a:r>
              <a:r>
                <a:rPr lang="en-US" sz="950">
                  <a:solidFill>
                    <a:srgbClr val="64748B"/>
                  </a:solidFill>
                  <a:latin typeface="Plus Jakarta Sans"/>
                  <a:ea typeface="Plus Jakarta Sans"/>
                  <a:cs typeface="Plus Jakarta Sans"/>
                  <a:sym typeface="Plus Jakarta Sans"/>
                </a:rPr>
                <a:t>(solves the Deadly Diamond Problem)</a:t>
              </a:r>
              <a:endParaRPr sz="950">
                <a:solidFill>
                  <a:srgbClr val="334155"/>
                </a:solidFill>
                <a:latin typeface="Plus Jakarta Sans"/>
                <a:ea typeface="Plus Jakarta Sans"/>
                <a:cs typeface="Plus Jakarta Sans"/>
                <a:sym typeface="Plus Jakarta Sans"/>
              </a:endParaRPr>
            </a:p>
          </p:txBody>
        </p:sp>
        <p:sp>
          <p:nvSpPr>
            <p:cNvPr id="305" name="Google Shape;305;p21"/>
            <p:cNvSpPr/>
            <p:nvPr/>
          </p:nvSpPr>
          <p:spPr>
            <a:xfrm>
              <a:off x="0" y="2571750"/>
              <a:ext cx="4953000" cy="838200"/>
            </a:xfrm>
            <a:prstGeom prst="roundRect">
              <a:avLst>
                <a:gd fmla="val 9090" name="adj"/>
              </a:avLst>
            </a:prstGeom>
            <a:solidFill>
              <a:srgbClr val="E0F2FE"/>
            </a:solidFill>
            <a:ln cap="flat" cmpd="sng" w="9525">
              <a:solidFill>
                <a:srgbClr val="BAE6F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6" name="Google Shape;306;p21"/>
            <p:cNvSpPr txBox="1"/>
            <p:nvPr/>
          </p:nvSpPr>
          <p:spPr>
            <a:xfrm>
              <a:off x="152400" y="2647950"/>
              <a:ext cx="4648200" cy="685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850">
                  <a:solidFill>
                    <a:srgbClr val="0284C7"/>
                  </a:solidFill>
                  <a:latin typeface="Plus Jakarta Sans"/>
                  <a:ea typeface="Plus Jakarta Sans"/>
                  <a:cs typeface="Plus Jakarta Sans"/>
                  <a:sym typeface="Plus Jakarta Sans"/>
                </a:rPr>
                <a:t>REAL-WORLD ANALOGY</a:t>
              </a:r>
              <a:endParaRPr b="1" sz="850">
                <a:solidFill>
                  <a:srgbClr val="0284C7"/>
                </a:solidFill>
                <a:latin typeface="Plus Jakarta Sans"/>
                <a:ea typeface="Plus Jakarta Sans"/>
                <a:cs typeface="Plus Jakarta Sans"/>
                <a:sym typeface="Plus Jakarta Sans"/>
              </a:endParaRPr>
            </a:p>
            <a:p>
              <a:pPr indent="0" lvl="0" marL="0" rtl="0" algn="l">
                <a:spcBef>
                  <a:spcPts val="300"/>
                </a:spcBef>
                <a:spcAft>
                  <a:spcPts val="0"/>
                </a:spcAft>
                <a:buNone/>
              </a:pPr>
              <a:r>
                <a:rPr b="0" lang="en-US" sz="950">
                  <a:solidFill>
                    <a:srgbClr val="0369A1"/>
                  </a:solidFill>
                  <a:latin typeface="Plus Jakarta Sans Medium"/>
                  <a:ea typeface="Plus Jakarta Sans Medium"/>
                  <a:cs typeface="Plus Jakarta Sans Medium"/>
                  <a:sym typeface="Plus Jakarta Sans Medium"/>
                </a:rPr>
                <a:t>A smartphone is a telephone; it adds touchscreens and cameras while inheriting cellular calls.</a:t>
              </a:r>
              <a:endParaRPr b="0" sz="950">
                <a:solidFill>
                  <a:srgbClr val="0369A1"/>
                </a:solidFill>
                <a:latin typeface="Plus Jakarta Sans Medium"/>
                <a:ea typeface="Plus Jakarta Sans Medium"/>
                <a:cs typeface="Plus Jakarta Sans Medium"/>
                <a:sym typeface="Plus Jakarta Sans Medium"/>
              </a:endParaRPr>
            </a:p>
          </p:txBody>
        </p:sp>
        <p:sp>
          <p:nvSpPr>
            <p:cNvPr id="307" name="Google Shape;307;p21"/>
            <p:cNvSpPr/>
            <p:nvPr/>
          </p:nvSpPr>
          <p:spPr>
            <a:xfrm>
              <a:off x="0" y="3524250"/>
              <a:ext cx="4953000" cy="914400"/>
            </a:xfrm>
            <a:prstGeom prst="roundRect">
              <a:avLst>
                <a:gd fmla="val 8333" name="adj"/>
              </a:avLst>
            </a:prstGeom>
            <a:solidFill>
              <a:srgbClr val="ECFDF5"/>
            </a:solidFill>
            <a:ln cap="flat" cmpd="sng" w="9525">
              <a:solidFill>
                <a:srgbClr val="A7F3D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8" name="Google Shape;308;p21"/>
            <p:cNvSpPr txBox="1"/>
            <p:nvPr/>
          </p:nvSpPr>
          <p:spPr>
            <a:xfrm>
              <a:off x="152400" y="3600450"/>
              <a:ext cx="46482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850">
                  <a:solidFill>
                    <a:srgbClr val="047857"/>
                  </a:solidFill>
                  <a:latin typeface="Plus Jakarta Sans"/>
                  <a:ea typeface="Plus Jakarta Sans"/>
                  <a:cs typeface="Plus Jakarta Sans"/>
                  <a:sym typeface="Plus Jakarta Sans"/>
                </a:rPr>
                <a:t>QA VIEW &amp; AUDIT REUSE</a:t>
              </a:r>
              <a:endParaRPr b="1" sz="850">
                <a:solidFill>
                  <a:srgbClr val="047857"/>
                </a:solidFill>
                <a:latin typeface="Plus Jakarta Sans"/>
                <a:ea typeface="Plus Jakarta Sans"/>
                <a:cs typeface="Plus Jakarta Sans"/>
                <a:sym typeface="Plus Jakarta Sans"/>
              </a:endParaRPr>
            </a:p>
            <a:p>
              <a:pPr indent="0" lvl="0" marL="0" rtl="0" algn="l">
                <a:spcBef>
                  <a:spcPts val="300"/>
                </a:spcBef>
                <a:spcAft>
                  <a:spcPts val="0"/>
                </a:spcAft>
                <a:buNone/>
              </a:pPr>
              <a:r>
                <a:rPr b="0" lang="en-US" sz="950">
                  <a:solidFill>
                    <a:srgbClr val="065F46"/>
                  </a:solidFill>
                  <a:latin typeface="Plus Jakarta Sans Medium"/>
                  <a:ea typeface="Plus Jakarta Sans Medium"/>
                  <a:cs typeface="Plus Jakarta Sans Medium"/>
                  <a:sym typeface="Plus Jakarta Sans Medium"/>
                </a:rPr>
                <a:t>Audit logging verified once on base superclass; automatically inherited by all account types.</a:t>
              </a:r>
              <a:endParaRPr b="0" sz="950">
                <a:solidFill>
                  <a:srgbClr val="065F46"/>
                </a:solidFill>
                <a:latin typeface="Plus Jakarta Sans Medium"/>
                <a:ea typeface="Plus Jakarta Sans Medium"/>
                <a:cs typeface="Plus Jakarta Sans Medium"/>
                <a:sym typeface="Plus Jakarta Sans Medium"/>
              </a:endParaRPr>
            </a:p>
          </p:txBody>
        </p:sp>
      </p:grpSp>
      <p:grpSp>
        <p:nvGrpSpPr>
          <p:cNvPr id="309" name="Google Shape;309;p21"/>
          <p:cNvGrpSpPr/>
          <p:nvPr/>
        </p:nvGrpSpPr>
        <p:grpSpPr>
          <a:xfrm>
            <a:off x="5829300" y="2038350"/>
            <a:ext cx="5676900" cy="4438800"/>
            <a:chOff x="0" y="0"/>
            <a:chExt cx="5676900" cy="4438800"/>
          </a:xfrm>
        </p:grpSpPr>
        <p:sp>
          <p:nvSpPr>
            <p:cNvPr id="310" name="Google Shape;310;p21"/>
            <p:cNvSpPr/>
            <p:nvPr/>
          </p:nvSpPr>
          <p:spPr>
            <a:xfrm>
              <a:off x="0" y="0"/>
              <a:ext cx="5676900" cy="4438800"/>
            </a:xfrm>
            <a:prstGeom prst="roundRect">
              <a:avLst>
                <a:gd fmla="val 2575" name="adj"/>
              </a:avLst>
            </a:prstGeom>
            <a:solidFill>
              <a:srgbClr val="0F172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1" name="Google Shape;311;p21"/>
            <p:cNvSpPr/>
            <p:nvPr/>
          </p:nvSpPr>
          <p:spPr>
            <a:xfrm>
              <a:off x="95250" y="152400"/>
              <a:ext cx="95400" cy="95400"/>
            </a:xfrm>
            <a:prstGeom prst="ellipse">
              <a:avLst/>
            </a:prstGeom>
            <a:solidFill>
              <a:srgbClr val="EF44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2" name="Google Shape;312;p21"/>
            <p:cNvSpPr/>
            <p:nvPr/>
          </p:nvSpPr>
          <p:spPr>
            <a:xfrm>
              <a:off x="247650" y="152400"/>
              <a:ext cx="95400" cy="95400"/>
            </a:xfrm>
            <a:prstGeom prst="ellipse">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3" name="Google Shape;313;p21"/>
            <p:cNvSpPr/>
            <p:nvPr/>
          </p:nvSpPr>
          <p:spPr>
            <a:xfrm>
              <a:off x="400050" y="152400"/>
              <a:ext cx="95400" cy="95400"/>
            </a:xfrm>
            <a:prstGeom prst="ellipse">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314" name="Google Shape;314;p21"/>
            <p:cNvCxnSpPr/>
            <p:nvPr/>
          </p:nvCxnSpPr>
          <p:spPr>
            <a:xfrm>
              <a:off x="0" y="400050"/>
              <a:ext cx="5676900" cy="0"/>
            </a:xfrm>
            <a:prstGeom prst="straightConnector1">
              <a:avLst/>
            </a:prstGeom>
            <a:solidFill>
              <a:srgbClr val="FFFFFF"/>
            </a:solidFill>
            <a:ln cap="flat" cmpd="sng" w="9525">
              <a:solidFill>
                <a:srgbClr val="1E293B"/>
              </a:solidFill>
              <a:prstDash val="solid"/>
              <a:round/>
              <a:headEnd len="sm" w="sm" type="none"/>
              <a:tailEnd len="sm" w="sm" type="none"/>
            </a:ln>
          </p:spPr>
        </p:cxnSp>
        <p:sp>
          <p:nvSpPr>
            <p:cNvPr id="315" name="Google Shape;315;p21"/>
            <p:cNvSpPr txBox="1"/>
            <p:nvPr/>
          </p:nvSpPr>
          <p:spPr>
            <a:xfrm>
              <a:off x="666750" y="104775"/>
              <a:ext cx="4343400" cy="190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US" sz="950">
                  <a:solidFill>
                    <a:srgbClr val="94A3B8"/>
                  </a:solidFill>
                  <a:latin typeface="JetBrains Mono Medium"/>
                  <a:ea typeface="JetBrains Mono Medium"/>
                  <a:cs typeface="JetBrains Mono Medium"/>
                  <a:sym typeface="JetBrains Mono Medium"/>
                </a:rPr>
                <a:t>FinTech Hierarchy Code (Account.java)</a:t>
              </a:r>
              <a:endParaRPr b="0" sz="950">
                <a:solidFill>
                  <a:srgbClr val="94A3B8"/>
                </a:solidFill>
                <a:latin typeface="JetBrains Mono Medium"/>
                <a:ea typeface="JetBrains Mono Medium"/>
                <a:cs typeface="JetBrains Mono Medium"/>
                <a:sym typeface="JetBrains Mono Medium"/>
              </a:endParaRPr>
            </a:p>
          </p:txBody>
        </p:sp>
        <p:sp>
          <p:nvSpPr>
            <p:cNvPr id="316" name="Google Shape;316;p21"/>
            <p:cNvSpPr txBox="1"/>
            <p:nvPr/>
          </p:nvSpPr>
          <p:spPr>
            <a:xfrm>
              <a:off x="228600" y="552450"/>
              <a:ext cx="5219700" cy="3695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925">
                  <a:solidFill>
                    <a:srgbClr val="64748B"/>
                  </a:solidFill>
                  <a:latin typeface="JetBrains Mono"/>
                  <a:ea typeface="JetBrains Mono"/>
                  <a:cs typeface="JetBrains Mono"/>
                  <a:sym typeface="JetBrains Mono"/>
                </a:rPr>
                <a:t>// Base Superclass</a:t>
              </a:r>
              <a:endParaRPr b="0" sz="925">
                <a:solidFill>
                  <a:srgbClr val="64748B"/>
                </a:solidFill>
                <a:latin typeface="JetBrains Mono"/>
                <a:ea typeface="JetBrains Mono"/>
                <a:cs typeface="JetBrains Mono"/>
                <a:sym typeface="JetBrains Mono"/>
              </a:endParaRPr>
            </a:p>
            <a:p>
              <a:pPr indent="0" lvl="0" marL="0" rtl="0" algn="l">
                <a:spcBef>
                  <a:spcPts val="200"/>
                </a:spcBef>
                <a:spcAft>
                  <a:spcPts val="0"/>
                </a:spcAft>
                <a:buNone/>
              </a:pPr>
              <a:r>
                <a:rPr b="1" lang="en-US" sz="925">
                  <a:solidFill>
                    <a:srgbClr val="F43F5E"/>
                  </a:solidFill>
                  <a:latin typeface="JetBrains Mono"/>
                  <a:ea typeface="JetBrains Mono"/>
                  <a:cs typeface="JetBrains Mono"/>
                  <a:sym typeface="JetBrains Mono"/>
                </a:rPr>
                <a:t>public class</a:t>
              </a:r>
              <a:r>
                <a:rPr b="0" lang="en-US" sz="925">
                  <a:solidFill>
                    <a:srgbClr val="64748B"/>
                  </a:solidFill>
                  <a:latin typeface="JetBrains Mono"/>
                  <a:ea typeface="JetBrains Mono"/>
                  <a:cs typeface="JetBrains Mono"/>
                  <a:sym typeface="JetBrains Mono"/>
                </a:rPr>
                <a:t> </a:t>
              </a:r>
              <a:r>
                <a:rPr b="1" lang="en-US" sz="925">
                  <a:solidFill>
                    <a:srgbClr val="38BDF8"/>
                  </a:solidFill>
                  <a:latin typeface="JetBrains Mono"/>
                  <a:ea typeface="JetBrains Mono"/>
                  <a:cs typeface="JetBrains Mono"/>
                  <a:sym typeface="JetBrains Mono"/>
                </a:rPr>
                <a:t>Account</a:t>
              </a:r>
              <a:r>
                <a:rPr b="0" lang="en-US" sz="925">
                  <a:solidFill>
                    <a:srgbClr val="64748B"/>
                  </a:solidFill>
                  <a:latin typeface="JetBrains Mono"/>
                  <a:ea typeface="JetBrains Mono"/>
                  <a:cs typeface="JetBrains Mono"/>
                  <a:sym typeface="JetBrains Mono"/>
                </a:rPr>
                <a:t> </a:t>
              </a:r>
              <a:r>
                <a:rPr b="0" lang="en-US" sz="925">
                  <a:solidFill>
                    <a:srgbClr val="E2E8F0"/>
                  </a:solidFill>
                  <a:latin typeface="JetBrains Mono"/>
                  <a:ea typeface="JetBrains Mono"/>
                  <a:cs typeface="JetBrains Mono"/>
                  <a:sym typeface="JetBrains Mono"/>
                </a:rPr>
                <a:t>{</a:t>
              </a:r>
              <a:endParaRPr b="0" sz="925">
                <a:solidFill>
                  <a:srgbClr val="64748B"/>
                </a:solidFill>
                <a:latin typeface="JetBrains Mono"/>
                <a:ea typeface="JetBrains Mono"/>
                <a:cs typeface="JetBrains Mono"/>
                <a:sym typeface="JetBrains Mono"/>
              </a:endParaRPr>
            </a:p>
            <a:p>
              <a:pPr indent="0" lvl="0" marL="177800" marR="0" rtl="0" algn="l">
                <a:spcBef>
                  <a:spcPts val="200"/>
                </a:spcBef>
                <a:spcAft>
                  <a:spcPts val="0"/>
                </a:spcAft>
                <a:buNone/>
              </a:pPr>
              <a:r>
                <a:rPr b="1" lang="en-US" sz="925">
                  <a:solidFill>
                    <a:srgbClr val="F43F5E"/>
                  </a:solidFill>
                  <a:latin typeface="JetBrains Mono"/>
                  <a:ea typeface="JetBrains Mono"/>
                  <a:cs typeface="JetBrains Mono"/>
                  <a:sym typeface="JetBrains Mono"/>
                </a:rPr>
                <a:t>protected</a:t>
              </a:r>
              <a:r>
                <a:rPr b="0" lang="en-US" sz="925">
                  <a:solidFill>
                    <a:srgbClr val="64748B"/>
                  </a:solidFill>
                  <a:latin typeface="JetBrains Mono"/>
                  <a:ea typeface="JetBrains Mono"/>
                  <a:cs typeface="JetBrains Mono"/>
                  <a:sym typeface="JetBrains Mono"/>
                </a:rPr>
                <a:t> </a:t>
              </a:r>
              <a:r>
                <a:rPr b="0" lang="en-US" sz="925">
                  <a:solidFill>
                    <a:srgbClr val="E2E8F0"/>
                  </a:solidFill>
                  <a:latin typeface="JetBrains Mono"/>
                  <a:ea typeface="JetBrains Mono"/>
                  <a:cs typeface="JetBrains Mono"/>
                  <a:sym typeface="JetBrains Mono"/>
                </a:rPr>
                <a:t>String accountId;</a:t>
              </a:r>
              <a:endParaRPr b="0" sz="925">
                <a:solidFill>
                  <a:srgbClr val="64748B"/>
                </a:solidFill>
                <a:latin typeface="JetBrains Mono"/>
                <a:ea typeface="JetBrains Mono"/>
                <a:cs typeface="JetBrains Mono"/>
                <a:sym typeface="JetBrains Mono"/>
              </a:endParaRPr>
            </a:p>
            <a:p>
              <a:pPr indent="0" lvl="0" marL="177800" marR="0" rtl="0" algn="l">
                <a:spcBef>
                  <a:spcPts val="400"/>
                </a:spcBef>
                <a:spcAft>
                  <a:spcPts val="0"/>
                </a:spcAft>
                <a:buNone/>
              </a:pPr>
              <a:r>
                <a:rPr b="1" lang="en-US" sz="925">
                  <a:solidFill>
                    <a:srgbClr val="F43F5E"/>
                  </a:solidFill>
                  <a:latin typeface="JetBrains Mono"/>
                  <a:ea typeface="JetBrains Mono"/>
                  <a:cs typeface="JetBrains Mono"/>
                  <a:sym typeface="JetBrains Mono"/>
                </a:rPr>
                <a:t>public void</a:t>
              </a:r>
              <a:r>
                <a:rPr b="0" lang="en-US" sz="925">
                  <a:solidFill>
                    <a:srgbClr val="64748B"/>
                  </a:solidFill>
                  <a:latin typeface="JetBrains Mono"/>
                  <a:ea typeface="JetBrains Mono"/>
                  <a:cs typeface="JetBrains Mono"/>
                  <a:sym typeface="JetBrains Mono"/>
                </a:rPr>
                <a:t> </a:t>
              </a:r>
              <a:r>
                <a:rPr b="0" lang="en-US" sz="925">
                  <a:solidFill>
                    <a:srgbClr val="A7F3D0"/>
                  </a:solidFill>
                  <a:latin typeface="JetBrains Mono"/>
                  <a:ea typeface="JetBrains Mono"/>
                  <a:cs typeface="JetBrains Mono"/>
                  <a:sym typeface="JetBrains Mono"/>
                </a:rPr>
                <a:t>logAudit</a:t>
              </a:r>
              <a:r>
                <a:rPr b="0" lang="en-US" sz="925">
                  <a:solidFill>
                    <a:srgbClr val="E2E8F0"/>
                  </a:solidFill>
                  <a:latin typeface="JetBrains Mono"/>
                  <a:ea typeface="JetBrains Mono"/>
                  <a:cs typeface="JetBrains Mono"/>
                  <a:sym typeface="JetBrains Mono"/>
                </a:rPr>
                <a:t>() {</a:t>
              </a:r>
              <a:endParaRPr b="0" sz="925">
                <a:solidFill>
                  <a:srgbClr val="64748B"/>
                </a:solidFill>
                <a:latin typeface="JetBrains Mono"/>
                <a:ea typeface="JetBrains Mono"/>
                <a:cs typeface="JetBrains Mono"/>
                <a:sym typeface="JetBrains Mono"/>
              </a:endParaRPr>
            </a:p>
            <a:p>
              <a:pPr indent="0" lvl="0" marL="355600" marR="0" rtl="0" algn="l">
                <a:spcBef>
                  <a:spcPts val="200"/>
                </a:spcBef>
                <a:spcAft>
                  <a:spcPts val="0"/>
                </a:spcAft>
                <a:buNone/>
              </a:pPr>
              <a:r>
                <a:rPr b="0" lang="en-US" sz="925">
                  <a:solidFill>
                    <a:srgbClr val="64748B"/>
                  </a:solidFill>
                  <a:latin typeface="JetBrains Mono"/>
                  <a:ea typeface="JetBrains Mono"/>
                  <a:cs typeface="JetBrains Mono"/>
                  <a:sym typeface="JetBrains Mono"/>
                </a:rPr>
                <a:t>// Centralized audit trail logic</a:t>
              </a:r>
              <a:endParaRPr b="0" sz="925">
                <a:solidFill>
                  <a:srgbClr val="64748B"/>
                </a:solidFill>
                <a:latin typeface="JetBrains Mono"/>
                <a:ea typeface="JetBrains Mono"/>
                <a:cs typeface="JetBrains Mono"/>
                <a:sym typeface="JetBrains Mono"/>
              </a:endParaRPr>
            </a:p>
            <a:p>
              <a:pPr indent="0" lvl="0" marL="177800" marR="0" rtl="0" algn="l">
                <a:spcBef>
                  <a:spcPts val="200"/>
                </a:spcBef>
                <a:spcAft>
                  <a:spcPts val="0"/>
                </a:spcAft>
                <a:buNone/>
              </a:pPr>
              <a:r>
                <a:rPr b="0" lang="en-US" sz="925">
                  <a:solidFill>
                    <a:srgbClr val="E2E8F0"/>
                  </a:solidFill>
                  <a:latin typeface="JetBrains Mono"/>
                  <a:ea typeface="JetBrains Mono"/>
                  <a:cs typeface="JetBrains Mono"/>
                  <a:sym typeface="JetBrains Mono"/>
                </a:rPr>
                <a:t>}</a:t>
              </a:r>
              <a:endParaRPr b="0" sz="925">
                <a:solidFill>
                  <a:srgbClr val="E2E8F0"/>
                </a:solidFill>
                <a:latin typeface="JetBrains Mono"/>
                <a:ea typeface="JetBrains Mono"/>
                <a:cs typeface="JetBrains Mono"/>
                <a:sym typeface="JetBrains Mono"/>
              </a:endParaRPr>
            </a:p>
            <a:p>
              <a:pPr indent="0" lvl="0" marL="0" rtl="0" algn="l">
                <a:spcBef>
                  <a:spcPts val="200"/>
                </a:spcBef>
                <a:spcAft>
                  <a:spcPts val="0"/>
                </a:spcAft>
                <a:buNone/>
              </a:pPr>
              <a:r>
                <a:rPr b="0" lang="en-US" sz="925">
                  <a:solidFill>
                    <a:srgbClr val="E2E8F0"/>
                  </a:solidFill>
                  <a:latin typeface="JetBrains Mono"/>
                  <a:ea typeface="JetBrains Mono"/>
                  <a:cs typeface="JetBrains Mono"/>
                  <a:sym typeface="JetBrains Mono"/>
                </a:rPr>
                <a:t>}</a:t>
              </a:r>
              <a:endParaRPr b="0" sz="925">
                <a:solidFill>
                  <a:srgbClr val="E2E8F0"/>
                </a:solidFill>
                <a:latin typeface="JetBrains Mono"/>
                <a:ea typeface="JetBrains Mono"/>
                <a:cs typeface="JetBrains Mono"/>
                <a:sym typeface="JetBrains Mono"/>
              </a:endParaRPr>
            </a:p>
            <a:p>
              <a:pPr indent="0" lvl="0" marL="0" rtl="0" algn="l">
                <a:spcBef>
                  <a:spcPts val="1400"/>
                </a:spcBef>
                <a:spcAft>
                  <a:spcPts val="0"/>
                </a:spcAft>
                <a:buNone/>
              </a:pPr>
              <a:r>
                <a:rPr b="0" lang="en-US" sz="925">
                  <a:solidFill>
                    <a:srgbClr val="64748B"/>
                  </a:solidFill>
                  <a:latin typeface="JetBrains Mono"/>
                  <a:ea typeface="JetBrains Mono"/>
                  <a:cs typeface="JetBrains Mono"/>
                  <a:sym typeface="JetBrains Mono"/>
                </a:rPr>
                <a:t>// Single + Hierarchical Extension</a:t>
              </a:r>
              <a:endParaRPr b="0" sz="925">
                <a:solidFill>
                  <a:srgbClr val="64748B"/>
                </a:solidFill>
                <a:latin typeface="JetBrains Mono"/>
                <a:ea typeface="JetBrains Mono"/>
                <a:cs typeface="JetBrains Mono"/>
                <a:sym typeface="JetBrains Mono"/>
              </a:endParaRPr>
            </a:p>
            <a:p>
              <a:pPr indent="0" lvl="0" marL="0" rtl="0" algn="l">
                <a:spcBef>
                  <a:spcPts val="200"/>
                </a:spcBef>
                <a:spcAft>
                  <a:spcPts val="0"/>
                </a:spcAft>
                <a:buNone/>
              </a:pPr>
              <a:r>
                <a:rPr b="1" lang="en-US" sz="925">
                  <a:solidFill>
                    <a:srgbClr val="F43F5E"/>
                  </a:solidFill>
                  <a:latin typeface="JetBrains Mono"/>
                  <a:ea typeface="JetBrains Mono"/>
                  <a:cs typeface="JetBrains Mono"/>
                  <a:sym typeface="JetBrains Mono"/>
                </a:rPr>
                <a:t>public class</a:t>
              </a:r>
              <a:r>
                <a:rPr b="0" lang="en-US" sz="925">
                  <a:solidFill>
                    <a:srgbClr val="64748B"/>
                  </a:solidFill>
                  <a:latin typeface="JetBrains Mono"/>
                  <a:ea typeface="JetBrains Mono"/>
                  <a:cs typeface="JetBrains Mono"/>
                  <a:sym typeface="JetBrains Mono"/>
                </a:rPr>
                <a:t> </a:t>
              </a:r>
              <a:r>
                <a:rPr b="1" lang="en-US" sz="925">
                  <a:solidFill>
                    <a:srgbClr val="38BDF8"/>
                  </a:solidFill>
                  <a:latin typeface="JetBrains Mono"/>
                  <a:ea typeface="JetBrains Mono"/>
                  <a:cs typeface="JetBrains Mono"/>
                  <a:sym typeface="JetBrains Mono"/>
                </a:rPr>
                <a:t>SavingsAccount</a:t>
              </a:r>
              <a:r>
                <a:rPr b="0" lang="en-US" sz="925">
                  <a:solidFill>
                    <a:srgbClr val="64748B"/>
                  </a:solidFill>
                  <a:latin typeface="JetBrains Mono"/>
                  <a:ea typeface="JetBrains Mono"/>
                  <a:cs typeface="JetBrains Mono"/>
                  <a:sym typeface="JetBrains Mono"/>
                </a:rPr>
                <a:t> </a:t>
              </a:r>
              <a:r>
                <a:rPr b="1" lang="en-US" sz="925">
                  <a:solidFill>
                    <a:srgbClr val="F43F5E"/>
                  </a:solidFill>
                  <a:latin typeface="JetBrains Mono"/>
                  <a:ea typeface="JetBrains Mono"/>
                  <a:cs typeface="JetBrains Mono"/>
                  <a:sym typeface="JetBrains Mono"/>
                </a:rPr>
                <a:t>extends</a:t>
              </a:r>
              <a:r>
                <a:rPr b="0" lang="en-US" sz="925">
                  <a:solidFill>
                    <a:srgbClr val="64748B"/>
                  </a:solidFill>
                  <a:latin typeface="JetBrains Mono"/>
                  <a:ea typeface="JetBrains Mono"/>
                  <a:cs typeface="JetBrains Mono"/>
                  <a:sym typeface="JetBrains Mono"/>
                </a:rPr>
                <a:t> </a:t>
              </a:r>
              <a:r>
                <a:rPr b="1" lang="en-US" sz="925">
                  <a:solidFill>
                    <a:srgbClr val="38BDF8"/>
                  </a:solidFill>
                  <a:latin typeface="JetBrains Mono"/>
                  <a:ea typeface="JetBrains Mono"/>
                  <a:cs typeface="JetBrains Mono"/>
                  <a:sym typeface="JetBrains Mono"/>
                </a:rPr>
                <a:t>Account</a:t>
              </a:r>
              <a:r>
                <a:rPr b="0" lang="en-US" sz="925">
                  <a:solidFill>
                    <a:srgbClr val="64748B"/>
                  </a:solidFill>
                  <a:latin typeface="JetBrains Mono"/>
                  <a:ea typeface="JetBrains Mono"/>
                  <a:cs typeface="JetBrains Mono"/>
                  <a:sym typeface="JetBrains Mono"/>
                </a:rPr>
                <a:t> </a:t>
              </a:r>
              <a:r>
                <a:rPr b="0" lang="en-US" sz="925">
                  <a:solidFill>
                    <a:srgbClr val="E2E8F0"/>
                  </a:solidFill>
                  <a:latin typeface="JetBrains Mono"/>
                  <a:ea typeface="JetBrains Mono"/>
                  <a:cs typeface="JetBrains Mono"/>
                  <a:sym typeface="JetBrains Mono"/>
                </a:rPr>
                <a:t>{</a:t>
              </a:r>
              <a:endParaRPr b="0" sz="925">
                <a:solidFill>
                  <a:srgbClr val="64748B"/>
                </a:solidFill>
                <a:latin typeface="JetBrains Mono"/>
                <a:ea typeface="JetBrains Mono"/>
                <a:cs typeface="JetBrains Mono"/>
                <a:sym typeface="JetBrains Mono"/>
              </a:endParaRPr>
            </a:p>
            <a:p>
              <a:pPr indent="0" lvl="0" marL="177800" marR="0" rtl="0" algn="l">
                <a:spcBef>
                  <a:spcPts val="200"/>
                </a:spcBef>
                <a:spcAft>
                  <a:spcPts val="0"/>
                </a:spcAft>
                <a:buNone/>
              </a:pPr>
              <a:r>
                <a:rPr b="1" lang="en-US" sz="925">
                  <a:solidFill>
                    <a:srgbClr val="F43F5E"/>
                  </a:solidFill>
                  <a:latin typeface="JetBrains Mono"/>
                  <a:ea typeface="JetBrains Mono"/>
                  <a:cs typeface="JetBrains Mono"/>
                  <a:sym typeface="JetBrains Mono"/>
                </a:rPr>
                <a:t>private</a:t>
              </a:r>
              <a:r>
                <a:rPr b="0" lang="en-US" sz="925">
                  <a:solidFill>
                    <a:srgbClr val="64748B"/>
                  </a:solidFill>
                  <a:latin typeface="JetBrains Mono"/>
                  <a:ea typeface="JetBrains Mono"/>
                  <a:cs typeface="JetBrains Mono"/>
                  <a:sym typeface="JetBrains Mono"/>
                </a:rPr>
                <a:t> </a:t>
              </a:r>
              <a:r>
                <a:rPr b="0" lang="en-US" sz="925">
                  <a:solidFill>
                    <a:srgbClr val="E2E8F0"/>
                  </a:solidFill>
                  <a:latin typeface="JetBrains Mono"/>
                  <a:ea typeface="JetBrains Mono"/>
                  <a:cs typeface="JetBrains Mono"/>
                  <a:sym typeface="JetBrains Mono"/>
                </a:rPr>
                <a:t>BigDecimal interestRate =</a:t>
              </a:r>
              <a:endParaRPr b="0" sz="925">
                <a:solidFill>
                  <a:srgbClr val="64748B"/>
                </a:solidFill>
                <a:latin typeface="JetBrains Mono"/>
                <a:ea typeface="JetBrains Mono"/>
                <a:cs typeface="JetBrains Mono"/>
                <a:sym typeface="JetBrains Mono"/>
              </a:endParaRPr>
            </a:p>
            <a:p>
              <a:pPr indent="0" lvl="0" marL="355600" marR="0" rtl="0" algn="l">
                <a:spcBef>
                  <a:spcPts val="200"/>
                </a:spcBef>
                <a:spcAft>
                  <a:spcPts val="0"/>
                </a:spcAft>
                <a:buNone/>
              </a:pPr>
              <a:r>
                <a:rPr b="1" lang="en-US" sz="925">
                  <a:solidFill>
                    <a:srgbClr val="F43F5E"/>
                  </a:solidFill>
                  <a:latin typeface="JetBrains Mono"/>
                  <a:ea typeface="JetBrains Mono"/>
                  <a:cs typeface="JetBrains Mono"/>
                  <a:sym typeface="JetBrains Mono"/>
                </a:rPr>
                <a:t>new</a:t>
              </a:r>
              <a:r>
                <a:rPr b="0" lang="en-US" sz="925">
                  <a:solidFill>
                    <a:srgbClr val="64748B"/>
                  </a:solidFill>
                  <a:latin typeface="JetBrains Mono"/>
                  <a:ea typeface="JetBrains Mono"/>
                  <a:cs typeface="JetBrains Mono"/>
                  <a:sym typeface="JetBrains Mono"/>
                </a:rPr>
                <a:t> </a:t>
              </a:r>
              <a:r>
                <a:rPr b="0" lang="en-US" sz="925">
                  <a:solidFill>
                    <a:srgbClr val="E2E8F0"/>
                  </a:solidFill>
                  <a:latin typeface="JetBrains Mono"/>
                  <a:ea typeface="JetBrains Mono"/>
                  <a:cs typeface="JetBrains Mono"/>
                  <a:sym typeface="JetBrains Mono"/>
                </a:rPr>
                <a:t>BigDecimal(</a:t>
              </a:r>
              <a:r>
                <a:rPr b="0" lang="en-US" sz="925">
                  <a:solidFill>
                    <a:srgbClr val="A7F3D0"/>
                  </a:solidFill>
                  <a:latin typeface="JetBrains Mono"/>
                  <a:ea typeface="JetBrains Mono"/>
                  <a:cs typeface="JetBrains Mono"/>
                  <a:sym typeface="JetBrains Mono"/>
                </a:rPr>
                <a:t>"0.04"</a:t>
              </a:r>
              <a:r>
                <a:rPr b="0" lang="en-US" sz="925">
                  <a:solidFill>
                    <a:srgbClr val="E2E8F0"/>
                  </a:solidFill>
                  <a:latin typeface="JetBrains Mono"/>
                  <a:ea typeface="JetBrains Mono"/>
                  <a:cs typeface="JetBrains Mono"/>
                  <a:sym typeface="JetBrains Mono"/>
                </a:rPr>
                <a:t>);</a:t>
              </a:r>
              <a:endParaRPr b="0" sz="925">
                <a:solidFill>
                  <a:srgbClr val="64748B"/>
                </a:solidFill>
                <a:latin typeface="JetBrains Mono"/>
                <a:ea typeface="JetBrains Mono"/>
                <a:cs typeface="JetBrains Mono"/>
                <a:sym typeface="JetBrains Mono"/>
              </a:endParaRPr>
            </a:p>
            <a:p>
              <a:pPr indent="0" lvl="0" marL="177800" marR="0" rtl="0" algn="l">
                <a:spcBef>
                  <a:spcPts val="1000"/>
                </a:spcBef>
                <a:spcAft>
                  <a:spcPts val="0"/>
                </a:spcAft>
                <a:buNone/>
              </a:pPr>
              <a:r>
                <a:rPr b="1" lang="en-US" sz="925">
                  <a:solidFill>
                    <a:srgbClr val="F43F5E"/>
                  </a:solidFill>
                  <a:latin typeface="JetBrains Mono"/>
                  <a:ea typeface="JetBrains Mono"/>
                  <a:cs typeface="JetBrains Mono"/>
                  <a:sym typeface="JetBrains Mono"/>
                </a:rPr>
                <a:t>public void</a:t>
              </a:r>
              <a:r>
                <a:rPr b="0" lang="en-US" sz="925">
                  <a:solidFill>
                    <a:srgbClr val="64748B"/>
                  </a:solidFill>
                  <a:latin typeface="JetBrains Mono"/>
                  <a:ea typeface="JetBrains Mono"/>
                  <a:cs typeface="JetBrains Mono"/>
                  <a:sym typeface="JetBrains Mono"/>
                </a:rPr>
                <a:t> </a:t>
              </a:r>
              <a:r>
                <a:rPr b="0" lang="en-US" sz="925">
                  <a:solidFill>
                    <a:srgbClr val="A7F3D0"/>
                  </a:solidFill>
                  <a:latin typeface="JetBrains Mono"/>
                  <a:ea typeface="JetBrains Mono"/>
                  <a:cs typeface="JetBrains Mono"/>
                  <a:sym typeface="JetBrains Mono"/>
                </a:rPr>
                <a:t>applyInterest</a:t>
              </a:r>
              <a:r>
                <a:rPr b="0" lang="en-US" sz="925">
                  <a:solidFill>
                    <a:srgbClr val="E2E8F0"/>
                  </a:solidFill>
                  <a:latin typeface="JetBrains Mono"/>
                  <a:ea typeface="JetBrains Mono"/>
                  <a:cs typeface="JetBrains Mono"/>
                  <a:sym typeface="JetBrains Mono"/>
                </a:rPr>
                <a:t>() {</a:t>
              </a:r>
              <a:endParaRPr b="0" sz="925">
                <a:solidFill>
                  <a:srgbClr val="64748B"/>
                </a:solidFill>
                <a:latin typeface="JetBrains Mono"/>
                <a:ea typeface="JetBrains Mono"/>
                <a:cs typeface="JetBrains Mono"/>
                <a:sym typeface="JetBrains Mono"/>
              </a:endParaRPr>
            </a:p>
            <a:p>
              <a:pPr indent="0" lvl="0" marL="355600" marR="0" rtl="0" algn="l">
                <a:spcBef>
                  <a:spcPts val="200"/>
                </a:spcBef>
                <a:spcAft>
                  <a:spcPts val="0"/>
                </a:spcAft>
                <a:buNone/>
              </a:pPr>
              <a:r>
                <a:rPr b="0" lang="en-US" sz="925">
                  <a:solidFill>
                    <a:srgbClr val="64748B"/>
                  </a:solidFill>
                  <a:latin typeface="JetBrains Mono"/>
                  <a:ea typeface="JetBrains Mono"/>
                  <a:cs typeface="JetBrains Mono"/>
                  <a:sym typeface="JetBrains Mono"/>
                </a:rPr>
                <a:t>// Interest calculation logic</a:t>
              </a:r>
              <a:endParaRPr b="0" sz="925">
                <a:solidFill>
                  <a:srgbClr val="64748B"/>
                </a:solidFill>
                <a:latin typeface="JetBrains Mono"/>
                <a:ea typeface="JetBrains Mono"/>
                <a:cs typeface="JetBrains Mono"/>
                <a:sym typeface="JetBrains Mono"/>
              </a:endParaRPr>
            </a:p>
            <a:p>
              <a:pPr indent="0" lvl="0" marL="177800" marR="0" rtl="0" algn="l">
                <a:spcBef>
                  <a:spcPts val="200"/>
                </a:spcBef>
                <a:spcAft>
                  <a:spcPts val="0"/>
                </a:spcAft>
                <a:buNone/>
              </a:pPr>
              <a:r>
                <a:rPr b="0" lang="en-US" sz="925">
                  <a:solidFill>
                    <a:srgbClr val="E2E8F0"/>
                  </a:solidFill>
                  <a:latin typeface="JetBrains Mono"/>
                  <a:ea typeface="JetBrains Mono"/>
                  <a:cs typeface="JetBrains Mono"/>
                  <a:sym typeface="JetBrains Mono"/>
                </a:rPr>
                <a:t>}</a:t>
              </a:r>
              <a:endParaRPr b="0" sz="925">
                <a:solidFill>
                  <a:srgbClr val="E2E8F0"/>
                </a:solidFill>
                <a:latin typeface="JetBrains Mono"/>
                <a:ea typeface="JetBrains Mono"/>
                <a:cs typeface="JetBrains Mono"/>
                <a:sym typeface="JetBrains Mono"/>
              </a:endParaRPr>
            </a:p>
            <a:p>
              <a:pPr indent="0" lvl="0" marL="0" rtl="0" algn="l">
                <a:spcBef>
                  <a:spcPts val="200"/>
                </a:spcBef>
                <a:spcAft>
                  <a:spcPts val="0"/>
                </a:spcAft>
                <a:buNone/>
              </a:pPr>
              <a:r>
                <a:rPr b="0" lang="en-US" sz="925">
                  <a:solidFill>
                    <a:srgbClr val="E2E8F0"/>
                  </a:solidFill>
                  <a:latin typeface="JetBrains Mono"/>
                  <a:ea typeface="JetBrains Mono"/>
                  <a:cs typeface="JetBrains Mono"/>
                  <a:sym typeface="JetBrains Mono"/>
                </a:rPr>
                <a:t>}</a:t>
              </a:r>
              <a:endParaRPr b="0" sz="925">
                <a:solidFill>
                  <a:srgbClr val="E2E8F0"/>
                </a:solidFill>
                <a:latin typeface="JetBrains Mono"/>
                <a:ea typeface="JetBrains Mono"/>
                <a:cs typeface="JetBrains Mono"/>
                <a:sym typeface="JetBrains Mono"/>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20" name="Shape 320"/>
        <p:cNvGrpSpPr/>
        <p:nvPr/>
      </p:nvGrpSpPr>
      <p:grpSpPr>
        <a:xfrm>
          <a:off x="0" y="0"/>
          <a:ext cx="0" cy="0"/>
          <a:chOff x="0" y="0"/>
          <a:chExt cx="0" cy="0"/>
        </a:xfrm>
      </p:grpSpPr>
      <p:grpSp>
        <p:nvGrpSpPr>
          <p:cNvPr id="321" name="Google Shape;321;p22"/>
          <p:cNvGrpSpPr/>
          <p:nvPr/>
        </p:nvGrpSpPr>
        <p:grpSpPr>
          <a:xfrm>
            <a:off x="685800" y="342900"/>
            <a:ext cx="10820250" cy="571500"/>
            <a:chOff x="0" y="0"/>
            <a:chExt cx="10820250" cy="571500"/>
          </a:xfrm>
        </p:grpSpPr>
        <p:sp>
          <p:nvSpPr>
            <p:cNvPr id="322" name="Google Shape;322;p22"/>
            <p:cNvSpPr txBox="1"/>
            <p:nvPr/>
          </p:nvSpPr>
          <p:spPr>
            <a:xfrm>
              <a:off x="0" y="0"/>
              <a:ext cx="3810000" cy="171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950">
                  <a:solidFill>
                    <a:srgbClr val="0284C7"/>
                  </a:solidFill>
                  <a:latin typeface="Plus Jakarta Sans"/>
                  <a:ea typeface="Plus Jakarta Sans"/>
                  <a:cs typeface="Plus Jakarta Sans"/>
                  <a:sym typeface="Plus Jakarta Sans"/>
                </a:rPr>
                <a:t>PILLAR 03</a:t>
              </a:r>
              <a:endParaRPr b="1" sz="950">
                <a:solidFill>
                  <a:srgbClr val="0284C7"/>
                </a:solidFill>
                <a:latin typeface="Plus Jakarta Sans"/>
                <a:ea typeface="Plus Jakarta Sans"/>
                <a:cs typeface="Plus Jakarta Sans"/>
                <a:sym typeface="Plus Jakarta Sans"/>
              </a:endParaRPr>
            </a:p>
          </p:txBody>
        </p:sp>
        <p:sp>
          <p:nvSpPr>
            <p:cNvPr id="323" name="Google Shape;323;p22"/>
            <p:cNvSpPr txBox="1"/>
            <p:nvPr/>
          </p:nvSpPr>
          <p:spPr>
            <a:xfrm>
              <a:off x="0" y="190500"/>
              <a:ext cx="71439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2400">
                  <a:solidFill>
                    <a:srgbClr val="0F172A"/>
                  </a:solidFill>
                  <a:latin typeface="Plus Jakarta Sans ExtraBold"/>
                  <a:ea typeface="Plus Jakarta Sans ExtraBold"/>
                  <a:cs typeface="Plus Jakarta Sans ExtraBold"/>
                  <a:sym typeface="Plus Jakarta Sans ExtraBold"/>
                </a:rPr>
                <a:t>Abstraction: Interfaces vs. Abstract Classes</a:t>
              </a:r>
              <a:endParaRPr b="0" sz="2400">
                <a:solidFill>
                  <a:srgbClr val="0F172A"/>
                </a:solidFill>
                <a:latin typeface="Plus Jakarta Sans ExtraBold"/>
                <a:ea typeface="Plus Jakarta Sans ExtraBold"/>
                <a:cs typeface="Plus Jakarta Sans ExtraBold"/>
                <a:sym typeface="Plus Jakarta Sans ExtraBold"/>
              </a:endParaRPr>
            </a:p>
          </p:txBody>
        </p:sp>
        <p:sp>
          <p:nvSpPr>
            <p:cNvPr id="324" name="Google Shape;324;p22"/>
            <p:cNvSpPr/>
            <p:nvPr/>
          </p:nvSpPr>
          <p:spPr>
            <a:xfrm>
              <a:off x="9010650" y="57150"/>
              <a:ext cx="1809600" cy="304800"/>
            </a:xfrm>
            <a:prstGeom prst="roundRect">
              <a:avLst>
                <a:gd fmla="val 50000" name="adj"/>
              </a:avLst>
            </a:prstGeom>
            <a:solidFill>
              <a:srgbClr val="EFF6FF"/>
            </a:solidFill>
            <a:ln cap="flat" cmpd="sng" w="9525">
              <a:solidFill>
                <a:srgbClr val="BFDBF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5" name="Google Shape;325;p22"/>
            <p:cNvSpPr txBox="1"/>
            <p:nvPr/>
          </p:nvSpPr>
          <p:spPr>
            <a:xfrm>
              <a:off x="9010650" y="57150"/>
              <a:ext cx="1809600" cy="304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950">
                  <a:solidFill>
                    <a:srgbClr val="1D4ED8"/>
                  </a:solidFill>
                  <a:latin typeface="Plus Jakarta Sans"/>
                  <a:ea typeface="Plus Jakarta Sans"/>
                  <a:cs typeface="Plus Jakarta Sans"/>
                  <a:sym typeface="Plus Jakarta Sans"/>
                </a:rPr>
                <a:t>Contract vs. Template</a:t>
              </a:r>
              <a:endParaRPr b="1" sz="950">
                <a:solidFill>
                  <a:srgbClr val="1D4ED8"/>
                </a:solidFill>
                <a:latin typeface="Plus Jakarta Sans"/>
                <a:ea typeface="Plus Jakarta Sans"/>
                <a:cs typeface="Plus Jakarta Sans"/>
                <a:sym typeface="Plus Jakarta Sans"/>
              </a:endParaRPr>
            </a:p>
          </p:txBody>
        </p:sp>
      </p:grpSp>
      <p:grpSp>
        <p:nvGrpSpPr>
          <p:cNvPr id="326" name="Google Shape;326;p22"/>
          <p:cNvGrpSpPr/>
          <p:nvPr/>
        </p:nvGrpSpPr>
        <p:grpSpPr>
          <a:xfrm>
            <a:off x="685800" y="1009650"/>
            <a:ext cx="10820400" cy="800100"/>
            <a:chOff x="0" y="0"/>
            <a:chExt cx="10820400" cy="800100"/>
          </a:xfrm>
        </p:grpSpPr>
        <p:sp>
          <p:nvSpPr>
            <p:cNvPr id="327" name="Google Shape;327;p22"/>
            <p:cNvSpPr/>
            <p:nvPr/>
          </p:nvSpPr>
          <p:spPr>
            <a:xfrm>
              <a:off x="0" y="0"/>
              <a:ext cx="10820400" cy="800100"/>
            </a:xfrm>
            <a:prstGeom prst="roundRect">
              <a:avLst>
                <a:gd fmla="val 9523"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8" name="Google Shape;328;p22"/>
            <p:cNvSpPr/>
            <p:nvPr/>
          </p:nvSpPr>
          <p:spPr>
            <a:xfrm>
              <a:off x="0" y="0"/>
              <a:ext cx="47700" cy="800100"/>
            </a:xfrm>
            <a:prstGeom prst="roundRect">
              <a:avLst>
                <a:gd fmla="val 40000" name="adj"/>
              </a:avLst>
            </a:prstGeom>
            <a:solidFill>
              <a:srgbClr val="0284C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9" name="Google Shape;329;p22"/>
            <p:cNvSpPr txBox="1"/>
            <p:nvPr/>
          </p:nvSpPr>
          <p:spPr>
            <a:xfrm>
              <a:off x="209550" y="76200"/>
              <a:ext cx="10382400" cy="647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850">
                  <a:solidFill>
                    <a:srgbClr val="0284C7"/>
                  </a:solidFill>
                  <a:latin typeface="Plus Jakarta Sans"/>
                  <a:ea typeface="Plus Jakarta Sans"/>
                  <a:cs typeface="Plus Jakarta Sans"/>
                  <a:sym typeface="Plus Jakarta Sans"/>
                </a:rPr>
                <a:t>SIMPLE DEFINITION</a:t>
              </a:r>
              <a:endParaRPr b="1" sz="850">
                <a:solidFill>
                  <a:srgbClr val="0284C7"/>
                </a:solidFill>
                <a:latin typeface="Plus Jakarta Sans"/>
                <a:ea typeface="Plus Jakarta Sans"/>
                <a:cs typeface="Plus Jakarta Sans"/>
                <a:sym typeface="Plus Jakarta Sans"/>
              </a:endParaRPr>
            </a:p>
            <a:p>
              <a:pPr indent="0" lvl="0" marL="0" rtl="0" algn="l">
                <a:spcBef>
                  <a:spcPts val="300"/>
                </a:spcBef>
                <a:spcAft>
                  <a:spcPts val="0"/>
                </a:spcAft>
                <a:buNone/>
              </a:pPr>
              <a:r>
                <a:rPr b="0" lang="en-US" sz="1100">
                  <a:solidFill>
                    <a:srgbClr val="1E293B"/>
                  </a:solidFill>
                  <a:latin typeface="Plus Jakarta Sans SemiBold"/>
                  <a:ea typeface="Plus Jakarta Sans SemiBold"/>
                  <a:cs typeface="Plus Jakarta Sans SemiBold"/>
                  <a:sym typeface="Plus Jakarta Sans SemiBold"/>
                </a:rPr>
                <a:t>Abstraction hides the complicated inner workings and shows only what is necessary to the user. An Interface is a strict list of rules (what must be done), while an Abstract Class is a half-finished class that shares common code.</a:t>
              </a:r>
              <a:endParaRPr b="0" sz="1100">
                <a:solidFill>
                  <a:srgbClr val="1E293B"/>
                </a:solidFill>
                <a:latin typeface="Plus Jakarta Sans SemiBold"/>
                <a:ea typeface="Plus Jakarta Sans SemiBold"/>
                <a:cs typeface="Plus Jakarta Sans SemiBold"/>
                <a:sym typeface="Plus Jakarta Sans SemiBold"/>
              </a:endParaRPr>
            </a:p>
          </p:txBody>
        </p:sp>
      </p:grpSp>
      <p:grpSp>
        <p:nvGrpSpPr>
          <p:cNvPr id="330" name="Google Shape;330;p22"/>
          <p:cNvGrpSpPr/>
          <p:nvPr/>
        </p:nvGrpSpPr>
        <p:grpSpPr>
          <a:xfrm>
            <a:off x="685800" y="1962150"/>
            <a:ext cx="5257800" cy="4476900"/>
            <a:chOff x="0" y="0"/>
            <a:chExt cx="5257800" cy="4476900"/>
          </a:xfrm>
        </p:grpSpPr>
        <p:sp>
          <p:nvSpPr>
            <p:cNvPr id="331" name="Google Shape;331;p22"/>
            <p:cNvSpPr/>
            <p:nvPr/>
          </p:nvSpPr>
          <p:spPr>
            <a:xfrm>
              <a:off x="0" y="0"/>
              <a:ext cx="5257800" cy="4476900"/>
            </a:xfrm>
            <a:prstGeom prst="roundRect">
              <a:avLst>
                <a:gd fmla="val 2553"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2" name="Google Shape;332;p22"/>
            <p:cNvSpPr txBox="1"/>
            <p:nvPr/>
          </p:nvSpPr>
          <p:spPr>
            <a:xfrm>
              <a:off x="190500" y="152400"/>
              <a:ext cx="4876800" cy="857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850">
                  <a:solidFill>
                    <a:srgbClr val="0284C7"/>
                  </a:solidFill>
                  <a:latin typeface="Plus Jakarta Sans"/>
                  <a:ea typeface="Plus Jakarta Sans"/>
                  <a:cs typeface="Plus Jakarta Sans"/>
                  <a:sym typeface="Plus Jakarta Sans"/>
                </a:rPr>
                <a:t>INTERFACE</a:t>
              </a:r>
              <a:endParaRPr b="1" sz="850">
                <a:solidFill>
                  <a:srgbClr val="0284C7"/>
                </a:solidFill>
                <a:latin typeface="Plus Jakarta Sans"/>
                <a:ea typeface="Plus Jakarta Sans"/>
                <a:cs typeface="Plus Jakarta Sans"/>
                <a:sym typeface="Plus Jakarta Sans"/>
              </a:endParaRPr>
            </a:p>
            <a:p>
              <a:pPr indent="0" lvl="0" marL="0" rtl="0" algn="l">
                <a:spcBef>
                  <a:spcPts val="200"/>
                </a:spcBef>
                <a:spcAft>
                  <a:spcPts val="0"/>
                </a:spcAft>
                <a:buNone/>
              </a:pPr>
              <a:r>
                <a:rPr b="1" lang="en-US" sz="1800">
                  <a:solidFill>
                    <a:srgbClr val="0F172A"/>
                  </a:solidFill>
                  <a:latin typeface="Plus Jakarta Sans"/>
                  <a:ea typeface="Plus Jakarta Sans"/>
                  <a:cs typeface="Plus Jakarta Sans"/>
                  <a:sym typeface="Plus Jakarta Sans"/>
                </a:rPr>
                <a:t>Pure Contract</a:t>
              </a:r>
              <a:endParaRPr b="1" sz="1800">
                <a:solidFill>
                  <a:srgbClr val="0F172A"/>
                </a:solidFill>
                <a:latin typeface="Plus Jakarta Sans"/>
                <a:ea typeface="Plus Jakarta Sans"/>
                <a:cs typeface="Plus Jakarta Sans"/>
                <a:sym typeface="Plus Jakarta Sans"/>
              </a:endParaRPr>
            </a:p>
            <a:p>
              <a:pPr indent="0" lvl="0" marL="0" rtl="0" algn="l">
                <a:spcBef>
                  <a:spcPts val="400"/>
                </a:spcBef>
                <a:spcAft>
                  <a:spcPts val="0"/>
                </a:spcAft>
                <a:buNone/>
              </a:pPr>
              <a:r>
                <a:rPr b="0" lang="en-US" sz="1000">
                  <a:solidFill>
                    <a:srgbClr val="475569"/>
                  </a:solidFill>
                  <a:latin typeface="Plus Jakarta Sans"/>
                  <a:ea typeface="Plus Jakarta Sans"/>
                  <a:cs typeface="Plus Jakarta Sans"/>
                  <a:sym typeface="Plus Jakarta Sans"/>
                </a:rPr>
                <a:t>A wall power socket defines an interface: two pins, 230 volts. It doesn't care whether you plug in a laptop, toaster, or phone charger.</a:t>
              </a:r>
              <a:endParaRPr b="0" sz="1000">
                <a:solidFill>
                  <a:srgbClr val="475569"/>
                </a:solidFill>
                <a:latin typeface="Plus Jakarta Sans"/>
                <a:ea typeface="Plus Jakarta Sans"/>
                <a:cs typeface="Plus Jakarta Sans"/>
                <a:sym typeface="Plus Jakarta Sans"/>
              </a:endParaRPr>
            </a:p>
          </p:txBody>
        </p:sp>
        <p:grpSp>
          <p:nvGrpSpPr>
            <p:cNvPr id="333" name="Google Shape;333;p22"/>
            <p:cNvGrpSpPr/>
            <p:nvPr/>
          </p:nvGrpSpPr>
          <p:grpSpPr>
            <a:xfrm>
              <a:off x="152400" y="1085850"/>
              <a:ext cx="4953000" cy="2495700"/>
              <a:chOff x="0" y="0"/>
              <a:chExt cx="4953000" cy="2495700"/>
            </a:xfrm>
          </p:grpSpPr>
          <p:sp>
            <p:nvSpPr>
              <p:cNvPr id="334" name="Google Shape;334;p22"/>
              <p:cNvSpPr/>
              <p:nvPr/>
            </p:nvSpPr>
            <p:spPr>
              <a:xfrm>
                <a:off x="0" y="0"/>
                <a:ext cx="4953000" cy="2495700"/>
              </a:xfrm>
              <a:prstGeom prst="roundRect">
                <a:avLst>
                  <a:gd fmla="val 3053" name="adj"/>
                </a:avLst>
              </a:prstGeom>
              <a:solidFill>
                <a:srgbClr val="0F172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5" name="Google Shape;335;p22"/>
              <p:cNvSpPr/>
              <p:nvPr/>
            </p:nvSpPr>
            <p:spPr>
              <a:xfrm>
                <a:off x="104775" y="95250"/>
                <a:ext cx="76200" cy="76200"/>
              </a:xfrm>
              <a:prstGeom prst="ellipse">
                <a:avLst/>
              </a:prstGeom>
              <a:solidFill>
                <a:srgbClr val="EF44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6" name="Google Shape;336;p22"/>
              <p:cNvSpPr/>
              <p:nvPr/>
            </p:nvSpPr>
            <p:spPr>
              <a:xfrm>
                <a:off x="219075" y="95250"/>
                <a:ext cx="76200" cy="76200"/>
              </a:xfrm>
              <a:prstGeom prst="ellipse">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7" name="Google Shape;337;p22"/>
              <p:cNvSpPr/>
              <p:nvPr/>
            </p:nvSpPr>
            <p:spPr>
              <a:xfrm>
                <a:off x="333375" y="95250"/>
                <a:ext cx="76200" cy="76200"/>
              </a:xfrm>
              <a:prstGeom prst="ellipse">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338" name="Google Shape;338;p22"/>
              <p:cNvCxnSpPr/>
              <p:nvPr/>
            </p:nvCxnSpPr>
            <p:spPr>
              <a:xfrm>
                <a:off x="0" y="266700"/>
                <a:ext cx="4953000" cy="0"/>
              </a:xfrm>
              <a:prstGeom prst="straightConnector1">
                <a:avLst/>
              </a:prstGeom>
              <a:solidFill>
                <a:srgbClr val="FFFFFF"/>
              </a:solidFill>
              <a:ln cap="flat" cmpd="sng" w="9525">
                <a:solidFill>
                  <a:srgbClr val="1E293B"/>
                </a:solidFill>
                <a:prstDash val="solid"/>
                <a:round/>
                <a:headEnd len="sm" w="sm" type="none"/>
                <a:tailEnd len="sm" w="sm" type="none"/>
              </a:ln>
            </p:spPr>
          </p:cxnSp>
          <p:sp>
            <p:nvSpPr>
              <p:cNvPr id="339" name="Google Shape;339;p22"/>
              <p:cNvSpPr txBox="1"/>
              <p:nvPr/>
            </p:nvSpPr>
            <p:spPr>
              <a:xfrm>
                <a:off x="476250" y="57150"/>
                <a:ext cx="4286400" cy="171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850">
                    <a:solidFill>
                      <a:srgbClr val="94A3B8"/>
                    </a:solidFill>
                    <a:latin typeface="JetBrains Mono Medium"/>
                    <a:ea typeface="JetBrains Mono Medium"/>
                    <a:cs typeface="JetBrains Mono Medium"/>
                    <a:sym typeface="JetBrains Mono Medium"/>
                  </a:rPr>
                  <a:t>PaymentGateway.java</a:t>
                </a:r>
                <a:endParaRPr b="0" sz="850">
                  <a:solidFill>
                    <a:srgbClr val="94A3B8"/>
                  </a:solidFill>
                  <a:latin typeface="JetBrains Mono Medium"/>
                  <a:ea typeface="JetBrains Mono Medium"/>
                  <a:cs typeface="JetBrains Mono Medium"/>
                  <a:sym typeface="JetBrains Mono Medium"/>
                </a:endParaRPr>
              </a:p>
            </p:txBody>
          </p:sp>
          <p:sp>
            <p:nvSpPr>
              <p:cNvPr id="340" name="Google Shape;340;p22"/>
              <p:cNvSpPr txBox="1"/>
              <p:nvPr/>
            </p:nvSpPr>
            <p:spPr>
              <a:xfrm>
                <a:off x="133350" y="323850"/>
                <a:ext cx="4686300" cy="2095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875">
                    <a:solidFill>
                      <a:srgbClr val="64748B"/>
                    </a:solidFill>
                    <a:latin typeface="JetBrains Mono"/>
                    <a:ea typeface="JetBrains Mono"/>
                    <a:cs typeface="JetBrains Mono"/>
                    <a:sym typeface="JetBrains Mono"/>
                  </a:rPr>
                  <a:t>// 1. Pure interface contract</a:t>
                </a:r>
                <a:endParaRPr b="0" sz="875">
                  <a:solidFill>
                    <a:srgbClr val="64748B"/>
                  </a:solidFill>
                  <a:latin typeface="JetBrains Mono"/>
                  <a:ea typeface="JetBrains Mono"/>
                  <a:cs typeface="JetBrains Mono"/>
                  <a:sym typeface="JetBrains Mono"/>
                </a:endParaRPr>
              </a:p>
              <a:p>
                <a:pPr indent="0" lvl="0" marL="0" rtl="0" algn="l">
                  <a:spcBef>
                    <a:spcPts val="200"/>
                  </a:spcBef>
                  <a:spcAft>
                    <a:spcPts val="0"/>
                  </a:spcAft>
                  <a:buNone/>
                </a:pPr>
                <a:r>
                  <a:rPr b="1" lang="en-US" sz="875">
                    <a:solidFill>
                      <a:srgbClr val="F43F5E"/>
                    </a:solidFill>
                    <a:latin typeface="JetBrains Mono"/>
                    <a:ea typeface="JetBrains Mono"/>
                    <a:cs typeface="JetBrains Mono"/>
                    <a:sym typeface="JetBrains Mono"/>
                  </a:rPr>
                  <a:t>public interface</a:t>
                </a:r>
                <a:r>
                  <a:rPr b="0" lang="en-US" sz="875">
                    <a:solidFill>
                      <a:srgbClr val="64748B"/>
                    </a:solidFill>
                    <a:latin typeface="JetBrains Mono"/>
                    <a:ea typeface="JetBrains Mono"/>
                    <a:cs typeface="JetBrains Mono"/>
                    <a:sym typeface="JetBrains Mono"/>
                  </a:rPr>
                  <a:t> </a:t>
                </a:r>
                <a:r>
                  <a:rPr b="1" lang="en-US" sz="875">
                    <a:solidFill>
                      <a:srgbClr val="38BDF8"/>
                    </a:solidFill>
                    <a:latin typeface="JetBrains Mono"/>
                    <a:ea typeface="JetBrains Mono"/>
                    <a:cs typeface="JetBrains Mono"/>
                    <a:sym typeface="JetBrains Mono"/>
                  </a:rPr>
                  <a:t>PaymentGateway</a:t>
                </a:r>
                <a:r>
                  <a:rPr b="0" lang="en-US" sz="875">
                    <a:solidFill>
                      <a:srgbClr val="64748B"/>
                    </a:solidFill>
                    <a:latin typeface="JetBrains Mono"/>
                    <a:ea typeface="JetBrains Mono"/>
                    <a:cs typeface="JetBrains Mono"/>
                    <a:sym typeface="JetBrains Mono"/>
                  </a:rPr>
                  <a:t> </a:t>
                </a:r>
                <a:r>
                  <a:rPr b="0" lang="en-US" sz="875">
                    <a:solidFill>
                      <a:srgbClr val="E2E8F0"/>
                    </a:solidFill>
                    <a:latin typeface="JetBrains Mono"/>
                    <a:ea typeface="JetBrains Mono"/>
                    <a:cs typeface="JetBrains Mono"/>
                    <a:sym typeface="JetBrains Mono"/>
                  </a:rPr>
                  <a:t>{</a:t>
                </a:r>
                <a:endParaRPr b="0" sz="875">
                  <a:solidFill>
                    <a:srgbClr val="64748B"/>
                  </a:solidFill>
                  <a:latin typeface="JetBrains Mono"/>
                  <a:ea typeface="JetBrains Mono"/>
                  <a:cs typeface="JetBrains Mono"/>
                  <a:sym typeface="JetBrains Mono"/>
                </a:endParaRPr>
              </a:p>
              <a:p>
                <a:pPr indent="0" lvl="0" marL="177800" marR="0" rtl="0" algn="l">
                  <a:spcBef>
                    <a:spcPts val="200"/>
                  </a:spcBef>
                  <a:spcAft>
                    <a:spcPts val="0"/>
                  </a:spcAft>
                  <a:buNone/>
                </a:pPr>
                <a:r>
                  <a:rPr b="0" lang="en-US" sz="875">
                    <a:solidFill>
                      <a:srgbClr val="E2E8F0"/>
                    </a:solidFill>
                    <a:latin typeface="JetBrains Mono"/>
                    <a:ea typeface="JetBrains Mono"/>
                    <a:cs typeface="JetBrains Mono"/>
                    <a:sym typeface="JetBrains Mono"/>
                  </a:rPr>
                  <a:t>PaymentResult </a:t>
                </a:r>
                <a:r>
                  <a:rPr b="0" lang="en-US" sz="875">
                    <a:solidFill>
                      <a:srgbClr val="A7F3D0"/>
                    </a:solidFill>
                    <a:latin typeface="JetBrains Mono"/>
                    <a:ea typeface="JetBrains Mono"/>
                    <a:cs typeface="JetBrains Mono"/>
                    <a:sym typeface="JetBrains Mono"/>
                  </a:rPr>
                  <a:t>charge</a:t>
                </a:r>
                <a:r>
                  <a:rPr b="0" lang="en-US" sz="875">
                    <a:solidFill>
                      <a:srgbClr val="E2E8F0"/>
                    </a:solidFill>
                    <a:latin typeface="JetBrains Mono"/>
                    <a:ea typeface="JetBrains Mono"/>
                    <a:cs typeface="JetBrains Mono"/>
                    <a:sym typeface="JetBrains Mono"/>
                  </a:rPr>
                  <a:t>(BigDecimal amt);</a:t>
                </a:r>
                <a:endParaRPr b="0" sz="875">
                  <a:solidFill>
                    <a:srgbClr val="64748B"/>
                  </a:solidFill>
                  <a:latin typeface="JetBrains Mono"/>
                  <a:ea typeface="JetBrains Mono"/>
                  <a:cs typeface="JetBrains Mono"/>
                  <a:sym typeface="JetBrains Mono"/>
                </a:endParaRPr>
              </a:p>
              <a:p>
                <a:pPr indent="0" lvl="0" marL="0" rtl="0" algn="l">
                  <a:spcBef>
                    <a:spcPts val="200"/>
                  </a:spcBef>
                  <a:spcAft>
                    <a:spcPts val="0"/>
                  </a:spcAft>
                  <a:buNone/>
                </a:pPr>
                <a:r>
                  <a:rPr b="0" lang="en-US" sz="875">
                    <a:solidFill>
                      <a:srgbClr val="E2E8F0"/>
                    </a:solidFill>
                    <a:latin typeface="JetBrains Mono"/>
                    <a:ea typeface="JetBrains Mono"/>
                    <a:cs typeface="JetBrains Mono"/>
                    <a:sym typeface="JetBrains Mono"/>
                  </a:rPr>
                  <a:t>}</a:t>
                </a:r>
                <a:endParaRPr b="0" sz="875">
                  <a:solidFill>
                    <a:srgbClr val="64748B"/>
                  </a:solidFill>
                  <a:latin typeface="JetBrains Mono"/>
                  <a:ea typeface="JetBrains Mono"/>
                  <a:cs typeface="JetBrains Mono"/>
                  <a:sym typeface="JetBrains Mono"/>
                </a:endParaRPr>
              </a:p>
              <a:p>
                <a:pPr indent="0" lvl="0" marL="0" rtl="0" algn="l">
                  <a:spcBef>
                    <a:spcPts val="1000"/>
                  </a:spcBef>
                  <a:spcAft>
                    <a:spcPts val="0"/>
                  </a:spcAft>
                  <a:buNone/>
                </a:pPr>
                <a:r>
                  <a:rPr b="0" lang="en-US" sz="875">
                    <a:solidFill>
                      <a:srgbClr val="64748B"/>
                    </a:solidFill>
                    <a:latin typeface="JetBrains Mono"/>
                    <a:ea typeface="JetBrains Mono"/>
                    <a:cs typeface="JetBrains Mono"/>
                    <a:sym typeface="JetBrains Mono"/>
                  </a:rPr>
                  <a:t>// 2. Concrete implementation</a:t>
                </a:r>
                <a:endParaRPr b="0" sz="875">
                  <a:solidFill>
                    <a:srgbClr val="64748B"/>
                  </a:solidFill>
                  <a:latin typeface="JetBrains Mono"/>
                  <a:ea typeface="JetBrains Mono"/>
                  <a:cs typeface="JetBrains Mono"/>
                  <a:sym typeface="JetBrains Mono"/>
                </a:endParaRPr>
              </a:p>
              <a:p>
                <a:pPr indent="0" lvl="0" marL="0" rtl="0" algn="l">
                  <a:spcBef>
                    <a:spcPts val="200"/>
                  </a:spcBef>
                  <a:spcAft>
                    <a:spcPts val="0"/>
                  </a:spcAft>
                  <a:buNone/>
                </a:pPr>
                <a:r>
                  <a:rPr b="1" lang="en-US" sz="875">
                    <a:solidFill>
                      <a:srgbClr val="F43F5E"/>
                    </a:solidFill>
                    <a:latin typeface="JetBrains Mono"/>
                    <a:ea typeface="JetBrains Mono"/>
                    <a:cs typeface="JetBrains Mono"/>
                    <a:sym typeface="JetBrains Mono"/>
                  </a:rPr>
                  <a:t>public class</a:t>
                </a:r>
                <a:r>
                  <a:rPr b="0" lang="en-US" sz="875">
                    <a:solidFill>
                      <a:srgbClr val="64748B"/>
                    </a:solidFill>
                    <a:latin typeface="JetBrains Mono"/>
                    <a:ea typeface="JetBrains Mono"/>
                    <a:cs typeface="JetBrains Mono"/>
                    <a:sym typeface="JetBrains Mono"/>
                  </a:rPr>
                  <a:t> </a:t>
                </a:r>
                <a:r>
                  <a:rPr b="1" lang="en-US" sz="875">
                    <a:solidFill>
                      <a:srgbClr val="38BDF8"/>
                    </a:solidFill>
                    <a:latin typeface="JetBrains Mono"/>
                    <a:ea typeface="JetBrains Mono"/>
                    <a:cs typeface="JetBrains Mono"/>
                    <a:sym typeface="JetBrains Mono"/>
                  </a:rPr>
                  <a:t>StripeGateway</a:t>
                </a:r>
                <a:r>
                  <a:rPr b="0" lang="en-US" sz="875">
                    <a:solidFill>
                      <a:srgbClr val="64748B"/>
                    </a:solidFill>
                    <a:latin typeface="JetBrains Mono"/>
                    <a:ea typeface="JetBrains Mono"/>
                    <a:cs typeface="JetBrains Mono"/>
                    <a:sym typeface="JetBrains Mono"/>
                  </a:rPr>
                  <a:t> </a:t>
                </a:r>
                <a:r>
                  <a:rPr b="1" lang="en-US" sz="875">
                    <a:solidFill>
                      <a:srgbClr val="F43F5E"/>
                    </a:solidFill>
                    <a:latin typeface="JetBrains Mono"/>
                    <a:ea typeface="JetBrains Mono"/>
                    <a:cs typeface="JetBrains Mono"/>
                    <a:sym typeface="JetBrains Mono"/>
                  </a:rPr>
                  <a:t>implements</a:t>
                </a:r>
                <a:r>
                  <a:rPr b="0" lang="en-US" sz="875">
                    <a:solidFill>
                      <a:srgbClr val="64748B"/>
                    </a:solidFill>
                    <a:latin typeface="JetBrains Mono"/>
                    <a:ea typeface="JetBrains Mono"/>
                    <a:cs typeface="JetBrains Mono"/>
                    <a:sym typeface="JetBrains Mono"/>
                  </a:rPr>
                  <a:t> </a:t>
                </a:r>
                <a:r>
                  <a:rPr b="1" lang="en-US" sz="875">
                    <a:solidFill>
                      <a:srgbClr val="38BDF8"/>
                    </a:solidFill>
                    <a:latin typeface="JetBrains Mono"/>
                    <a:ea typeface="JetBrains Mono"/>
                    <a:cs typeface="JetBrains Mono"/>
                    <a:sym typeface="JetBrains Mono"/>
                  </a:rPr>
                  <a:t>PaymentGateway</a:t>
                </a:r>
                <a:r>
                  <a:rPr b="0" lang="en-US" sz="875">
                    <a:solidFill>
                      <a:srgbClr val="64748B"/>
                    </a:solidFill>
                    <a:latin typeface="JetBrains Mono"/>
                    <a:ea typeface="JetBrains Mono"/>
                    <a:cs typeface="JetBrains Mono"/>
                    <a:sym typeface="JetBrains Mono"/>
                  </a:rPr>
                  <a:t> </a:t>
                </a:r>
                <a:r>
                  <a:rPr b="0" lang="en-US" sz="875">
                    <a:solidFill>
                      <a:srgbClr val="E2E8F0"/>
                    </a:solidFill>
                    <a:latin typeface="JetBrains Mono"/>
                    <a:ea typeface="JetBrains Mono"/>
                    <a:cs typeface="JetBrains Mono"/>
                    <a:sym typeface="JetBrains Mono"/>
                  </a:rPr>
                  <a:t>{</a:t>
                </a:r>
                <a:endParaRPr b="0" sz="875">
                  <a:solidFill>
                    <a:srgbClr val="64748B"/>
                  </a:solidFill>
                  <a:latin typeface="JetBrains Mono"/>
                  <a:ea typeface="JetBrains Mono"/>
                  <a:cs typeface="JetBrains Mono"/>
                  <a:sym typeface="JetBrains Mono"/>
                </a:endParaRPr>
              </a:p>
              <a:p>
                <a:pPr indent="0" lvl="0" marL="177800" marR="0" rtl="0" algn="l">
                  <a:spcBef>
                    <a:spcPts val="200"/>
                  </a:spcBef>
                  <a:spcAft>
                    <a:spcPts val="0"/>
                  </a:spcAft>
                  <a:buNone/>
                </a:pPr>
                <a:r>
                  <a:rPr b="1" lang="en-US" sz="875">
                    <a:solidFill>
                      <a:srgbClr val="F43F5E"/>
                    </a:solidFill>
                    <a:latin typeface="JetBrains Mono"/>
                    <a:ea typeface="JetBrains Mono"/>
                    <a:cs typeface="JetBrains Mono"/>
                    <a:sym typeface="JetBrains Mono"/>
                  </a:rPr>
                  <a:t>public</a:t>
                </a:r>
                <a:r>
                  <a:rPr b="0" lang="en-US" sz="875">
                    <a:solidFill>
                      <a:srgbClr val="64748B"/>
                    </a:solidFill>
                    <a:latin typeface="JetBrains Mono"/>
                    <a:ea typeface="JetBrains Mono"/>
                    <a:cs typeface="JetBrains Mono"/>
                    <a:sym typeface="JetBrains Mono"/>
                  </a:rPr>
                  <a:t> </a:t>
                </a:r>
                <a:r>
                  <a:rPr b="0" lang="en-US" sz="875">
                    <a:solidFill>
                      <a:srgbClr val="E2E8F0"/>
                    </a:solidFill>
                    <a:latin typeface="JetBrains Mono"/>
                    <a:ea typeface="JetBrains Mono"/>
                    <a:cs typeface="JetBrains Mono"/>
                    <a:sym typeface="JetBrains Mono"/>
                  </a:rPr>
                  <a:t>PaymentResult </a:t>
                </a:r>
                <a:r>
                  <a:rPr b="0" lang="en-US" sz="875">
                    <a:solidFill>
                      <a:srgbClr val="A7F3D0"/>
                    </a:solidFill>
                    <a:latin typeface="JetBrains Mono"/>
                    <a:ea typeface="JetBrains Mono"/>
                    <a:cs typeface="JetBrains Mono"/>
                    <a:sym typeface="JetBrains Mono"/>
                  </a:rPr>
                  <a:t>charge</a:t>
                </a:r>
                <a:r>
                  <a:rPr b="0" lang="en-US" sz="875">
                    <a:solidFill>
                      <a:srgbClr val="E2E8F0"/>
                    </a:solidFill>
                    <a:latin typeface="JetBrains Mono"/>
                    <a:ea typeface="JetBrains Mono"/>
                    <a:cs typeface="JetBrains Mono"/>
                    <a:sym typeface="JetBrains Mono"/>
                  </a:rPr>
                  <a:t>(BigDecimal amt) {</a:t>
                </a:r>
                <a:endParaRPr b="0" sz="875">
                  <a:solidFill>
                    <a:srgbClr val="64748B"/>
                  </a:solidFill>
                  <a:latin typeface="JetBrains Mono"/>
                  <a:ea typeface="JetBrains Mono"/>
                  <a:cs typeface="JetBrains Mono"/>
                  <a:sym typeface="JetBrains Mono"/>
                </a:endParaRPr>
              </a:p>
              <a:p>
                <a:pPr indent="0" lvl="0" marL="355600" marR="0" rtl="0" algn="l">
                  <a:spcBef>
                    <a:spcPts val="200"/>
                  </a:spcBef>
                  <a:spcAft>
                    <a:spcPts val="0"/>
                  </a:spcAft>
                  <a:buNone/>
                </a:pPr>
                <a:r>
                  <a:rPr b="0" lang="en-US" sz="875">
                    <a:solidFill>
                      <a:srgbClr val="64748B"/>
                    </a:solidFill>
                    <a:latin typeface="JetBrains Mono"/>
                    <a:ea typeface="JetBrains Mono"/>
                    <a:cs typeface="JetBrains Mono"/>
                    <a:sym typeface="JetBrains Mono"/>
                  </a:rPr>
                  <a:t>// Stripe REST API call implementation</a:t>
                </a:r>
                <a:endParaRPr b="0" sz="875">
                  <a:solidFill>
                    <a:srgbClr val="64748B"/>
                  </a:solidFill>
                  <a:latin typeface="JetBrains Mono"/>
                  <a:ea typeface="JetBrains Mono"/>
                  <a:cs typeface="JetBrains Mono"/>
                  <a:sym typeface="JetBrains Mono"/>
                </a:endParaRPr>
              </a:p>
              <a:p>
                <a:pPr indent="0" lvl="0" marL="177800" marR="0" rtl="0" algn="l">
                  <a:spcBef>
                    <a:spcPts val="200"/>
                  </a:spcBef>
                  <a:spcAft>
                    <a:spcPts val="0"/>
                  </a:spcAft>
                  <a:buNone/>
                </a:pPr>
                <a:r>
                  <a:rPr b="0" lang="en-US" sz="875">
                    <a:solidFill>
                      <a:srgbClr val="E2E8F0"/>
                    </a:solidFill>
                    <a:latin typeface="JetBrains Mono"/>
                    <a:ea typeface="JetBrains Mono"/>
                    <a:cs typeface="JetBrains Mono"/>
                    <a:sym typeface="JetBrains Mono"/>
                  </a:rPr>
                  <a:t>}</a:t>
                </a:r>
                <a:endParaRPr b="0" sz="875">
                  <a:solidFill>
                    <a:srgbClr val="64748B"/>
                  </a:solidFill>
                  <a:latin typeface="JetBrains Mono"/>
                  <a:ea typeface="JetBrains Mono"/>
                  <a:cs typeface="JetBrains Mono"/>
                  <a:sym typeface="JetBrains Mono"/>
                </a:endParaRPr>
              </a:p>
              <a:p>
                <a:pPr indent="0" lvl="0" marL="0" rtl="0" algn="l">
                  <a:spcBef>
                    <a:spcPts val="200"/>
                  </a:spcBef>
                  <a:spcAft>
                    <a:spcPts val="0"/>
                  </a:spcAft>
                  <a:buNone/>
                </a:pPr>
                <a:r>
                  <a:rPr b="0" lang="en-US" sz="875">
                    <a:solidFill>
                      <a:srgbClr val="E2E8F0"/>
                    </a:solidFill>
                    <a:latin typeface="JetBrains Mono"/>
                    <a:ea typeface="JetBrains Mono"/>
                    <a:cs typeface="JetBrains Mono"/>
                    <a:sym typeface="JetBrains Mono"/>
                  </a:rPr>
                  <a:t>}</a:t>
                </a:r>
                <a:endParaRPr b="0" sz="875">
                  <a:solidFill>
                    <a:srgbClr val="64748B"/>
                  </a:solidFill>
                  <a:latin typeface="JetBrains Mono"/>
                  <a:ea typeface="JetBrains Mono"/>
                  <a:cs typeface="JetBrains Mono"/>
                  <a:sym typeface="JetBrains Mono"/>
                </a:endParaRPr>
              </a:p>
            </p:txBody>
          </p:sp>
        </p:grpSp>
        <p:grpSp>
          <p:nvGrpSpPr>
            <p:cNvPr id="341" name="Google Shape;341;p22"/>
            <p:cNvGrpSpPr/>
            <p:nvPr/>
          </p:nvGrpSpPr>
          <p:grpSpPr>
            <a:xfrm>
              <a:off x="152400" y="3695700"/>
              <a:ext cx="4953000" cy="628800"/>
              <a:chOff x="0" y="0"/>
              <a:chExt cx="4953000" cy="628800"/>
            </a:xfrm>
          </p:grpSpPr>
          <p:sp>
            <p:nvSpPr>
              <p:cNvPr id="342" name="Google Shape;342;p22"/>
              <p:cNvSpPr/>
              <p:nvPr/>
            </p:nvSpPr>
            <p:spPr>
              <a:xfrm>
                <a:off x="0" y="0"/>
                <a:ext cx="4953000" cy="628800"/>
              </a:xfrm>
              <a:prstGeom prst="roundRect">
                <a:avLst>
                  <a:gd fmla="val 9090" name="adj"/>
                </a:avLst>
              </a:prstGeom>
              <a:solidFill>
                <a:srgbClr val="ECFDF5"/>
              </a:solidFill>
              <a:ln cap="flat" cmpd="sng" w="9525">
                <a:solidFill>
                  <a:srgbClr val="A7F3D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3" name="Google Shape;343;p22"/>
              <p:cNvSpPr txBox="1"/>
              <p:nvPr/>
            </p:nvSpPr>
            <p:spPr>
              <a:xfrm>
                <a:off x="114300" y="57150"/>
                <a:ext cx="4724400" cy="514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800">
                    <a:solidFill>
                      <a:srgbClr val="047857"/>
                    </a:solidFill>
                    <a:latin typeface="Plus Jakarta Sans"/>
                    <a:ea typeface="Plus Jakarta Sans"/>
                    <a:cs typeface="Plus Jakarta Sans"/>
                    <a:sym typeface="Plus Jakarta Sans"/>
                  </a:rPr>
                  <a:t>QA VIEW &amp; BENEFIT</a:t>
                </a:r>
                <a:endParaRPr b="1" sz="800">
                  <a:solidFill>
                    <a:srgbClr val="047857"/>
                  </a:solidFill>
                  <a:latin typeface="Plus Jakarta Sans"/>
                  <a:ea typeface="Plus Jakarta Sans"/>
                  <a:cs typeface="Plus Jakarta Sans"/>
                  <a:sym typeface="Plus Jakarta Sans"/>
                </a:endParaRPr>
              </a:p>
              <a:p>
                <a:pPr indent="0" lvl="0" marL="0" rtl="0" algn="l">
                  <a:spcBef>
                    <a:spcPts val="200"/>
                  </a:spcBef>
                  <a:spcAft>
                    <a:spcPts val="0"/>
                  </a:spcAft>
                  <a:buNone/>
                </a:pPr>
                <a:r>
                  <a:rPr b="0" lang="en-US" sz="950">
                    <a:solidFill>
                      <a:srgbClr val="065F46"/>
                    </a:solidFill>
                    <a:latin typeface="Plus Jakarta Sans Medium"/>
                    <a:ea typeface="Plus Jakarta Sans Medium"/>
                    <a:cs typeface="Plus Jakarta Sans Medium"/>
                    <a:sym typeface="Plus Jakarta Sans Medium"/>
                  </a:rPr>
                  <a:t>Decouples clients from specific vendor implementations. Enables easy mock testing without real bank servers.</a:t>
                </a:r>
                <a:endParaRPr b="0" sz="950">
                  <a:solidFill>
                    <a:srgbClr val="065F46"/>
                  </a:solidFill>
                  <a:latin typeface="Plus Jakarta Sans Medium"/>
                  <a:ea typeface="Plus Jakarta Sans Medium"/>
                  <a:cs typeface="Plus Jakarta Sans Medium"/>
                  <a:sym typeface="Plus Jakarta Sans Medium"/>
                </a:endParaRPr>
              </a:p>
            </p:txBody>
          </p:sp>
        </p:grpSp>
      </p:grpSp>
      <p:grpSp>
        <p:nvGrpSpPr>
          <p:cNvPr id="344" name="Google Shape;344;p22"/>
          <p:cNvGrpSpPr/>
          <p:nvPr/>
        </p:nvGrpSpPr>
        <p:grpSpPr>
          <a:xfrm>
            <a:off x="6248400" y="1962150"/>
            <a:ext cx="5257800" cy="4476900"/>
            <a:chOff x="0" y="0"/>
            <a:chExt cx="5257800" cy="4476900"/>
          </a:xfrm>
        </p:grpSpPr>
        <p:sp>
          <p:nvSpPr>
            <p:cNvPr id="345" name="Google Shape;345;p22"/>
            <p:cNvSpPr/>
            <p:nvPr/>
          </p:nvSpPr>
          <p:spPr>
            <a:xfrm>
              <a:off x="0" y="0"/>
              <a:ext cx="5257800" cy="4476900"/>
            </a:xfrm>
            <a:prstGeom prst="roundRect">
              <a:avLst>
                <a:gd fmla="val 2553"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6" name="Google Shape;346;p22"/>
            <p:cNvSpPr txBox="1"/>
            <p:nvPr/>
          </p:nvSpPr>
          <p:spPr>
            <a:xfrm>
              <a:off x="190500" y="152400"/>
              <a:ext cx="4876800" cy="857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850">
                  <a:solidFill>
                    <a:srgbClr val="B45309"/>
                  </a:solidFill>
                  <a:latin typeface="Plus Jakarta Sans"/>
                  <a:ea typeface="Plus Jakarta Sans"/>
                  <a:cs typeface="Plus Jakarta Sans"/>
                  <a:sym typeface="Plus Jakarta Sans"/>
                </a:rPr>
                <a:t>ABSTRACT CLASS</a:t>
              </a:r>
              <a:endParaRPr b="1" sz="850">
                <a:solidFill>
                  <a:srgbClr val="B45309"/>
                </a:solidFill>
                <a:latin typeface="Plus Jakarta Sans"/>
                <a:ea typeface="Plus Jakarta Sans"/>
                <a:cs typeface="Plus Jakarta Sans"/>
                <a:sym typeface="Plus Jakarta Sans"/>
              </a:endParaRPr>
            </a:p>
            <a:p>
              <a:pPr indent="0" lvl="0" marL="0" rtl="0" algn="l">
                <a:spcBef>
                  <a:spcPts val="200"/>
                </a:spcBef>
                <a:spcAft>
                  <a:spcPts val="0"/>
                </a:spcAft>
                <a:buNone/>
              </a:pPr>
              <a:r>
                <a:rPr b="1" lang="en-US" sz="1800">
                  <a:solidFill>
                    <a:srgbClr val="0F172A"/>
                  </a:solidFill>
                  <a:latin typeface="Plus Jakarta Sans"/>
                  <a:ea typeface="Plus Jakarta Sans"/>
                  <a:cs typeface="Plus Jakarta Sans"/>
                  <a:sym typeface="Plus Jakarta Sans"/>
                </a:rPr>
                <a:t>Template Pattern</a:t>
              </a:r>
              <a:endParaRPr b="1" sz="1800">
                <a:solidFill>
                  <a:srgbClr val="0F172A"/>
                </a:solidFill>
                <a:latin typeface="Plus Jakarta Sans"/>
                <a:ea typeface="Plus Jakarta Sans"/>
                <a:cs typeface="Plus Jakarta Sans"/>
                <a:sym typeface="Plus Jakarta Sans"/>
              </a:endParaRPr>
            </a:p>
            <a:p>
              <a:pPr indent="0" lvl="0" marL="0" rtl="0" algn="l">
                <a:spcBef>
                  <a:spcPts val="400"/>
                </a:spcBef>
                <a:spcAft>
                  <a:spcPts val="0"/>
                </a:spcAft>
                <a:buNone/>
              </a:pPr>
              <a:r>
                <a:rPr b="0" lang="en-US" sz="1000">
                  <a:solidFill>
                    <a:srgbClr val="475569"/>
                  </a:solidFill>
                  <a:latin typeface="Plus Jakarta Sans"/>
                  <a:ea typeface="Plus Jakarta Sans"/>
                  <a:cs typeface="Plus Jakarta Sans"/>
                  <a:sym typeface="Plus Jakarta Sans"/>
                </a:rPr>
                <a:t>Provides common state (connection pools, timeouts) and enforces a template workflow mixing concrete and abstract methods.</a:t>
              </a:r>
              <a:endParaRPr b="0" sz="1000">
                <a:solidFill>
                  <a:srgbClr val="475569"/>
                </a:solidFill>
                <a:latin typeface="Plus Jakarta Sans"/>
                <a:ea typeface="Plus Jakarta Sans"/>
                <a:cs typeface="Plus Jakarta Sans"/>
                <a:sym typeface="Plus Jakarta Sans"/>
              </a:endParaRPr>
            </a:p>
          </p:txBody>
        </p:sp>
        <p:grpSp>
          <p:nvGrpSpPr>
            <p:cNvPr id="347" name="Google Shape;347;p22"/>
            <p:cNvGrpSpPr/>
            <p:nvPr/>
          </p:nvGrpSpPr>
          <p:grpSpPr>
            <a:xfrm>
              <a:off x="152400" y="1085850"/>
              <a:ext cx="4953000" cy="2495700"/>
              <a:chOff x="0" y="0"/>
              <a:chExt cx="4953000" cy="2495700"/>
            </a:xfrm>
          </p:grpSpPr>
          <p:sp>
            <p:nvSpPr>
              <p:cNvPr id="348" name="Google Shape;348;p22"/>
              <p:cNvSpPr/>
              <p:nvPr/>
            </p:nvSpPr>
            <p:spPr>
              <a:xfrm>
                <a:off x="0" y="0"/>
                <a:ext cx="4953000" cy="2495700"/>
              </a:xfrm>
              <a:prstGeom prst="roundRect">
                <a:avLst>
                  <a:gd fmla="val 3053" name="adj"/>
                </a:avLst>
              </a:prstGeom>
              <a:solidFill>
                <a:srgbClr val="0F172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9" name="Google Shape;349;p22"/>
              <p:cNvSpPr/>
              <p:nvPr/>
            </p:nvSpPr>
            <p:spPr>
              <a:xfrm>
                <a:off x="104775" y="95250"/>
                <a:ext cx="76200" cy="76200"/>
              </a:xfrm>
              <a:prstGeom prst="ellipse">
                <a:avLst/>
              </a:prstGeom>
              <a:solidFill>
                <a:srgbClr val="EF44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0" name="Google Shape;350;p22"/>
              <p:cNvSpPr/>
              <p:nvPr/>
            </p:nvSpPr>
            <p:spPr>
              <a:xfrm>
                <a:off x="219075" y="95250"/>
                <a:ext cx="76200" cy="76200"/>
              </a:xfrm>
              <a:prstGeom prst="ellipse">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1" name="Google Shape;351;p22"/>
              <p:cNvSpPr/>
              <p:nvPr/>
            </p:nvSpPr>
            <p:spPr>
              <a:xfrm>
                <a:off x="333375" y="95250"/>
                <a:ext cx="76200" cy="76200"/>
              </a:xfrm>
              <a:prstGeom prst="ellipse">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352" name="Google Shape;352;p22"/>
              <p:cNvCxnSpPr/>
              <p:nvPr/>
            </p:nvCxnSpPr>
            <p:spPr>
              <a:xfrm>
                <a:off x="0" y="266700"/>
                <a:ext cx="4953000" cy="0"/>
              </a:xfrm>
              <a:prstGeom prst="straightConnector1">
                <a:avLst/>
              </a:prstGeom>
              <a:solidFill>
                <a:srgbClr val="FFFFFF"/>
              </a:solidFill>
              <a:ln cap="flat" cmpd="sng" w="9525">
                <a:solidFill>
                  <a:srgbClr val="1E293B"/>
                </a:solidFill>
                <a:prstDash val="solid"/>
                <a:round/>
                <a:headEnd len="sm" w="sm" type="none"/>
                <a:tailEnd len="sm" w="sm" type="none"/>
              </a:ln>
            </p:spPr>
          </p:cxnSp>
          <p:sp>
            <p:nvSpPr>
              <p:cNvPr id="353" name="Google Shape;353;p22"/>
              <p:cNvSpPr txBox="1"/>
              <p:nvPr/>
            </p:nvSpPr>
            <p:spPr>
              <a:xfrm>
                <a:off x="476250" y="57150"/>
                <a:ext cx="4286400" cy="171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850">
                    <a:solidFill>
                      <a:srgbClr val="94A3B8"/>
                    </a:solidFill>
                    <a:latin typeface="JetBrains Mono Medium"/>
                    <a:ea typeface="JetBrains Mono Medium"/>
                    <a:cs typeface="JetBrains Mono Medium"/>
                    <a:sym typeface="JetBrains Mono Medium"/>
                  </a:rPr>
                  <a:t>BaseSettlementEngine.java</a:t>
                </a:r>
                <a:endParaRPr b="0" sz="850">
                  <a:solidFill>
                    <a:srgbClr val="94A3B8"/>
                  </a:solidFill>
                  <a:latin typeface="JetBrains Mono Medium"/>
                  <a:ea typeface="JetBrains Mono Medium"/>
                  <a:cs typeface="JetBrains Mono Medium"/>
                  <a:sym typeface="JetBrains Mono Medium"/>
                </a:endParaRPr>
              </a:p>
            </p:txBody>
          </p:sp>
          <p:sp>
            <p:nvSpPr>
              <p:cNvPr id="354" name="Google Shape;354;p22"/>
              <p:cNvSpPr txBox="1"/>
              <p:nvPr/>
            </p:nvSpPr>
            <p:spPr>
              <a:xfrm>
                <a:off x="133350" y="323850"/>
                <a:ext cx="4686300" cy="2095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875">
                    <a:solidFill>
                      <a:srgbClr val="F43F5E"/>
                    </a:solidFill>
                    <a:latin typeface="JetBrains Mono"/>
                    <a:ea typeface="JetBrains Mono"/>
                    <a:cs typeface="JetBrains Mono"/>
                    <a:sym typeface="JetBrains Mono"/>
                  </a:rPr>
                  <a:t>public abstract class</a:t>
                </a:r>
                <a:r>
                  <a:rPr b="0" lang="en-US" sz="875">
                    <a:solidFill>
                      <a:srgbClr val="64748B"/>
                    </a:solidFill>
                    <a:latin typeface="JetBrains Mono"/>
                    <a:ea typeface="JetBrains Mono"/>
                    <a:cs typeface="JetBrains Mono"/>
                    <a:sym typeface="JetBrains Mono"/>
                  </a:rPr>
                  <a:t> </a:t>
                </a:r>
                <a:r>
                  <a:rPr b="1" lang="en-US" sz="875">
                    <a:solidFill>
                      <a:srgbClr val="38BDF8"/>
                    </a:solidFill>
                    <a:latin typeface="JetBrains Mono"/>
                    <a:ea typeface="JetBrains Mono"/>
                    <a:cs typeface="JetBrains Mono"/>
                    <a:sym typeface="JetBrains Mono"/>
                  </a:rPr>
                  <a:t>BaseSettlementEngine</a:t>
                </a:r>
                <a:r>
                  <a:rPr b="0" lang="en-US" sz="875">
                    <a:solidFill>
                      <a:srgbClr val="64748B"/>
                    </a:solidFill>
                    <a:latin typeface="JetBrains Mono"/>
                    <a:ea typeface="JetBrains Mono"/>
                    <a:cs typeface="JetBrains Mono"/>
                    <a:sym typeface="JetBrains Mono"/>
                  </a:rPr>
                  <a:t> </a:t>
                </a:r>
                <a:r>
                  <a:rPr b="0" lang="en-US" sz="875">
                    <a:solidFill>
                      <a:srgbClr val="E2E8F0"/>
                    </a:solidFill>
                    <a:latin typeface="JetBrains Mono"/>
                    <a:ea typeface="JetBrains Mono"/>
                    <a:cs typeface="JetBrains Mono"/>
                    <a:sym typeface="JetBrains Mono"/>
                  </a:rPr>
                  <a:t>{</a:t>
                </a:r>
                <a:endParaRPr b="0" sz="875">
                  <a:solidFill>
                    <a:srgbClr val="64748B"/>
                  </a:solidFill>
                  <a:latin typeface="JetBrains Mono"/>
                  <a:ea typeface="JetBrains Mono"/>
                  <a:cs typeface="JetBrains Mono"/>
                  <a:sym typeface="JetBrains Mono"/>
                </a:endParaRPr>
              </a:p>
              <a:p>
                <a:pPr indent="0" lvl="0" marL="177800" marR="0" rtl="0" algn="l">
                  <a:spcBef>
                    <a:spcPts val="200"/>
                  </a:spcBef>
                  <a:spcAft>
                    <a:spcPts val="0"/>
                  </a:spcAft>
                  <a:buNone/>
                </a:pPr>
                <a:r>
                  <a:rPr b="1" lang="en-US" sz="875">
                    <a:solidFill>
                      <a:srgbClr val="F43F5E"/>
                    </a:solidFill>
                    <a:latin typeface="JetBrains Mono"/>
                    <a:ea typeface="JetBrains Mono"/>
                    <a:cs typeface="JetBrains Mono"/>
                    <a:sym typeface="JetBrains Mono"/>
                  </a:rPr>
                  <a:t>protected int</a:t>
                </a:r>
                <a:r>
                  <a:rPr b="0" lang="en-US" sz="875">
                    <a:solidFill>
                      <a:srgbClr val="64748B"/>
                    </a:solidFill>
                    <a:latin typeface="JetBrains Mono"/>
                    <a:ea typeface="JetBrains Mono"/>
                    <a:cs typeface="JetBrains Mono"/>
                    <a:sym typeface="JetBrains Mono"/>
                  </a:rPr>
                  <a:t> </a:t>
                </a:r>
                <a:r>
                  <a:rPr b="0" lang="en-US" sz="875">
                    <a:solidFill>
                      <a:srgbClr val="E2E8F0"/>
                    </a:solidFill>
                    <a:latin typeface="JetBrains Mono"/>
                    <a:ea typeface="JetBrains Mono"/>
                    <a:cs typeface="JetBrains Mono"/>
                    <a:sym typeface="JetBrains Mono"/>
                  </a:rPr>
                  <a:t>timeoutMs = </a:t>
                </a:r>
                <a:r>
                  <a:rPr b="0" lang="en-US" sz="875">
                    <a:solidFill>
                      <a:srgbClr val="F43F5E"/>
                    </a:solidFill>
                    <a:latin typeface="JetBrains Mono"/>
                    <a:ea typeface="JetBrains Mono"/>
                    <a:cs typeface="JetBrains Mono"/>
                    <a:sym typeface="JetBrains Mono"/>
                  </a:rPr>
                  <a:t>5000</a:t>
                </a:r>
                <a:r>
                  <a:rPr b="0" lang="en-US" sz="875">
                    <a:solidFill>
                      <a:srgbClr val="E2E8F0"/>
                    </a:solidFill>
                    <a:latin typeface="JetBrains Mono"/>
                    <a:ea typeface="JetBrains Mono"/>
                    <a:cs typeface="JetBrains Mono"/>
                    <a:sym typeface="JetBrains Mono"/>
                  </a:rPr>
                  <a:t>; </a:t>
                </a:r>
                <a:r>
                  <a:rPr b="0" lang="en-US" sz="875">
                    <a:solidFill>
                      <a:srgbClr val="64748B"/>
                    </a:solidFill>
                    <a:latin typeface="JetBrains Mono"/>
                    <a:ea typeface="JetBrains Mono"/>
                    <a:cs typeface="JetBrains Mono"/>
                    <a:sym typeface="JetBrains Mono"/>
                  </a:rPr>
                  <a:t>// State</a:t>
                </a:r>
                <a:endParaRPr b="0" sz="875">
                  <a:solidFill>
                    <a:srgbClr val="64748B"/>
                  </a:solidFill>
                  <a:latin typeface="JetBrains Mono"/>
                  <a:ea typeface="JetBrains Mono"/>
                  <a:cs typeface="JetBrains Mono"/>
                  <a:sym typeface="JetBrains Mono"/>
                </a:endParaRPr>
              </a:p>
              <a:p>
                <a:pPr indent="0" lvl="0" marL="177800" marR="0" rtl="0" algn="l">
                  <a:spcBef>
                    <a:spcPts val="800"/>
                  </a:spcBef>
                  <a:spcAft>
                    <a:spcPts val="0"/>
                  </a:spcAft>
                  <a:buNone/>
                </a:pPr>
                <a:r>
                  <a:rPr b="1" lang="en-US" sz="875">
                    <a:solidFill>
                      <a:srgbClr val="F43F5E"/>
                    </a:solidFill>
                    <a:latin typeface="JetBrains Mono"/>
                    <a:ea typeface="JetBrains Mono"/>
                    <a:cs typeface="JetBrains Mono"/>
                    <a:sym typeface="JetBrains Mono"/>
                  </a:rPr>
                  <a:t>public void</a:t>
                </a:r>
                <a:r>
                  <a:rPr b="0" lang="en-US" sz="875">
                    <a:solidFill>
                      <a:srgbClr val="64748B"/>
                    </a:solidFill>
                    <a:latin typeface="JetBrains Mono"/>
                    <a:ea typeface="JetBrains Mono"/>
                    <a:cs typeface="JetBrains Mono"/>
                    <a:sym typeface="JetBrains Mono"/>
                  </a:rPr>
                  <a:t> </a:t>
                </a:r>
                <a:r>
                  <a:rPr b="0" lang="en-US" sz="875">
                    <a:solidFill>
                      <a:srgbClr val="A7F3D0"/>
                    </a:solidFill>
                    <a:latin typeface="JetBrains Mono"/>
                    <a:ea typeface="JetBrains Mono"/>
                    <a:cs typeface="JetBrains Mono"/>
                    <a:sym typeface="JetBrains Mono"/>
                  </a:rPr>
                  <a:t>execute</a:t>
                </a:r>
                <a:r>
                  <a:rPr b="0" lang="en-US" sz="875">
                    <a:solidFill>
                      <a:srgbClr val="E2E8F0"/>
                    </a:solidFill>
                    <a:latin typeface="JetBrains Mono"/>
                    <a:ea typeface="JetBrains Mono"/>
                    <a:cs typeface="JetBrains Mono"/>
                    <a:sym typeface="JetBrains Mono"/>
                  </a:rPr>
                  <a:t>() { </a:t>
                </a:r>
                <a:r>
                  <a:rPr b="0" lang="en-US" sz="875">
                    <a:solidFill>
                      <a:srgbClr val="64748B"/>
                    </a:solidFill>
                    <a:latin typeface="JetBrains Mono"/>
                    <a:ea typeface="JetBrains Mono"/>
                    <a:cs typeface="JetBrains Mono"/>
                    <a:sym typeface="JetBrains Mono"/>
                  </a:rPr>
                  <a:t>// Template method</a:t>
                </a:r>
                <a:endParaRPr b="0" sz="875">
                  <a:solidFill>
                    <a:srgbClr val="64748B"/>
                  </a:solidFill>
                  <a:latin typeface="JetBrains Mono"/>
                  <a:ea typeface="JetBrains Mono"/>
                  <a:cs typeface="JetBrains Mono"/>
                  <a:sym typeface="JetBrains Mono"/>
                </a:endParaRPr>
              </a:p>
              <a:p>
                <a:pPr indent="0" lvl="0" marL="355600" marR="0" rtl="0" algn="l">
                  <a:spcBef>
                    <a:spcPts val="200"/>
                  </a:spcBef>
                  <a:spcAft>
                    <a:spcPts val="0"/>
                  </a:spcAft>
                  <a:buNone/>
                </a:pPr>
                <a:r>
                  <a:rPr b="0" lang="en-US" sz="875">
                    <a:solidFill>
                      <a:srgbClr val="E2E8F0"/>
                    </a:solidFill>
                    <a:latin typeface="JetBrains Mono"/>
                    <a:ea typeface="JetBrains Mono"/>
                    <a:cs typeface="JetBrains Mono"/>
                    <a:sym typeface="JetBrains Mono"/>
                  </a:rPr>
                  <a:t>connect();</a:t>
                </a:r>
                <a:endParaRPr b="0" sz="875">
                  <a:solidFill>
                    <a:srgbClr val="64748B"/>
                  </a:solidFill>
                  <a:latin typeface="JetBrains Mono"/>
                  <a:ea typeface="JetBrains Mono"/>
                  <a:cs typeface="JetBrains Mono"/>
                  <a:sym typeface="JetBrains Mono"/>
                </a:endParaRPr>
              </a:p>
              <a:p>
                <a:pPr indent="0" lvl="0" marL="355600" marR="0" rtl="0" algn="l">
                  <a:spcBef>
                    <a:spcPts val="200"/>
                  </a:spcBef>
                  <a:spcAft>
                    <a:spcPts val="0"/>
                  </a:spcAft>
                  <a:buNone/>
                </a:pPr>
                <a:r>
                  <a:rPr b="0" lang="en-US" sz="875">
                    <a:solidFill>
                      <a:srgbClr val="E2E8F0"/>
                    </a:solidFill>
                    <a:latin typeface="JetBrains Mono"/>
                    <a:ea typeface="JetBrains Mono"/>
                    <a:cs typeface="JetBrains Mono"/>
                    <a:sym typeface="JetBrains Mono"/>
                  </a:rPr>
                  <a:t>processSettlement(); </a:t>
                </a:r>
                <a:r>
                  <a:rPr b="0" lang="en-US" sz="875">
                    <a:solidFill>
                      <a:srgbClr val="64748B"/>
                    </a:solidFill>
                    <a:latin typeface="JetBrains Mono"/>
                    <a:ea typeface="JetBrains Mono"/>
                    <a:cs typeface="JetBrains Mono"/>
                    <a:sym typeface="JetBrains Mono"/>
                  </a:rPr>
                  <a:t>// Abstract step</a:t>
                </a:r>
                <a:endParaRPr b="0" sz="875">
                  <a:solidFill>
                    <a:srgbClr val="64748B"/>
                  </a:solidFill>
                  <a:latin typeface="JetBrains Mono"/>
                  <a:ea typeface="JetBrains Mono"/>
                  <a:cs typeface="JetBrains Mono"/>
                  <a:sym typeface="JetBrains Mono"/>
                </a:endParaRPr>
              </a:p>
              <a:p>
                <a:pPr indent="0" lvl="0" marL="355600" marR="0" rtl="0" algn="l">
                  <a:spcBef>
                    <a:spcPts val="200"/>
                  </a:spcBef>
                  <a:spcAft>
                    <a:spcPts val="0"/>
                  </a:spcAft>
                  <a:buNone/>
                </a:pPr>
                <a:r>
                  <a:rPr b="0" lang="en-US" sz="875">
                    <a:solidFill>
                      <a:srgbClr val="E2E8F0"/>
                    </a:solidFill>
                    <a:latin typeface="JetBrains Mono"/>
                    <a:ea typeface="JetBrains Mono"/>
                    <a:cs typeface="JetBrains Mono"/>
                    <a:sym typeface="JetBrains Mono"/>
                  </a:rPr>
                  <a:t>disconnect();</a:t>
                </a:r>
                <a:endParaRPr b="0" sz="875">
                  <a:solidFill>
                    <a:srgbClr val="64748B"/>
                  </a:solidFill>
                  <a:latin typeface="JetBrains Mono"/>
                  <a:ea typeface="JetBrains Mono"/>
                  <a:cs typeface="JetBrains Mono"/>
                  <a:sym typeface="JetBrains Mono"/>
                </a:endParaRPr>
              </a:p>
              <a:p>
                <a:pPr indent="0" lvl="0" marL="177800" marR="0" rtl="0" algn="l">
                  <a:spcBef>
                    <a:spcPts val="200"/>
                  </a:spcBef>
                  <a:spcAft>
                    <a:spcPts val="0"/>
                  </a:spcAft>
                  <a:buNone/>
                </a:pPr>
                <a:r>
                  <a:rPr b="0" lang="en-US" sz="875">
                    <a:solidFill>
                      <a:srgbClr val="E2E8F0"/>
                    </a:solidFill>
                    <a:latin typeface="JetBrains Mono"/>
                    <a:ea typeface="JetBrains Mono"/>
                    <a:cs typeface="JetBrains Mono"/>
                    <a:sym typeface="JetBrains Mono"/>
                  </a:rPr>
                  <a:t>}</a:t>
                </a:r>
                <a:endParaRPr b="0" sz="875">
                  <a:solidFill>
                    <a:srgbClr val="64748B"/>
                  </a:solidFill>
                  <a:latin typeface="JetBrains Mono"/>
                  <a:ea typeface="JetBrains Mono"/>
                  <a:cs typeface="JetBrains Mono"/>
                  <a:sym typeface="JetBrains Mono"/>
                </a:endParaRPr>
              </a:p>
              <a:p>
                <a:pPr indent="0" lvl="0" marL="177800" marR="0" rtl="0" algn="l">
                  <a:spcBef>
                    <a:spcPts val="800"/>
                  </a:spcBef>
                  <a:spcAft>
                    <a:spcPts val="0"/>
                  </a:spcAft>
                  <a:buNone/>
                </a:pPr>
                <a:r>
                  <a:rPr b="1" lang="en-US" sz="875">
                    <a:solidFill>
                      <a:srgbClr val="F43F5E"/>
                    </a:solidFill>
                    <a:latin typeface="JetBrains Mono"/>
                    <a:ea typeface="JetBrains Mono"/>
                    <a:cs typeface="JetBrains Mono"/>
                    <a:sym typeface="JetBrains Mono"/>
                  </a:rPr>
                  <a:t>protected abstract void</a:t>
                </a:r>
                <a:r>
                  <a:rPr b="0" lang="en-US" sz="875">
                    <a:solidFill>
                      <a:srgbClr val="64748B"/>
                    </a:solidFill>
                    <a:latin typeface="JetBrains Mono"/>
                    <a:ea typeface="JetBrains Mono"/>
                    <a:cs typeface="JetBrains Mono"/>
                    <a:sym typeface="JetBrains Mono"/>
                  </a:rPr>
                  <a:t> </a:t>
                </a:r>
                <a:r>
                  <a:rPr b="0" lang="en-US" sz="875">
                    <a:solidFill>
                      <a:srgbClr val="A7F3D0"/>
                    </a:solidFill>
                    <a:latin typeface="JetBrains Mono"/>
                    <a:ea typeface="JetBrains Mono"/>
                    <a:cs typeface="JetBrains Mono"/>
                    <a:sym typeface="JetBrains Mono"/>
                  </a:rPr>
                  <a:t>processSettlement</a:t>
                </a:r>
                <a:r>
                  <a:rPr b="0" lang="en-US" sz="875">
                    <a:solidFill>
                      <a:srgbClr val="E2E8F0"/>
                    </a:solidFill>
                    <a:latin typeface="JetBrains Mono"/>
                    <a:ea typeface="JetBrains Mono"/>
                    <a:cs typeface="JetBrains Mono"/>
                    <a:sym typeface="JetBrains Mono"/>
                  </a:rPr>
                  <a:t>();</a:t>
                </a:r>
                <a:endParaRPr b="0" sz="875">
                  <a:solidFill>
                    <a:srgbClr val="64748B"/>
                  </a:solidFill>
                  <a:latin typeface="JetBrains Mono"/>
                  <a:ea typeface="JetBrains Mono"/>
                  <a:cs typeface="JetBrains Mono"/>
                  <a:sym typeface="JetBrains Mono"/>
                </a:endParaRPr>
              </a:p>
              <a:p>
                <a:pPr indent="0" lvl="0" marL="0" rtl="0" algn="l">
                  <a:spcBef>
                    <a:spcPts val="200"/>
                  </a:spcBef>
                  <a:spcAft>
                    <a:spcPts val="0"/>
                  </a:spcAft>
                  <a:buNone/>
                </a:pPr>
                <a:r>
                  <a:rPr b="0" lang="en-US" sz="875">
                    <a:solidFill>
                      <a:srgbClr val="E2E8F0"/>
                    </a:solidFill>
                    <a:latin typeface="JetBrains Mono"/>
                    <a:ea typeface="JetBrains Mono"/>
                    <a:cs typeface="JetBrains Mono"/>
                    <a:sym typeface="JetBrains Mono"/>
                  </a:rPr>
                  <a:t>}</a:t>
                </a:r>
                <a:endParaRPr b="0" sz="875">
                  <a:solidFill>
                    <a:srgbClr val="64748B"/>
                  </a:solidFill>
                  <a:latin typeface="JetBrains Mono"/>
                  <a:ea typeface="JetBrains Mono"/>
                  <a:cs typeface="JetBrains Mono"/>
                  <a:sym typeface="JetBrains Mono"/>
                </a:endParaRPr>
              </a:p>
            </p:txBody>
          </p:sp>
        </p:grpSp>
        <p:grpSp>
          <p:nvGrpSpPr>
            <p:cNvPr id="355" name="Google Shape;355;p22"/>
            <p:cNvGrpSpPr/>
            <p:nvPr/>
          </p:nvGrpSpPr>
          <p:grpSpPr>
            <a:xfrm>
              <a:off x="152400" y="3695700"/>
              <a:ext cx="4953000" cy="628800"/>
              <a:chOff x="0" y="0"/>
              <a:chExt cx="4953000" cy="628800"/>
            </a:xfrm>
          </p:grpSpPr>
          <p:sp>
            <p:nvSpPr>
              <p:cNvPr id="356" name="Google Shape;356;p22"/>
              <p:cNvSpPr/>
              <p:nvPr/>
            </p:nvSpPr>
            <p:spPr>
              <a:xfrm>
                <a:off x="0" y="0"/>
                <a:ext cx="4953000" cy="628800"/>
              </a:xfrm>
              <a:prstGeom prst="roundRect">
                <a:avLst>
                  <a:gd fmla="val 9090" name="adj"/>
                </a:avLst>
              </a:prstGeom>
              <a:solidFill>
                <a:srgbClr val="FEF3C7"/>
              </a:solidFill>
              <a:ln cap="flat" cmpd="sng" w="9525">
                <a:solidFill>
                  <a:srgbClr val="FDE68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7" name="Google Shape;357;p22"/>
              <p:cNvSpPr txBox="1"/>
              <p:nvPr/>
            </p:nvSpPr>
            <p:spPr>
              <a:xfrm>
                <a:off x="114300" y="57150"/>
                <a:ext cx="4724400" cy="514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800">
                    <a:solidFill>
                      <a:srgbClr val="B45309"/>
                    </a:solidFill>
                    <a:latin typeface="Plus Jakarta Sans"/>
                    <a:ea typeface="Plus Jakarta Sans"/>
                    <a:cs typeface="Plus Jakarta Sans"/>
                    <a:sym typeface="Plus Jakarta Sans"/>
                  </a:rPr>
                  <a:t>REUSE &amp; WORKFLOW ENFORCEMENT</a:t>
                </a:r>
                <a:endParaRPr b="1" sz="800">
                  <a:solidFill>
                    <a:srgbClr val="B45309"/>
                  </a:solidFill>
                  <a:latin typeface="Plus Jakarta Sans"/>
                  <a:ea typeface="Plus Jakarta Sans"/>
                  <a:cs typeface="Plus Jakarta Sans"/>
                  <a:sym typeface="Plus Jakarta Sans"/>
                </a:endParaRPr>
              </a:p>
              <a:p>
                <a:pPr indent="0" lvl="0" marL="0" rtl="0" algn="l">
                  <a:spcBef>
                    <a:spcPts val="200"/>
                  </a:spcBef>
                  <a:spcAft>
                    <a:spcPts val="0"/>
                  </a:spcAft>
                  <a:buNone/>
                </a:pPr>
                <a:r>
                  <a:rPr b="0" lang="en-US" sz="950">
                    <a:solidFill>
                      <a:srgbClr val="92400E"/>
                    </a:solidFill>
                    <a:latin typeface="Plus Jakarta Sans Medium"/>
                    <a:ea typeface="Plus Jakarta Sans Medium"/>
                    <a:cs typeface="Plus Jakarta Sans Medium"/>
                    <a:sym typeface="Plus Jakarta Sans Medium"/>
                  </a:rPr>
                  <a:t>Shares infrastructure state across subclasses while guaranteeing mandatory lifecycle execution order.</a:t>
                </a:r>
                <a:endParaRPr b="0" sz="950">
                  <a:solidFill>
                    <a:srgbClr val="92400E"/>
                  </a:solidFill>
                  <a:latin typeface="Plus Jakarta Sans Medium"/>
                  <a:ea typeface="Plus Jakarta Sans Medium"/>
                  <a:cs typeface="Plus Jakarta Sans Medium"/>
                  <a:sym typeface="Plus Jakarta Sans Medium"/>
                </a:endParaRPr>
              </a:p>
            </p:txBody>
          </p:sp>
        </p:gr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1" name="Shape 361"/>
        <p:cNvGrpSpPr/>
        <p:nvPr/>
      </p:nvGrpSpPr>
      <p:grpSpPr>
        <a:xfrm>
          <a:off x="0" y="0"/>
          <a:ext cx="0" cy="0"/>
          <a:chOff x="0" y="0"/>
          <a:chExt cx="0" cy="0"/>
        </a:xfrm>
      </p:grpSpPr>
      <p:grpSp>
        <p:nvGrpSpPr>
          <p:cNvPr id="362" name="Google Shape;362;p23"/>
          <p:cNvGrpSpPr/>
          <p:nvPr/>
        </p:nvGrpSpPr>
        <p:grpSpPr>
          <a:xfrm>
            <a:off x="685800" y="342900"/>
            <a:ext cx="10820400" cy="590550"/>
            <a:chOff x="0" y="0"/>
            <a:chExt cx="10820400" cy="590550"/>
          </a:xfrm>
        </p:grpSpPr>
        <p:sp>
          <p:nvSpPr>
            <p:cNvPr id="363" name="Google Shape;363;p23"/>
            <p:cNvSpPr txBox="1"/>
            <p:nvPr/>
          </p:nvSpPr>
          <p:spPr>
            <a:xfrm>
              <a:off x="0" y="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950">
                  <a:solidFill>
                    <a:srgbClr val="0284C7"/>
                  </a:solidFill>
                  <a:latin typeface="Plus Jakarta Sans"/>
                  <a:ea typeface="Plus Jakarta Sans"/>
                  <a:cs typeface="Plus Jakarta Sans"/>
                  <a:sym typeface="Plus Jakarta Sans"/>
                </a:rPr>
                <a:t>PILLAR 04</a:t>
              </a:r>
              <a:endParaRPr b="1" sz="950">
                <a:solidFill>
                  <a:srgbClr val="0284C7"/>
                </a:solidFill>
                <a:latin typeface="Plus Jakarta Sans"/>
                <a:ea typeface="Plus Jakarta Sans"/>
                <a:cs typeface="Plus Jakarta Sans"/>
                <a:sym typeface="Plus Jakarta Sans"/>
              </a:endParaRPr>
            </a:p>
          </p:txBody>
        </p:sp>
        <p:sp>
          <p:nvSpPr>
            <p:cNvPr id="364" name="Google Shape;364;p23"/>
            <p:cNvSpPr txBox="1"/>
            <p:nvPr/>
          </p:nvSpPr>
          <p:spPr>
            <a:xfrm>
              <a:off x="0" y="209550"/>
              <a:ext cx="66675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2400">
                  <a:solidFill>
                    <a:srgbClr val="0F172A"/>
                  </a:solidFill>
                  <a:latin typeface="Plus Jakarta Sans ExtraBold"/>
                  <a:ea typeface="Plus Jakarta Sans ExtraBold"/>
                  <a:cs typeface="Plus Jakarta Sans ExtraBold"/>
                  <a:sym typeface="Plus Jakarta Sans ExtraBold"/>
                </a:rPr>
                <a:t>Polymorphism: Compile vs. Runtime</a:t>
              </a:r>
              <a:endParaRPr b="0" sz="2400">
                <a:solidFill>
                  <a:srgbClr val="0F172A"/>
                </a:solidFill>
                <a:latin typeface="Plus Jakarta Sans ExtraBold"/>
                <a:ea typeface="Plus Jakarta Sans ExtraBold"/>
                <a:cs typeface="Plus Jakarta Sans ExtraBold"/>
                <a:sym typeface="Plus Jakarta Sans ExtraBold"/>
              </a:endParaRPr>
            </a:p>
          </p:txBody>
        </p:sp>
        <p:sp>
          <p:nvSpPr>
            <p:cNvPr id="365" name="Google Shape;365;p23"/>
            <p:cNvSpPr/>
            <p:nvPr/>
          </p:nvSpPr>
          <p:spPr>
            <a:xfrm>
              <a:off x="9334500" y="57150"/>
              <a:ext cx="1485900" cy="304800"/>
            </a:xfrm>
            <a:prstGeom prst="roundRect">
              <a:avLst>
                <a:gd fmla="val 50000" name="adj"/>
              </a:avLst>
            </a:prstGeom>
            <a:solidFill>
              <a:srgbClr val="F3E8FF"/>
            </a:solidFill>
            <a:ln cap="flat" cmpd="sng" w="9525">
              <a:solidFill>
                <a:srgbClr val="E9D5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6" name="Google Shape;366;p23"/>
            <p:cNvSpPr txBox="1"/>
            <p:nvPr/>
          </p:nvSpPr>
          <p:spPr>
            <a:xfrm>
              <a:off x="9334500" y="57150"/>
              <a:ext cx="1485900" cy="304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950">
                  <a:solidFill>
                    <a:srgbClr val="7E22CE"/>
                  </a:solidFill>
                  <a:latin typeface="Plus Jakarta Sans"/>
                  <a:ea typeface="Plus Jakarta Sans"/>
                  <a:cs typeface="Plus Jakarta Sans"/>
                  <a:sym typeface="Plus Jakarta Sans"/>
                </a:rPr>
                <a:t>Dynamic Dispatch</a:t>
              </a:r>
              <a:endParaRPr b="1" sz="950">
                <a:solidFill>
                  <a:srgbClr val="7E22CE"/>
                </a:solidFill>
                <a:latin typeface="Plus Jakarta Sans"/>
                <a:ea typeface="Plus Jakarta Sans"/>
                <a:cs typeface="Plus Jakarta Sans"/>
                <a:sym typeface="Plus Jakarta Sans"/>
              </a:endParaRPr>
            </a:p>
          </p:txBody>
        </p:sp>
      </p:grpSp>
      <p:grpSp>
        <p:nvGrpSpPr>
          <p:cNvPr id="367" name="Google Shape;367;p23"/>
          <p:cNvGrpSpPr/>
          <p:nvPr/>
        </p:nvGrpSpPr>
        <p:grpSpPr>
          <a:xfrm>
            <a:off x="685800" y="1009650"/>
            <a:ext cx="10820400" cy="800100"/>
            <a:chOff x="0" y="0"/>
            <a:chExt cx="10820400" cy="800100"/>
          </a:xfrm>
        </p:grpSpPr>
        <p:sp>
          <p:nvSpPr>
            <p:cNvPr id="368" name="Google Shape;368;p23"/>
            <p:cNvSpPr/>
            <p:nvPr/>
          </p:nvSpPr>
          <p:spPr>
            <a:xfrm>
              <a:off x="0" y="0"/>
              <a:ext cx="10820400" cy="800100"/>
            </a:xfrm>
            <a:prstGeom prst="roundRect">
              <a:avLst>
                <a:gd fmla="val 9523"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9" name="Google Shape;369;p23"/>
            <p:cNvSpPr/>
            <p:nvPr/>
          </p:nvSpPr>
          <p:spPr>
            <a:xfrm>
              <a:off x="0" y="0"/>
              <a:ext cx="47700" cy="800100"/>
            </a:xfrm>
            <a:prstGeom prst="roundRect">
              <a:avLst>
                <a:gd fmla="val 40000" name="adj"/>
              </a:avLst>
            </a:prstGeom>
            <a:solidFill>
              <a:srgbClr val="0284C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0" name="Google Shape;370;p23"/>
            <p:cNvSpPr txBox="1"/>
            <p:nvPr/>
          </p:nvSpPr>
          <p:spPr>
            <a:xfrm>
              <a:off x="209550" y="76200"/>
              <a:ext cx="10382400" cy="647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850">
                  <a:solidFill>
                    <a:srgbClr val="0284C7"/>
                  </a:solidFill>
                  <a:latin typeface="Plus Jakarta Sans"/>
                  <a:ea typeface="Plus Jakarta Sans"/>
                  <a:cs typeface="Plus Jakarta Sans"/>
                  <a:sym typeface="Plus Jakarta Sans"/>
                </a:rPr>
                <a:t>SIMPLE DEFINITION</a:t>
              </a:r>
              <a:endParaRPr b="1" sz="850">
                <a:solidFill>
                  <a:srgbClr val="0284C7"/>
                </a:solidFill>
                <a:latin typeface="Plus Jakarta Sans"/>
                <a:ea typeface="Plus Jakarta Sans"/>
                <a:cs typeface="Plus Jakarta Sans"/>
                <a:sym typeface="Plus Jakarta Sans"/>
              </a:endParaRPr>
            </a:p>
            <a:p>
              <a:pPr indent="0" lvl="0" marL="0" rtl="0" algn="l">
                <a:spcBef>
                  <a:spcPts val="300"/>
                </a:spcBef>
                <a:spcAft>
                  <a:spcPts val="0"/>
                </a:spcAft>
                <a:buNone/>
              </a:pPr>
              <a:r>
                <a:rPr b="0" lang="en-US" sz="1100">
                  <a:solidFill>
                    <a:srgbClr val="1E293B"/>
                  </a:solidFill>
                  <a:latin typeface="Plus Jakarta Sans SemiBold"/>
                  <a:ea typeface="Plus Jakarta Sans SemiBold"/>
                  <a:cs typeface="Plus Jakarta Sans SemiBold"/>
                  <a:sym typeface="Plus Jakarta Sans SemiBold"/>
                </a:rPr>
                <a:t>Polymorphism means "one name, many forms". It allows the same method name to work in different ways—either by giving it different inputs (Compile-time) or having subclasses provide their own custom implementation (Runtime).</a:t>
              </a:r>
              <a:endParaRPr b="0" sz="1100">
                <a:solidFill>
                  <a:srgbClr val="1E293B"/>
                </a:solidFill>
                <a:latin typeface="Plus Jakarta Sans SemiBold"/>
                <a:ea typeface="Plus Jakarta Sans SemiBold"/>
                <a:cs typeface="Plus Jakarta Sans SemiBold"/>
                <a:sym typeface="Plus Jakarta Sans SemiBold"/>
              </a:endParaRPr>
            </a:p>
          </p:txBody>
        </p:sp>
      </p:grpSp>
      <p:grpSp>
        <p:nvGrpSpPr>
          <p:cNvPr id="371" name="Google Shape;371;p23"/>
          <p:cNvGrpSpPr/>
          <p:nvPr/>
        </p:nvGrpSpPr>
        <p:grpSpPr>
          <a:xfrm>
            <a:off x="685800" y="1962150"/>
            <a:ext cx="5257800" cy="4476900"/>
            <a:chOff x="0" y="0"/>
            <a:chExt cx="5257800" cy="4476900"/>
          </a:xfrm>
        </p:grpSpPr>
        <p:sp>
          <p:nvSpPr>
            <p:cNvPr id="372" name="Google Shape;372;p23"/>
            <p:cNvSpPr/>
            <p:nvPr/>
          </p:nvSpPr>
          <p:spPr>
            <a:xfrm>
              <a:off x="0" y="0"/>
              <a:ext cx="5257800" cy="4476900"/>
            </a:xfrm>
            <a:prstGeom prst="roundRect">
              <a:avLst>
                <a:gd fmla="val 2553"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3" name="Google Shape;373;p23"/>
            <p:cNvSpPr txBox="1"/>
            <p:nvPr/>
          </p:nvSpPr>
          <p:spPr>
            <a:xfrm>
              <a:off x="190500" y="152400"/>
              <a:ext cx="4876800" cy="857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850">
                  <a:solidFill>
                    <a:srgbClr val="0369A1"/>
                  </a:solidFill>
                  <a:latin typeface="Plus Jakarta Sans"/>
                  <a:ea typeface="Plus Jakarta Sans"/>
                  <a:cs typeface="Plus Jakarta Sans"/>
                  <a:sym typeface="Plus Jakarta Sans"/>
                </a:rPr>
                <a:t>STATIC (METHOD OVERLOADING)</a:t>
              </a:r>
              <a:endParaRPr b="1" sz="850">
                <a:solidFill>
                  <a:srgbClr val="0369A1"/>
                </a:solidFill>
                <a:latin typeface="Plus Jakarta Sans"/>
                <a:ea typeface="Plus Jakarta Sans"/>
                <a:cs typeface="Plus Jakarta Sans"/>
                <a:sym typeface="Plus Jakarta Sans"/>
              </a:endParaRPr>
            </a:p>
            <a:p>
              <a:pPr indent="0" lvl="0" marL="0" rtl="0" algn="l">
                <a:spcBef>
                  <a:spcPts val="200"/>
                </a:spcBef>
                <a:spcAft>
                  <a:spcPts val="0"/>
                </a:spcAft>
                <a:buNone/>
              </a:pPr>
              <a:r>
                <a:rPr b="1" lang="en-US" sz="1800">
                  <a:solidFill>
                    <a:srgbClr val="0F172A"/>
                  </a:solidFill>
                  <a:latin typeface="Plus Jakarta Sans"/>
                  <a:ea typeface="Plus Jakarta Sans"/>
                  <a:cs typeface="Plus Jakarta Sans"/>
                  <a:sym typeface="Plus Jakarta Sans"/>
                </a:rPr>
                <a:t>Compile-Time Binding</a:t>
              </a:r>
              <a:endParaRPr b="1" sz="1800">
                <a:solidFill>
                  <a:srgbClr val="0F172A"/>
                </a:solidFill>
                <a:latin typeface="Plus Jakarta Sans"/>
                <a:ea typeface="Plus Jakarta Sans"/>
                <a:cs typeface="Plus Jakarta Sans"/>
                <a:sym typeface="Plus Jakarta Sans"/>
              </a:endParaRPr>
            </a:p>
            <a:p>
              <a:pPr indent="0" lvl="0" marL="0" rtl="0" algn="l">
                <a:spcBef>
                  <a:spcPts val="400"/>
                </a:spcBef>
                <a:spcAft>
                  <a:spcPts val="0"/>
                </a:spcAft>
                <a:buNone/>
              </a:pPr>
              <a:r>
                <a:rPr b="0" lang="en-US" sz="1000">
                  <a:solidFill>
                    <a:srgbClr val="475569"/>
                  </a:solidFill>
                  <a:latin typeface="Plus Jakarta Sans"/>
                  <a:ea typeface="Plus Jakarta Sans"/>
                  <a:cs typeface="Plus Jakarta Sans"/>
                  <a:sym typeface="Plus Jakarta Sans"/>
                </a:rPr>
                <a:t>Same method name, differing argument signatures within the same class. Compiler decides which method to call.</a:t>
              </a:r>
              <a:endParaRPr b="0" sz="1000">
                <a:solidFill>
                  <a:srgbClr val="475569"/>
                </a:solidFill>
                <a:latin typeface="Plus Jakarta Sans"/>
                <a:ea typeface="Plus Jakarta Sans"/>
                <a:cs typeface="Plus Jakarta Sans"/>
                <a:sym typeface="Plus Jakarta Sans"/>
              </a:endParaRPr>
            </a:p>
          </p:txBody>
        </p:sp>
        <p:grpSp>
          <p:nvGrpSpPr>
            <p:cNvPr id="374" name="Google Shape;374;p23"/>
            <p:cNvGrpSpPr/>
            <p:nvPr/>
          </p:nvGrpSpPr>
          <p:grpSpPr>
            <a:xfrm>
              <a:off x="152400" y="1085850"/>
              <a:ext cx="4953000" cy="2428800"/>
              <a:chOff x="0" y="0"/>
              <a:chExt cx="4953000" cy="2428800"/>
            </a:xfrm>
          </p:grpSpPr>
          <p:sp>
            <p:nvSpPr>
              <p:cNvPr id="375" name="Google Shape;375;p23"/>
              <p:cNvSpPr/>
              <p:nvPr/>
            </p:nvSpPr>
            <p:spPr>
              <a:xfrm>
                <a:off x="0" y="0"/>
                <a:ext cx="4953000" cy="2428800"/>
              </a:xfrm>
              <a:prstGeom prst="roundRect">
                <a:avLst>
                  <a:gd fmla="val 3137" name="adj"/>
                </a:avLst>
              </a:prstGeom>
              <a:solidFill>
                <a:srgbClr val="0F172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6" name="Google Shape;376;p23"/>
              <p:cNvSpPr/>
              <p:nvPr/>
            </p:nvSpPr>
            <p:spPr>
              <a:xfrm>
                <a:off x="104775" y="133350"/>
                <a:ext cx="76200" cy="76200"/>
              </a:xfrm>
              <a:prstGeom prst="ellipse">
                <a:avLst/>
              </a:prstGeom>
              <a:solidFill>
                <a:srgbClr val="EF44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7" name="Google Shape;377;p23"/>
              <p:cNvSpPr/>
              <p:nvPr/>
            </p:nvSpPr>
            <p:spPr>
              <a:xfrm>
                <a:off x="219075" y="133350"/>
                <a:ext cx="76200" cy="76200"/>
              </a:xfrm>
              <a:prstGeom prst="ellipse">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8" name="Google Shape;378;p23"/>
              <p:cNvSpPr/>
              <p:nvPr/>
            </p:nvSpPr>
            <p:spPr>
              <a:xfrm>
                <a:off x="333375" y="133350"/>
                <a:ext cx="76200" cy="76200"/>
              </a:xfrm>
              <a:prstGeom prst="ellipse">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379" name="Google Shape;379;p23"/>
              <p:cNvCxnSpPr/>
              <p:nvPr/>
            </p:nvCxnSpPr>
            <p:spPr>
              <a:xfrm>
                <a:off x="0" y="323850"/>
                <a:ext cx="4953000" cy="0"/>
              </a:xfrm>
              <a:prstGeom prst="straightConnector1">
                <a:avLst/>
              </a:prstGeom>
              <a:solidFill>
                <a:srgbClr val="FFFFFF"/>
              </a:solidFill>
              <a:ln cap="flat" cmpd="sng" w="9525">
                <a:solidFill>
                  <a:srgbClr val="1E293B"/>
                </a:solidFill>
                <a:prstDash val="solid"/>
                <a:round/>
                <a:headEnd len="sm" w="sm" type="none"/>
                <a:tailEnd len="sm" w="sm" type="none"/>
              </a:ln>
            </p:spPr>
          </p:cxnSp>
          <p:sp>
            <p:nvSpPr>
              <p:cNvPr id="380" name="Google Shape;380;p23"/>
              <p:cNvSpPr txBox="1"/>
              <p:nvPr/>
            </p:nvSpPr>
            <p:spPr>
              <a:xfrm>
                <a:off x="476250" y="95250"/>
                <a:ext cx="4000500" cy="171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850">
                    <a:solidFill>
                      <a:srgbClr val="94A3B8"/>
                    </a:solidFill>
                    <a:latin typeface="JetBrains Mono Medium"/>
                    <a:ea typeface="JetBrains Mono Medium"/>
                    <a:cs typeface="JetBrains Mono Medium"/>
                    <a:sym typeface="JetBrains Mono Medium"/>
                  </a:rPr>
                  <a:t>TransactionService.java</a:t>
                </a:r>
                <a:endParaRPr b="0" sz="850">
                  <a:solidFill>
                    <a:srgbClr val="94A3B8"/>
                  </a:solidFill>
                  <a:latin typeface="JetBrains Mono Medium"/>
                  <a:ea typeface="JetBrains Mono Medium"/>
                  <a:cs typeface="JetBrains Mono Medium"/>
                  <a:sym typeface="JetBrains Mono Medium"/>
                </a:endParaRPr>
              </a:p>
            </p:txBody>
          </p:sp>
          <p:sp>
            <p:nvSpPr>
              <p:cNvPr id="381" name="Google Shape;381;p23"/>
              <p:cNvSpPr txBox="1"/>
              <p:nvPr/>
            </p:nvSpPr>
            <p:spPr>
              <a:xfrm>
                <a:off x="152400" y="419100"/>
                <a:ext cx="4648200" cy="1905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850">
                    <a:solidFill>
                      <a:srgbClr val="64748B"/>
                    </a:solidFill>
                    <a:latin typeface="JetBrains Mono"/>
                    <a:ea typeface="JetBrains Mono"/>
                    <a:cs typeface="JetBrains Mono"/>
                    <a:sym typeface="JetBrains Mono"/>
                  </a:rPr>
                  <a:t>// Overloaded variants</a:t>
                </a:r>
                <a:endParaRPr b="0" sz="850">
                  <a:solidFill>
                    <a:srgbClr val="64748B"/>
                  </a:solidFill>
                  <a:latin typeface="JetBrains Mono"/>
                  <a:ea typeface="JetBrains Mono"/>
                  <a:cs typeface="JetBrains Mono"/>
                  <a:sym typeface="JetBrains Mono"/>
                </a:endParaRPr>
              </a:p>
              <a:p>
                <a:pPr indent="0" lvl="0" marL="0" rtl="0" algn="l">
                  <a:spcBef>
                    <a:spcPts val="200"/>
                  </a:spcBef>
                  <a:spcAft>
                    <a:spcPts val="0"/>
                  </a:spcAft>
                  <a:buNone/>
                </a:pPr>
                <a:r>
                  <a:rPr b="1" lang="en-US" sz="850">
                    <a:solidFill>
                      <a:srgbClr val="F43F5E"/>
                    </a:solidFill>
                    <a:latin typeface="JetBrains Mono"/>
                    <a:ea typeface="JetBrains Mono"/>
                    <a:cs typeface="JetBrains Mono"/>
                    <a:sym typeface="JetBrains Mono"/>
                  </a:rPr>
                  <a:t>public class</a:t>
                </a:r>
                <a:r>
                  <a:rPr b="0" lang="en-US" sz="850">
                    <a:solidFill>
                      <a:srgbClr val="64748B"/>
                    </a:solidFill>
                    <a:latin typeface="JetBrains Mono"/>
                    <a:ea typeface="JetBrains Mono"/>
                    <a:cs typeface="JetBrains Mono"/>
                    <a:sym typeface="JetBrains Mono"/>
                  </a:rPr>
                  <a:t> </a:t>
                </a:r>
                <a:r>
                  <a:rPr b="1" lang="en-US" sz="850">
                    <a:solidFill>
                      <a:srgbClr val="38BDF8"/>
                    </a:solidFill>
                    <a:latin typeface="JetBrains Mono"/>
                    <a:ea typeface="JetBrains Mono"/>
                    <a:cs typeface="JetBrains Mono"/>
                    <a:sym typeface="JetBrains Mono"/>
                  </a:rPr>
                  <a:t>TransactionService</a:t>
                </a:r>
                <a:r>
                  <a:rPr b="0" lang="en-US" sz="850">
                    <a:solidFill>
                      <a:srgbClr val="64748B"/>
                    </a:solidFill>
                    <a:latin typeface="JetBrains Mono"/>
                    <a:ea typeface="JetBrains Mono"/>
                    <a:cs typeface="JetBrains Mono"/>
                    <a:sym typeface="JetBrains Mono"/>
                  </a:rPr>
                  <a:t> </a:t>
                </a:r>
                <a:r>
                  <a:rPr b="0" lang="en-US" sz="850">
                    <a:solidFill>
                      <a:srgbClr val="E2E8F0"/>
                    </a:solidFill>
                    <a:latin typeface="JetBrains Mono"/>
                    <a:ea typeface="JetBrains Mono"/>
                    <a:cs typeface="JetBrains Mono"/>
                    <a:sym typeface="JetBrains Mono"/>
                  </a:rPr>
                  <a:t>{</a:t>
                </a:r>
                <a:endParaRPr b="0" sz="850">
                  <a:solidFill>
                    <a:srgbClr val="64748B"/>
                  </a:solidFill>
                  <a:latin typeface="JetBrains Mono"/>
                  <a:ea typeface="JetBrains Mono"/>
                  <a:cs typeface="JetBrains Mono"/>
                  <a:sym typeface="JetBrains Mono"/>
                </a:endParaRPr>
              </a:p>
              <a:p>
                <a:pPr indent="0" lvl="0" marL="177800" marR="0" rtl="0" algn="l">
                  <a:spcBef>
                    <a:spcPts val="400"/>
                  </a:spcBef>
                  <a:spcAft>
                    <a:spcPts val="0"/>
                  </a:spcAft>
                  <a:buNone/>
                </a:pPr>
                <a:r>
                  <a:rPr b="1" lang="en-US" sz="850">
                    <a:solidFill>
                      <a:srgbClr val="F43F5E"/>
                    </a:solidFill>
                    <a:latin typeface="JetBrains Mono"/>
                    <a:ea typeface="JetBrains Mono"/>
                    <a:cs typeface="JetBrains Mono"/>
                    <a:sym typeface="JetBrains Mono"/>
                  </a:rPr>
                  <a:t>public void</a:t>
                </a:r>
                <a:r>
                  <a:rPr b="0" lang="en-US" sz="850">
                    <a:solidFill>
                      <a:srgbClr val="64748B"/>
                    </a:solidFill>
                    <a:latin typeface="JetBrains Mono"/>
                    <a:ea typeface="JetBrains Mono"/>
                    <a:cs typeface="JetBrains Mono"/>
                    <a:sym typeface="JetBrains Mono"/>
                  </a:rPr>
                  <a:t> </a:t>
                </a:r>
                <a:r>
                  <a:rPr b="0" lang="en-US" sz="850">
                    <a:solidFill>
                      <a:srgbClr val="A7F3D0"/>
                    </a:solidFill>
                    <a:latin typeface="JetBrains Mono"/>
                    <a:ea typeface="JetBrains Mono"/>
                    <a:cs typeface="JetBrains Mono"/>
                    <a:sym typeface="JetBrains Mono"/>
                  </a:rPr>
                  <a:t>pay</a:t>
                </a:r>
                <a:r>
                  <a:rPr b="0" lang="en-US" sz="850">
                    <a:solidFill>
                      <a:srgbClr val="E2E8F0"/>
                    </a:solidFill>
                    <a:latin typeface="JetBrains Mono"/>
                    <a:ea typeface="JetBrains Mono"/>
                    <a:cs typeface="JetBrains Mono"/>
                    <a:sym typeface="JetBrains Mono"/>
                  </a:rPr>
                  <a:t>(BigDecimal amt) { ... }</a:t>
                </a:r>
                <a:endParaRPr b="0" sz="850">
                  <a:solidFill>
                    <a:srgbClr val="64748B"/>
                  </a:solidFill>
                  <a:latin typeface="JetBrains Mono"/>
                  <a:ea typeface="JetBrains Mono"/>
                  <a:cs typeface="JetBrains Mono"/>
                  <a:sym typeface="JetBrains Mono"/>
                </a:endParaRPr>
              </a:p>
              <a:p>
                <a:pPr indent="0" lvl="0" marL="177800" marR="0" rtl="0" algn="l">
                  <a:spcBef>
                    <a:spcPts val="400"/>
                  </a:spcBef>
                  <a:spcAft>
                    <a:spcPts val="0"/>
                  </a:spcAft>
                  <a:buNone/>
                </a:pPr>
                <a:r>
                  <a:rPr b="1" lang="en-US" sz="850">
                    <a:solidFill>
                      <a:srgbClr val="F43F5E"/>
                    </a:solidFill>
                    <a:latin typeface="JetBrains Mono"/>
                    <a:ea typeface="JetBrains Mono"/>
                    <a:cs typeface="JetBrains Mono"/>
                    <a:sym typeface="JetBrains Mono"/>
                  </a:rPr>
                  <a:t>public void</a:t>
                </a:r>
                <a:r>
                  <a:rPr b="0" lang="en-US" sz="850">
                    <a:solidFill>
                      <a:srgbClr val="64748B"/>
                    </a:solidFill>
                    <a:latin typeface="JetBrains Mono"/>
                    <a:ea typeface="JetBrains Mono"/>
                    <a:cs typeface="JetBrains Mono"/>
                    <a:sym typeface="JetBrains Mono"/>
                  </a:rPr>
                  <a:t> </a:t>
                </a:r>
                <a:r>
                  <a:rPr b="0" lang="en-US" sz="850">
                    <a:solidFill>
                      <a:srgbClr val="A7F3D0"/>
                    </a:solidFill>
                    <a:latin typeface="JetBrains Mono"/>
                    <a:ea typeface="JetBrains Mono"/>
                    <a:cs typeface="JetBrains Mono"/>
                    <a:sym typeface="JetBrains Mono"/>
                  </a:rPr>
                  <a:t>pay</a:t>
                </a:r>
                <a:r>
                  <a:rPr b="0" lang="en-US" sz="850">
                    <a:solidFill>
                      <a:srgbClr val="E2E8F0"/>
                    </a:solidFill>
                    <a:latin typeface="JetBrains Mono"/>
                    <a:ea typeface="JetBrains Mono"/>
                    <a:cs typeface="JetBrains Mono"/>
                    <a:sym typeface="JetBrains Mono"/>
                  </a:rPr>
                  <a:t>(BigDecimal amt, Currency fx) { ... }</a:t>
                </a:r>
                <a:endParaRPr b="0" sz="850">
                  <a:solidFill>
                    <a:srgbClr val="64748B"/>
                  </a:solidFill>
                  <a:latin typeface="JetBrains Mono"/>
                  <a:ea typeface="JetBrains Mono"/>
                  <a:cs typeface="JetBrains Mono"/>
                  <a:sym typeface="JetBrains Mono"/>
                </a:endParaRPr>
              </a:p>
              <a:p>
                <a:pPr indent="0" lvl="0" marL="177800" marR="0" rtl="0" algn="l">
                  <a:spcBef>
                    <a:spcPts val="400"/>
                  </a:spcBef>
                  <a:spcAft>
                    <a:spcPts val="0"/>
                  </a:spcAft>
                  <a:buNone/>
                </a:pPr>
                <a:r>
                  <a:rPr b="1" lang="en-US" sz="850">
                    <a:solidFill>
                      <a:srgbClr val="F43F5E"/>
                    </a:solidFill>
                    <a:latin typeface="JetBrains Mono"/>
                    <a:ea typeface="JetBrains Mono"/>
                    <a:cs typeface="JetBrains Mono"/>
                    <a:sym typeface="JetBrains Mono"/>
                  </a:rPr>
                  <a:t>public void</a:t>
                </a:r>
                <a:r>
                  <a:rPr b="0" lang="en-US" sz="850">
                    <a:solidFill>
                      <a:srgbClr val="64748B"/>
                    </a:solidFill>
                    <a:latin typeface="JetBrains Mono"/>
                    <a:ea typeface="JetBrains Mono"/>
                    <a:cs typeface="JetBrains Mono"/>
                    <a:sym typeface="JetBrains Mono"/>
                  </a:rPr>
                  <a:t> </a:t>
                </a:r>
                <a:r>
                  <a:rPr b="0" lang="en-US" sz="850">
                    <a:solidFill>
                      <a:srgbClr val="A7F3D0"/>
                    </a:solidFill>
                    <a:latin typeface="JetBrains Mono"/>
                    <a:ea typeface="JetBrains Mono"/>
                    <a:cs typeface="JetBrains Mono"/>
                    <a:sym typeface="JetBrains Mono"/>
                  </a:rPr>
                  <a:t>pay</a:t>
                </a:r>
                <a:r>
                  <a:rPr b="0" lang="en-US" sz="850">
                    <a:solidFill>
                      <a:srgbClr val="E2E8F0"/>
                    </a:solidFill>
                    <a:latin typeface="JetBrains Mono"/>
                    <a:ea typeface="JetBrains Mono"/>
                    <a:cs typeface="JetBrains Mono"/>
                    <a:sym typeface="JetBrains Mono"/>
                  </a:rPr>
                  <a:t>(BigDecimal amt, String memo) { ... }</a:t>
                </a:r>
                <a:endParaRPr b="0" sz="850">
                  <a:solidFill>
                    <a:srgbClr val="64748B"/>
                  </a:solidFill>
                  <a:latin typeface="JetBrains Mono"/>
                  <a:ea typeface="JetBrains Mono"/>
                  <a:cs typeface="JetBrains Mono"/>
                  <a:sym typeface="JetBrains Mono"/>
                </a:endParaRPr>
              </a:p>
              <a:p>
                <a:pPr indent="0" lvl="0" marL="0" rtl="0" algn="l">
                  <a:spcBef>
                    <a:spcPts val="400"/>
                  </a:spcBef>
                  <a:spcAft>
                    <a:spcPts val="0"/>
                  </a:spcAft>
                  <a:buNone/>
                </a:pPr>
                <a:r>
                  <a:rPr b="0" lang="en-US" sz="850">
                    <a:solidFill>
                      <a:srgbClr val="E2E8F0"/>
                    </a:solidFill>
                    <a:latin typeface="JetBrains Mono"/>
                    <a:ea typeface="JetBrains Mono"/>
                    <a:cs typeface="JetBrains Mono"/>
                    <a:sym typeface="JetBrains Mono"/>
                  </a:rPr>
                  <a:t>}</a:t>
                </a:r>
                <a:endParaRPr b="0" sz="850">
                  <a:solidFill>
                    <a:srgbClr val="64748B"/>
                  </a:solidFill>
                  <a:latin typeface="JetBrains Mono"/>
                  <a:ea typeface="JetBrains Mono"/>
                  <a:cs typeface="JetBrains Mono"/>
                  <a:sym typeface="JetBrains Mono"/>
                </a:endParaRPr>
              </a:p>
            </p:txBody>
          </p:sp>
        </p:grpSp>
        <p:grpSp>
          <p:nvGrpSpPr>
            <p:cNvPr id="382" name="Google Shape;382;p23"/>
            <p:cNvGrpSpPr/>
            <p:nvPr/>
          </p:nvGrpSpPr>
          <p:grpSpPr>
            <a:xfrm>
              <a:off x="152400" y="3657600"/>
              <a:ext cx="4953000" cy="666900"/>
              <a:chOff x="0" y="0"/>
              <a:chExt cx="4953000" cy="666900"/>
            </a:xfrm>
          </p:grpSpPr>
          <p:sp>
            <p:nvSpPr>
              <p:cNvPr id="383" name="Google Shape;383;p23"/>
              <p:cNvSpPr/>
              <p:nvPr/>
            </p:nvSpPr>
            <p:spPr>
              <a:xfrm>
                <a:off x="0" y="0"/>
                <a:ext cx="4953000" cy="666900"/>
              </a:xfrm>
              <a:prstGeom prst="roundRect">
                <a:avLst>
                  <a:gd fmla="val 8571" name="adj"/>
                </a:avLst>
              </a:prstGeom>
              <a:solidFill>
                <a:srgbClr val="E0F2FE"/>
              </a:solidFill>
              <a:ln cap="flat" cmpd="sng" w="9525">
                <a:solidFill>
                  <a:srgbClr val="BAE6F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4" name="Google Shape;384;p23"/>
              <p:cNvSpPr txBox="1"/>
              <p:nvPr/>
            </p:nvSpPr>
            <p:spPr>
              <a:xfrm>
                <a:off x="133350" y="76200"/>
                <a:ext cx="4686300" cy="514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800">
                    <a:solidFill>
                      <a:srgbClr val="0284C7"/>
                    </a:solidFill>
                    <a:latin typeface="Plus Jakarta Sans"/>
                    <a:ea typeface="Plus Jakarta Sans"/>
                    <a:cs typeface="Plus Jakarta Sans"/>
                    <a:sym typeface="Plus Jakarta Sans"/>
                  </a:rPr>
                  <a:t>RESOLUTION</a:t>
                </a:r>
                <a:endParaRPr b="1" sz="800">
                  <a:solidFill>
                    <a:srgbClr val="0284C7"/>
                  </a:solidFill>
                  <a:latin typeface="Plus Jakarta Sans"/>
                  <a:ea typeface="Plus Jakarta Sans"/>
                  <a:cs typeface="Plus Jakarta Sans"/>
                  <a:sym typeface="Plus Jakarta Sans"/>
                </a:endParaRPr>
              </a:p>
              <a:p>
                <a:pPr indent="0" lvl="0" marL="0" rtl="0" algn="l">
                  <a:spcBef>
                    <a:spcPts val="200"/>
                  </a:spcBef>
                  <a:spcAft>
                    <a:spcPts val="0"/>
                  </a:spcAft>
                  <a:buNone/>
                </a:pPr>
                <a:r>
                  <a:rPr b="0" lang="en-US" sz="950">
                    <a:solidFill>
                      <a:srgbClr val="0369A1"/>
                    </a:solidFill>
                    <a:latin typeface="Plus Jakarta Sans Medium"/>
                    <a:ea typeface="Plus Jakarta Sans Medium"/>
                    <a:cs typeface="Plus Jakarta Sans Medium"/>
                    <a:sym typeface="Plus Jakarta Sans Medium"/>
                  </a:rPr>
                  <a:t>Resolved at compilation via parameter types.</a:t>
                </a:r>
                <a:endParaRPr b="0" sz="950">
                  <a:solidFill>
                    <a:srgbClr val="0369A1"/>
                  </a:solidFill>
                  <a:latin typeface="Plus Jakarta Sans Medium"/>
                  <a:ea typeface="Plus Jakarta Sans Medium"/>
                  <a:cs typeface="Plus Jakarta Sans Medium"/>
                  <a:sym typeface="Plus Jakarta Sans Medium"/>
                </a:endParaRPr>
              </a:p>
            </p:txBody>
          </p:sp>
        </p:grpSp>
      </p:grpSp>
      <p:grpSp>
        <p:nvGrpSpPr>
          <p:cNvPr id="385" name="Google Shape;385;p23"/>
          <p:cNvGrpSpPr/>
          <p:nvPr/>
        </p:nvGrpSpPr>
        <p:grpSpPr>
          <a:xfrm>
            <a:off x="6248400" y="1962150"/>
            <a:ext cx="5257800" cy="4476900"/>
            <a:chOff x="0" y="0"/>
            <a:chExt cx="5257800" cy="4476900"/>
          </a:xfrm>
        </p:grpSpPr>
        <p:sp>
          <p:nvSpPr>
            <p:cNvPr id="386" name="Google Shape;386;p23"/>
            <p:cNvSpPr/>
            <p:nvPr/>
          </p:nvSpPr>
          <p:spPr>
            <a:xfrm>
              <a:off x="0" y="0"/>
              <a:ext cx="5257800" cy="4476900"/>
            </a:xfrm>
            <a:prstGeom prst="roundRect">
              <a:avLst>
                <a:gd fmla="val 2553"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7" name="Google Shape;387;p23"/>
            <p:cNvSpPr txBox="1"/>
            <p:nvPr/>
          </p:nvSpPr>
          <p:spPr>
            <a:xfrm>
              <a:off x="190500" y="152400"/>
              <a:ext cx="4876800" cy="857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850">
                  <a:solidFill>
                    <a:srgbClr val="7E22CE"/>
                  </a:solidFill>
                  <a:latin typeface="Plus Jakarta Sans"/>
                  <a:ea typeface="Plus Jakarta Sans"/>
                  <a:cs typeface="Plus Jakarta Sans"/>
                  <a:sym typeface="Plus Jakarta Sans"/>
                </a:rPr>
                <a:t>DYNAMIC (METHOD OVERRIDING)</a:t>
              </a:r>
              <a:endParaRPr b="1" sz="850">
                <a:solidFill>
                  <a:srgbClr val="7E22CE"/>
                </a:solidFill>
                <a:latin typeface="Plus Jakarta Sans"/>
                <a:ea typeface="Plus Jakarta Sans"/>
                <a:cs typeface="Plus Jakarta Sans"/>
                <a:sym typeface="Plus Jakarta Sans"/>
              </a:endParaRPr>
            </a:p>
            <a:p>
              <a:pPr indent="0" lvl="0" marL="0" rtl="0" algn="l">
                <a:spcBef>
                  <a:spcPts val="200"/>
                </a:spcBef>
                <a:spcAft>
                  <a:spcPts val="0"/>
                </a:spcAft>
                <a:buNone/>
              </a:pPr>
              <a:r>
                <a:rPr b="1" lang="en-US" sz="1800">
                  <a:solidFill>
                    <a:srgbClr val="0F172A"/>
                  </a:solidFill>
                  <a:latin typeface="Plus Jakarta Sans"/>
                  <a:ea typeface="Plus Jakarta Sans"/>
                  <a:cs typeface="Plus Jakarta Sans"/>
                  <a:sym typeface="Plus Jakarta Sans"/>
                </a:rPr>
                <a:t>Runtime Dynamic Dispatch</a:t>
              </a:r>
              <a:endParaRPr b="1" sz="1800">
                <a:solidFill>
                  <a:srgbClr val="0F172A"/>
                </a:solidFill>
                <a:latin typeface="Plus Jakarta Sans"/>
                <a:ea typeface="Plus Jakarta Sans"/>
                <a:cs typeface="Plus Jakarta Sans"/>
                <a:sym typeface="Plus Jakarta Sans"/>
              </a:endParaRPr>
            </a:p>
            <a:p>
              <a:pPr indent="0" lvl="0" marL="0" rtl="0" algn="l">
                <a:spcBef>
                  <a:spcPts val="400"/>
                </a:spcBef>
                <a:spcAft>
                  <a:spcPts val="0"/>
                </a:spcAft>
                <a:buNone/>
              </a:pPr>
              <a:r>
                <a:rPr b="0" lang="en-US" sz="1000">
                  <a:solidFill>
                    <a:srgbClr val="475569"/>
                  </a:solidFill>
                  <a:latin typeface="Plus Jakarta Sans"/>
                  <a:ea typeface="Plus Jakarta Sans"/>
                  <a:cs typeface="Plus Jakarta Sans"/>
                  <a:sym typeface="Plus Jakarta Sans"/>
                </a:rPr>
                <a:t>Subclass overrides parent method with identical signature. JVM invokes the specific override based on the concrete heap object.</a:t>
              </a:r>
              <a:endParaRPr b="0" sz="1000">
                <a:solidFill>
                  <a:srgbClr val="475569"/>
                </a:solidFill>
                <a:latin typeface="Plus Jakarta Sans"/>
                <a:ea typeface="Plus Jakarta Sans"/>
                <a:cs typeface="Plus Jakarta Sans"/>
                <a:sym typeface="Plus Jakarta Sans"/>
              </a:endParaRPr>
            </a:p>
          </p:txBody>
        </p:sp>
        <p:grpSp>
          <p:nvGrpSpPr>
            <p:cNvPr id="388" name="Google Shape;388;p23"/>
            <p:cNvGrpSpPr/>
            <p:nvPr/>
          </p:nvGrpSpPr>
          <p:grpSpPr>
            <a:xfrm>
              <a:off x="152400" y="1085850"/>
              <a:ext cx="4953000" cy="2428800"/>
              <a:chOff x="0" y="0"/>
              <a:chExt cx="4953000" cy="2428800"/>
            </a:xfrm>
          </p:grpSpPr>
          <p:sp>
            <p:nvSpPr>
              <p:cNvPr id="389" name="Google Shape;389;p23"/>
              <p:cNvSpPr/>
              <p:nvPr/>
            </p:nvSpPr>
            <p:spPr>
              <a:xfrm>
                <a:off x="0" y="0"/>
                <a:ext cx="4953000" cy="2428800"/>
              </a:xfrm>
              <a:prstGeom prst="roundRect">
                <a:avLst>
                  <a:gd fmla="val 3137" name="adj"/>
                </a:avLst>
              </a:prstGeom>
              <a:solidFill>
                <a:srgbClr val="0F172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0" name="Google Shape;390;p23"/>
              <p:cNvSpPr/>
              <p:nvPr/>
            </p:nvSpPr>
            <p:spPr>
              <a:xfrm>
                <a:off x="104775" y="133350"/>
                <a:ext cx="76200" cy="76200"/>
              </a:xfrm>
              <a:prstGeom prst="ellipse">
                <a:avLst/>
              </a:prstGeom>
              <a:solidFill>
                <a:srgbClr val="EF44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1" name="Google Shape;391;p23"/>
              <p:cNvSpPr/>
              <p:nvPr/>
            </p:nvSpPr>
            <p:spPr>
              <a:xfrm>
                <a:off x="219075" y="133350"/>
                <a:ext cx="76200" cy="76200"/>
              </a:xfrm>
              <a:prstGeom prst="ellipse">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2" name="Google Shape;392;p23"/>
              <p:cNvSpPr/>
              <p:nvPr/>
            </p:nvSpPr>
            <p:spPr>
              <a:xfrm>
                <a:off x="333375" y="133350"/>
                <a:ext cx="76200" cy="76200"/>
              </a:xfrm>
              <a:prstGeom prst="ellipse">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393" name="Google Shape;393;p23"/>
              <p:cNvCxnSpPr/>
              <p:nvPr/>
            </p:nvCxnSpPr>
            <p:spPr>
              <a:xfrm>
                <a:off x="0" y="323850"/>
                <a:ext cx="4953000" cy="0"/>
              </a:xfrm>
              <a:prstGeom prst="straightConnector1">
                <a:avLst/>
              </a:prstGeom>
              <a:solidFill>
                <a:srgbClr val="FFFFFF"/>
              </a:solidFill>
              <a:ln cap="flat" cmpd="sng" w="9525">
                <a:solidFill>
                  <a:srgbClr val="1E293B"/>
                </a:solidFill>
                <a:prstDash val="solid"/>
                <a:round/>
                <a:headEnd len="sm" w="sm" type="none"/>
                <a:tailEnd len="sm" w="sm" type="none"/>
              </a:ln>
            </p:spPr>
          </p:cxnSp>
          <p:sp>
            <p:nvSpPr>
              <p:cNvPr id="394" name="Google Shape;394;p23"/>
              <p:cNvSpPr txBox="1"/>
              <p:nvPr/>
            </p:nvSpPr>
            <p:spPr>
              <a:xfrm>
                <a:off x="476250" y="95250"/>
                <a:ext cx="4000500" cy="171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850">
                    <a:solidFill>
                      <a:srgbClr val="94A3B8"/>
                    </a:solidFill>
                    <a:latin typeface="JetBrains Mono Medium"/>
                    <a:ea typeface="JetBrains Mono Medium"/>
                    <a:cs typeface="JetBrains Mono Medium"/>
                    <a:sym typeface="JetBrains Mono Medium"/>
                  </a:rPr>
                  <a:t>PaymentGateway.java</a:t>
                </a:r>
                <a:endParaRPr b="0" sz="850">
                  <a:solidFill>
                    <a:srgbClr val="94A3B8"/>
                  </a:solidFill>
                  <a:latin typeface="JetBrains Mono Medium"/>
                  <a:ea typeface="JetBrains Mono Medium"/>
                  <a:cs typeface="JetBrains Mono Medium"/>
                  <a:sym typeface="JetBrains Mono Medium"/>
                </a:endParaRPr>
              </a:p>
            </p:txBody>
          </p:sp>
          <p:sp>
            <p:nvSpPr>
              <p:cNvPr id="395" name="Google Shape;395;p23"/>
              <p:cNvSpPr txBox="1"/>
              <p:nvPr/>
            </p:nvSpPr>
            <p:spPr>
              <a:xfrm>
                <a:off x="152400" y="419100"/>
                <a:ext cx="4648200" cy="1905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850">
                    <a:solidFill>
                      <a:srgbClr val="64748B"/>
                    </a:solidFill>
                    <a:latin typeface="JetBrains Mono"/>
                    <a:ea typeface="JetBrains Mono"/>
                    <a:cs typeface="JetBrains Mono"/>
                    <a:sym typeface="JetBrains Mono"/>
                  </a:rPr>
                  <a:t>// Dynamic dispatch at runtime</a:t>
                </a:r>
                <a:endParaRPr b="0" sz="850">
                  <a:solidFill>
                    <a:srgbClr val="64748B"/>
                  </a:solidFill>
                  <a:latin typeface="JetBrains Mono"/>
                  <a:ea typeface="JetBrains Mono"/>
                  <a:cs typeface="JetBrains Mono"/>
                  <a:sym typeface="JetBrains Mono"/>
                </a:endParaRPr>
              </a:p>
              <a:p>
                <a:pPr indent="0" lvl="0" marL="0" rtl="0" algn="l">
                  <a:spcBef>
                    <a:spcPts val="400"/>
                  </a:spcBef>
                  <a:spcAft>
                    <a:spcPts val="0"/>
                  </a:spcAft>
                  <a:buNone/>
                </a:pPr>
                <a:r>
                  <a:rPr b="1" lang="en-US" sz="850">
                    <a:solidFill>
                      <a:srgbClr val="38BDF8"/>
                    </a:solidFill>
                    <a:latin typeface="JetBrains Mono"/>
                    <a:ea typeface="JetBrains Mono"/>
                    <a:cs typeface="JetBrains Mono"/>
                    <a:sym typeface="JetBrains Mono"/>
                  </a:rPr>
                  <a:t>PaymentGateway</a:t>
                </a:r>
                <a:r>
                  <a:rPr b="0" lang="en-US" sz="850">
                    <a:solidFill>
                      <a:srgbClr val="64748B"/>
                    </a:solidFill>
                    <a:latin typeface="JetBrains Mono"/>
                    <a:ea typeface="JetBrains Mono"/>
                    <a:cs typeface="JetBrains Mono"/>
                    <a:sym typeface="JetBrains Mono"/>
                  </a:rPr>
                  <a:t> </a:t>
                </a:r>
                <a:r>
                  <a:rPr b="0" lang="en-US" sz="850">
                    <a:solidFill>
                      <a:srgbClr val="E2E8F0"/>
                    </a:solidFill>
                    <a:latin typeface="JetBrains Mono"/>
                    <a:ea typeface="JetBrains Mono"/>
                    <a:cs typeface="JetBrains Mono"/>
                    <a:sym typeface="JetBrains Mono"/>
                  </a:rPr>
                  <a:t>gateway = getGateway();</a:t>
                </a:r>
                <a:endParaRPr b="0" sz="850">
                  <a:solidFill>
                    <a:srgbClr val="64748B"/>
                  </a:solidFill>
                  <a:latin typeface="JetBrains Mono"/>
                  <a:ea typeface="JetBrains Mono"/>
                  <a:cs typeface="JetBrains Mono"/>
                  <a:sym typeface="JetBrains Mono"/>
                </a:endParaRPr>
              </a:p>
              <a:p>
                <a:pPr indent="0" lvl="0" marL="0" rtl="0" algn="l">
                  <a:spcBef>
                    <a:spcPts val="1000"/>
                  </a:spcBef>
                  <a:spcAft>
                    <a:spcPts val="0"/>
                  </a:spcAft>
                  <a:buNone/>
                </a:pPr>
                <a:r>
                  <a:rPr b="0" lang="en-US" sz="850">
                    <a:solidFill>
                      <a:srgbClr val="64748B"/>
                    </a:solidFill>
                    <a:latin typeface="JetBrains Mono"/>
                    <a:ea typeface="JetBrains Mono"/>
                    <a:cs typeface="JetBrains Mono"/>
                    <a:sym typeface="JetBrains Mono"/>
                  </a:rPr>
                  <a:t>// Invokes PayPalGateway or StripeGateway at runtime</a:t>
                </a:r>
                <a:endParaRPr b="0" sz="850">
                  <a:solidFill>
                    <a:srgbClr val="64748B"/>
                  </a:solidFill>
                  <a:latin typeface="JetBrains Mono"/>
                  <a:ea typeface="JetBrains Mono"/>
                  <a:cs typeface="JetBrains Mono"/>
                  <a:sym typeface="JetBrains Mono"/>
                </a:endParaRPr>
              </a:p>
              <a:p>
                <a:pPr indent="0" lvl="0" marL="0" rtl="0" algn="l">
                  <a:spcBef>
                    <a:spcPts val="400"/>
                  </a:spcBef>
                  <a:spcAft>
                    <a:spcPts val="0"/>
                  </a:spcAft>
                  <a:buNone/>
                </a:pPr>
                <a:r>
                  <a:rPr b="0" lang="en-US" sz="850">
                    <a:solidFill>
                      <a:srgbClr val="E2E8F0"/>
                    </a:solidFill>
                    <a:latin typeface="JetBrains Mono"/>
                    <a:ea typeface="JetBrains Mono"/>
                    <a:cs typeface="JetBrains Mono"/>
                    <a:sym typeface="JetBrains Mono"/>
                  </a:rPr>
                  <a:t>gateway.</a:t>
                </a:r>
                <a:r>
                  <a:rPr b="0" lang="en-US" sz="850">
                    <a:solidFill>
                      <a:srgbClr val="A7F3D0"/>
                    </a:solidFill>
                    <a:latin typeface="JetBrains Mono"/>
                    <a:ea typeface="JetBrains Mono"/>
                    <a:cs typeface="JetBrains Mono"/>
                    <a:sym typeface="JetBrains Mono"/>
                  </a:rPr>
                  <a:t>process</a:t>
                </a:r>
                <a:r>
                  <a:rPr b="0" lang="en-US" sz="850">
                    <a:solidFill>
                      <a:srgbClr val="E2E8F0"/>
                    </a:solidFill>
                    <a:latin typeface="JetBrains Mono"/>
                    <a:ea typeface="JetBrains Mono"/>
                    <a:cs typeface="JetBrains Mono"/>
                    <a:sym typeface="JetBrains Mono"/>
                  </a:rPr>
                  <a:t>(invoice);</a:t>
                </a:r>
                <a:endParaRPr b="0" sz="850">
                  <a:solidFill>
                    <a:srgbClr val="64748B"/>
                  </a:solidFill>
                  <a:latin typeface="JetBrains Mono"/>
                  <a:ea typeface="JetBrains Mono"/>
                  <a:cs typeface="JetBrains Mono"/>
                  <a:sym typeface="JetBrains Mono"/>
                </a:endParaRPr>
              </a:p>
            </p:txBody>
          </p:sp>
        </p:grpSp>
        <p:grpSp>
          <p:nvGrpSpPr>
            <p:cNvPr id="396" name="Google Shape;396;p23"/>
            <p:cNvGrpSpPr/>
            <p:nvPr/>
          </p:nvGrpSpPr>
          <p:grpSpPr>
            <a:xfrm>
              <a:off x="152400" y="3657600"/>
              <a:ext cx="4953000" cy="666900"/>
              <a:chOff x="0" y="0"/>
              <a:chExt cx="4953000" cy="666900"/>
            </a:xfrm>
          </p:grpSpPr>
          <p:sp>
            <p:nvSpPr>
              <p:cNvPr id="397" name="Google Shape;397;p23"/>
              <p:cNvSpPr/>
              <p:nvPr/>
            </p:nvSpPr>
            <p:spPr>
              <a:xfrm>
                <a:off x="0" y="0"/>
                <a:ext cx="4953000" cy="666900"/>
              </a:xfrm>
              <a:prstGeom prst="roundRect">
                <a:avLst>
                  <a:gd fmla="val 8571" name="adj"/>
                </a:avLst>
              </a:prstGeom>
              <a:solidFill>
                <a:srgbClr val="ECFDF5"/>
              </a:solidFill>
              <a:ln cap="flat" cmpd="sng" w="9525">
                <a:solidFill>
                  <a:srgbClr val="A7F3D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8" name="Google Shape;398;p23"/>
              <p:cNvSpPr txBox="1"/>
              <p:nvPr/>
            </p:nvSpPr>
            <p:spPr>
              <a:xfrm>
                <a:off x="133350" y="76200"/>
                <a:ext cx="4686300" cy="514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800">
                    <a:solidFill>
                      <a:srgbClr val="047857"/>
                    </a:solidFill>
                    <a:latin typeface="Plus Jakarta Sans"/>
                    <a:ea typeface="Plus Jakarta Sans"/>
                    <a:cs typeface="Plus Jakarta Sans"/>
                    <a:sym typeface="Plus Jakarta Sans"/>
                  </a:rPr>
                  <a:t>QA VIEW &amp; BENEFIT</a:t>
                </a:r>
                <a:endParaRPr b="1" sz="800">
                  <a:solidFill>
                    <a:srgbClr val="047857"/>
                  </a:solidFill>
                  <a:latin typeface="Plus Jakarta Sans"/>
                  <a:ea typeface="Plus Jakarta Sans"/>
                  <a:cs typeface="Plus Jakarta Sans"/>
                  <a:sym typeface="Plus Jakarta Sans"/>
                </a:endParaRPr>
              </a:p>
              <a:p>
                <a:pPr indent="0" lvl="0" marL="0" rtl="0" algn="l">
                  <a:spcBef>
                    <a:spcPts val="200"/>
                  </a:spcBef>
                  <a:spcAft>
                    <a:spcPts val="0"/>
                  </a:spcAft>
                  <a:buNone/>
                </a:pPr>
                <a:r>
                  <a:rPr b="0" lang="en-US" sz="950">
                    <a:solidFill>
                      <a:srgbClr val="065F46"/>
                    </a:solidFill>
                    <a:latin typeface="Plus Jakarta Sans Medium"/>
                    <a:ea typeface="Plus Jakarta Sans Medium"/>
                    <a:cs typeface="Plus Jakarta Sans Medium"/>
                    <a:sym typeface="Plus Jakarta Sans Medium"/>
                  </a:rPr>
                  <a:t>Eliminates brittle switch statements across business flows.</a:t>
                </a:r>
                <a:endParaRPr b="0" sz="950">
                  <a:solidFill>
                    <a:srgbClr val="065F46"/>
                  </a:solidFill>
                  <a:latin typeface="Plus Jakarta Sans Medium"/>
                  <a:ea typeface="Plus Jakarta Sans Medium"/>
                  <a:cs typeface="Plus Jakarta Sans Medium"/>
                  <a:sym typeface="Plus Jakarta Sans Medium"/>
                </a:endParaRPr>
              </a:p>
            </p:txBody>
          </p:sp>
        </p:gr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02" name="Shape 402"/>
        <p:cNvGrpSpPr/>
        <p:nvPr/>
      </p:nvGrpSpPr>
      <p:grpSpPr>
        <a:xfrm>
          <a:off x="0" y="0"/>
          <a:ext cx="0" cy="0"/>
          <a:chOff x="0" y="0"/>
          <a:chExt cx="0" cy="0"/>
        </a:xfrm>
      </p:grpSpPr>
      <p:sp>
        <p:nvSpPr>
          <p:cNvPr id="403" name="Google Shape;403;p24"/>
          <p:cNvSpPr txBox="1"/>
          <p:nvPr/>
        </p:nvSpPr>
        <p:spPr>
          <a:xfrm>
            <a:off x="685800" y="342900"/>
            <a:ext cx="6667500" cy="619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950">
                <a:solidFill>
                  <a:srgbClr val="0284C7"/>
                </a:solidFill>
                <a:latin typeface="Plus Jakarta Sans"/>
                <a:ea typeface="Plus Jakarta Sans"/>
                <a:cs typeface="Plus Jakarta Sans"/>
                <a:sym typeface="Plus Jakarta Sans"/>
              </a:rPr>
              <a:t>Modern Java Features</a:t>
            </a:r>
            <a:endParaRPr b="1" sz="950">
              <a:solidFill>
                <a:srgbClr val="0284C7"/>
              </a:solidFill>
              <a:latin typeface="Plus Jakarta Sans"/>
              <a:ea typeface="Plus Jakarta Sans"/>
              <a:cs typeface="Plus Jakarta Sans"/>
              <a:sym typeface="Plus Jakarta Sans"/>
            </a:endParaRPr>
          </a:p>
          <a:p>
            <a:pPr indent="0" lvl="0" marL="0" rtl="0" algn="l">
              <a:spcBef>
                <a:spcPts val="300"/>
              </a:spcBef>
              <a:spcAft>
                <a:spcPts val="0"/>
              </a:spcAft>
              <a:buNone/>
            </a:pPr>
            <a:r>
              <a:rPr b="0" lang="en-US" sz="2400">
                <a:solidFill>
                  <a:srgbClr val="0F172A"/>
                </a:solidFill>
                <a:latin typeface="Plus Jakarta Sans ExtraBold"/>
                <a:ea typeface="Plus Jakarta Sans ExtraBold"/>
                <a:cs typeface="Plus Jakarta Sans ExtraBold"/>
                <a:sym typeface="Plus Jakarta Sans ExtraBold"/>
              </a:rPr>
              <a:t>Records: Immutable Data Carriers</a:t>
            </a:r>
            <a:endParaRPr b="0" sz="2400">
              <a:solidFill>
                <a:srgbClr val="0F172A"/>
              </a:solidFill>
              <a:latin typeface="Plus Jakarta Sans ExtraBold"/>
              <a:ea typeface="Plus Jakarta Sans ExtraBold"/>
              <a:cs typeface="Plus Jakarta Sans ExtraBold"/>
              <a:sym typeface="Plus Jakarta Sans ExtraBold"/>
            </a:endParaRPr>
          </a:p>
        </p:txBody>
      </p:sp>
      <p:sp>
        <p:nvSpPr>
          <p:cNvPr id="404" name="Google Shape;404;p24"/>
          <p:cNvSpPr/>
          <p:nvPr/>
        </p:nvSpPr>
        <p:spPr>
          <a:xfrm>
            <a:off x="10172700" y="361950"/>
            <a:ext cx="1333500" cy="304800"/>
          </a:xfrm>
          <a:prstGeom prst="roundRect">
            <a:avLst>
              <a:gd fmla="val 50000" name="adj"/>
            </a:avLst>
          </a:prstGeom>
          <a:solidFill>
            <a:srgbClr val="EFF6FF"/>
          </a:solidFill>
          <a:ln cap="flat" cmpd="sng" w="9525">
            <a:solidFill>
              <a:srgbClr val="BFDBF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5" name="Google Shape;405;p24"/>
          <p:cNvSpPr txBox="1"/>
          <p:nvPr/>
        </p:nvSpPr>
        <p:spPr>
          <a:xfrm>
            <a:off x="10172700" y="361950"/>
            <a:ext cx="1333500" cy="304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950">
                <a:solidFill>
                  <a:srgbClr val="1D4ED8"/>
                </a:solidFill>
                <a:latin typeface="Plus Jakarta Sans"/>
                <a:ea typeface="Plus Jakarta Sans"/>
                <a:cs typeface="Plus Jakarta Sans"/>
                <a:sym typeface="Plus Jakarta Sans"/>
              </a:rPr>
              <a:t>Java 16+ Standard</a:t>
            </a:r>
            <a:endParaRPr b="1" sz="950">
              <a:solidFill>
                <a:srgbClr val="1D4ED8"/>
              </a:solidFill>
              <a:latin typeface="Plus Jakarta Sans"/>
              <a:ea typeface="Plus Jakarta Sans"/>
              <a:cs typeface="Plus Jakarta Sans"/>
              <a:sym typeface="Plus Jakarta Sans"/>
            </a:endParaRPr>
          </a:p>
        </p:txBody>
      </p:sp>
      <p:sp>
        <p:nvSpPr>
          <p:cNvPr id="406" name="Google Shape;406;p24"/>
          <p:cNvSpPr/>
          <p:nvPr/>
        </p:nvSpPr>
        <p:spPr>
          <a:xfrm>
            <a:off x="685800" y="1009650"/>
            <a:ext cx="10820400" cy="800100"/>
          </a:xfrm>
          <a:prstGeom prst="roundRect">
            <a:avLst>
              <a:gd fmla="val 9523"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7" name="Google Shape;407;p24"/>
          <p:cNvSpPr/>
          <p:nvPr/>
        </p:nvSpPr>
        <p:spPr>
          <a:xfrm>
            <a:off x="685800" y="1009650"/>
            <a:ext cx="47700" cy="800100"/>
          </a:xfrm>
          <a:prstGeom prst="roundRect">
            <a:avLst>
              <a:gd fmla="val 40000" name="adj"/>
            </a:avLst>
          </a:prstGeom>
          <a:solidFill>
            <a:srgbClr val="0284C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8" name="Google Shape;408;p24"/>
          <p:cNvSpPr txBox="1"/>
          <p:nvPr/>
        </p:nvSpPr>
        <p:spPr>
          <a:xfrm>
            <a:off x="895350" y="1085850"/>
            <a:ext cx="10382400" cy="647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850">
                <a:solidFill>
                  <a:srgbClr val="0284C7"/>
                </a:solidFill>
                <a:latin typeface="Plus Jakarta Sans"/>
                <a:ea typeface="Plus Jakarta Sans"/>
                <a:cs typeface="Plus Jakarta Sans"/>
                <a:sym typeface="Plus Jakarta Sans"/>
              </a:rPr>
              <a:t>SIMPLE DEFINITION</a:t>
            </a:r>
            <a:endParaRPr b="1" sz="850">
              <a:solidFill>
                <a:srgbClr val="0284C7"/>
              </a:solidFill>
              <a:latin typeface="Plus Jakarta Sans"/>
              <a:ea typeface="Plus Jakarta Sans"/>
              <a:cs typeface="Plus Jakarta Sans"/>
              <a:sym typeface="Plus Jakarta Sans"/>
            </a:endParaRPr>
          </a:p>
          <a:p>
            <a:pPr indent="0" lvl="0" marL="0" rtl="0" algn="l">
              <a:spcBef>
                <a:spcPts val="300"/>
              </a:spcBef>
              <a:spcAft>
                <a:spcPts val="0"/>
              </a:spcAft>
              <a:buNone/>
            </a:pPr>
            <a:r>
              <a:rPr b="0" lang="en-US" sz="1100">
                <a:solidFill>
                  <a:srgbClr val="1E293B"/>
                </a:solidFill>
                <a:latin typeface="Plus Jakarta Sans SemiBold"/>
                <a:ea typeface="Plus Jakarta Sans SemiBold"/>
                <a:cs typeface="Plus Jakarta Sans SemiBold"/>
                <a:sym typeface="Plus Jakarta Sans SemiBold"/>
              </a:rPr>
              <a:t>A Record is a quick, one-line Java class created solely to hold read-only data. Java automatically writes getters, constructor, and comparison methods behind the scenes, eliminating boilerplate code.</a:t>
            </a:r>
            <a:endParaRPr b="0" sz="1100">
              <a:solidFill>
                <a:srgbClr val="1E293B"/>
              </a:solidFill>
              <a:latin typeface="Plus Jakarta Sans SemiBold"/>
              <a:ea typeface="Plus Jakarta Sans SemiBold"/>
              <a:cs typeface="Plus Jakarta Sans SemiBold"/>
              <a:sym typeface="Plus Jakarta Sans SemiBold"/>
            </a:endParaRPr>
          </a:p>
        </p:txBody>
      </p:sp>
      <p:sp>
        <p:nvSpPr>
          <p:cNvPr id="409" name="Google Shape;409;p24"/>
          <p:cNvSpPr/>
          <p:nvPr/>
        </p:nvSpPr>
        <p:spPr>
          <a:xfrm>
            <a:off x="685800" y="1962150"/>
            <a:ext cx="4381500" cy="4533900"/>
          </a:xfrm>
          <a:prstGeom prst="roundRect">
            <a:avLst>
              <a:gd fmla="val 2608"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0" name="Google Shape;410;p24"/>
          <p:cNvSpPr txBox="1"/>
          <p:nvPr/>
        </p:nvSpPr>
        <p:spPr>
          <a:xfrm>
            <a:off x="876300" y="2114550"/>
            <a:ext cx="4000500" cy="1143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850">
                <a:solidFill>
                  <a:srgbClr val="0284C7"/>
                </a:solidFill>
                <a:latin typeface="Plus Jakarta Sans"/>
                <a:ea typeface="Plus Jakarta Sans"/>
                <a:cs typeface="Plus Jakarta Sans"/>
                <a:sym typeface="Plus Jakarta Sans"/>
              </a:rPr>
              <a:t>REAL-WORLD ANALOGY</a:t>
            </a:r>
            <a:endParaRPr b="1" sz="850">
              <a:solidFill>
                <a:srgbClr val="0284C7"/>
              </a:solidFill>
              <a:latin typeface="Plus Jakarta Sans"/>
              <a:ea typeface="Plus Jakarta Sans"/>
              <a:cs typeface="Plus Jakarta Sans"/>
              <a:sym typeface="Plus Jakarta Sans"/>
            </a:endParaRPr>
          </a:p>
          <a:p>
            <a:pPr indent="0" lvl="0" marL="0" rtl="0" algn="l">
              <a:spcBef>
                <a:spcPts val="300"/>
              </a:spcBef>
              <a:spcAft>
                <a:spcPts val="0"/>
              </a:spcAft>
              <a:buNone/>
            </a:pPr>
            <a:r>
              <a:rPr b="1" lang="en-US" sz="1800">
                <a:solidFill>
                  <a:srgbClr val="0F172A"/>
                </a:solidFill>
                <a:latin typeface="Plus Jakarta Sans"/>
                <a:ea typeface="Plus Jakarta Sans"/>
                <a:cs typeface="Plus Jakarta Sans"/>
                <a:sym typeface="Plus Jakarta Sans"/>
              </a:rPr>
              <a:t>Notarized Bill of Sale</a:t>
            </a:r>
            <a:endParaRPr b="1" sz="1800">
              <a:solidFill>
                <a:srgbClr val="0F172A"/>
              </a:solidFill>
              <a:latin typeface="Plus Jakarta Sans"/>
              <a:ea typeface="Plus Jakarta Sans"/>
              <a:cs typeface="Plus Jakarta Sans"/>
              <a:sym typeface="Plus Jakarta Sans"/>
            </a:endParaRPr>
          </a:p>
          <a:p>
            <a:pPr indent="0" lvl="0" marL="0" rtl="0" algn="l">
              <a:spcBef>
                <a:spcPts val="600"/>
              </a:spcBef>
              <a:spcAft>
                <a:spcPts val="0"/>
              </a:spcAft>
              <a:buNone/>
            </a:pPr>
            <a:r>
              <a:rPr b="0" lang="en-US" sz="1000">
                <a:solidFill>
                  <a:srgbClr val="475569"/>
                </a:solidFill>
                <a:latin typeface="Plus Jakarta Sans"/>
                <a:ea typeface="Plus Jakarta Sans"/>
                <a:cs typeface="Plus Jakarta Sans"/>
                <a:sym typeface="Plus Jakarta Sans"/>
              </a:rPr>
              <a:t>A sealed receipt or vehicle transfer title. Once stamped, its fields (VIN, Sale Price, Date) cannot be rewritten with a pen. If changes occur, a new receipt must be produced.</a:t>
            </a:r>
            <a:endParaRPr b="0" sz="1000">
              <a:solidFill>
                <a:srgbClr val="475569"/>
              </a:solidFill>
              <a:latin typeface="Plus Jakarta Sans"/>
              <a:ea typeface="Plus Jakarta Sans"/>
              <a:cs typeface="Plus Jakarta Sans"/>
              <a:sym typeface="Plus Jakarta Sans"/>
            </a:endParaRPr>
          </a:p>
        </p:txBody>
      </p:sp>
      <p:sp>
        <p:nvSpPr>
          <p:cNvPr id="411" name="Google Shape;411;p24"/>
          <p:cNvSpPr/>
          <p:nvPr/>
        </p:nvSpPr>
        <p:spPr>
          <a:xfrm>
            <a:off x="876300" y="3371850"/>
            <a:ext cx="4000500" cy="723900"/>
          </a:xfrm>
          <a:prstGeom prst="roundRect">
            <a:avLst>
              <a:gd fmla="val 10526" name="adj"/>
            </a:avLst>
          </a:prstGeom>
          <a:solidFill>
            <a:srgbClr val="F0F9FF"/>
          </a:solidFill>
          <a:ln cap="flat" cmpd="sng" w="9525">
            <a:solidFill>
              <a:srgbClr val="BAE6F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2" name="Google Shape;412;p24"/>
          <p:cNvSpPr txBox="1"/>
          <p:nvPr/>
        </p:nvSpPr>
        <p:spPr>
          <a:xfrm>
            <a:off x="1009650" y="3448050"/>
            <a:ext cx="37338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850">
                <a:solidFill>
                  <a:srgbClr val="0369A1"/>
                </a:solidFill>
                <a:latin typeface="Plus Jakarta Sans"/>
                <a:ea typeface="Plus Jakarta Sans"/>
                <a:cs typeface="Plus Jakarta Sans"/>
                <a:sym typeface="Plus Jakarta Sans"/>
              </a:rPr>
              <a:t>IMMUTABILITY GUARANTEE</a:t>
            </a:r>
            <a:endParaRPr b="1" sz="850">
              <a:solidFill>
                <a:srgbClr val="0369A1"/>
              </a:solidFill>
              <a:latin typeface="Plus Jakarta Sans"/>
              <a:ea typeface="Plus Jakarta Sans"/>
              <a:cs typeface="Plus Jakarta Sans"/>
              <a:sym typeface="Plus Jakarta Sans"/>
            </a:endParaRPr>
          </a:p>
          <a:p>
            <a:pPr indent="0" lvl="0" marL="0" rtl="0" algn="l">
              <a:spcBef>
                <a:spcPts val="300"/>
              </a:spcBef>
              <a:spcAft>
                <a:spcPts val="0"/>
              </a:spcAft>
              <a:buNone/>
            </a:pPr>
            <a:r>
              <a:rPr b="1" lang="en-US" sz="950">
                <a:solidFill>
                  <a:srgbClr val="0369A1"/>
                </a:solidFill>
                <a:latin typeface="Plus Jakarta Sans"/>
                <a:ea typeface="Plus Jakarta Sans"/>
                <a:cs typeface="Plus Jakarta Sans"/>
                <a:sym typeface="Plus Jakarta Sans"/>
              </a:rPr>
              <a:t>No Setters: </a:t>
            </a:r>
            <a:r>
              <a:rPr b="0" lang="en-US" sz="950">
                <a:solidFill>
                  <a:srgbClr val="0369A1"/>
                </a:solidFill>
                <a:latin typeface="Plus Jakarta Sans"/>
                <a:ea typeface="Plus Jakarta Sans"/>
                <a:cs typeface="Plus Jakarta Sans"/>
                <a:sym typeface="Plus Jakarta Sans"/>
              </a:rPr>
              <a:t>Values are strictly read-only. Thread-safe by default.</a:t>
            </a:r>
            <a:endParaRPr b="1" sz="950">
              <a:solidFill>
                <a:srgbClr val="0369A1"/>
              </a:solidFill>
              <a:latin typeface="Plus Jakarta Sans"/>
              <a:ea typeface="Plus Jakarta Sans"/>
              <a:cs typeface="Plus Jakarta Sans"/>
              <a:sym typeface="Plus Jakarta Sans"/>
            </a:endParaRPr>
          </a:p>
        </p:txBody>
      </p:sp>
      <p:sp>
        <p:nvSpPr>
          <p:cNvPr id="413" name="Google Shape;413;p24"/>
          <p:cNvSpPr/>
          <p:nvPr/>
        </p:nvSpPr>
        <p:spPr>
          <a:xfrm>
            <a:off x="876300" y="4210050"/>
            <a:ext cx="4000500" cy="723900"/>
          </a:xfrm>
          <a:prstGeom prst="roundRect">
            <a:avLst>
              <a:gd fmla="val 10526" name="adj"/>
            </a:avLst>
          </a:prstGeom>
          <a:solidFill>
            <a:srgbClr val="ECFDF5"/>
          </a:solidFill>
          <a:ln cap="flat" cmpd="sng" w="9525">
            <a:solidFill>
              <a:srgbClr val="A7F3D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4" name="Google Shape;414;p24"/>
          <p:cNvSpPr txBox="1"/>
          <p:nvPr/>
        </p:nvSpPr>
        <p:spPr>
          <a:xfrm>
            <a:off x="1009650" y="4286250"/>
            <a:ext cx="37338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850">
                <a:solidFill>
                  <a:srgbClr val="047857"/>
                </a:solidFill>
                <a:latin typeface="Plus Jakarta Sans"/>
                <a:ea typeface="Plus Jakarta Sans"/>
                <a:cs typeface="Plus Jakarta Sans"/>
                <a:sym typeface="Plus Jakarta Sans"/>
              </a:rPr>
              <a:t>BOILERPLATE REDUCTION</a:t>
            </a:r>
            <a:endParaRPr b="1" sz="850">
              <a:solidFill>
                <a:srgbClr val="047857"/>
              </a:solidFill>
              <a:latin typeface="Plus Jakarta Sans"/>
              <a:ea typeface="Plus Jakarta Sans"/>
              <a:cs typeface="Plus Jakarta Sans"/>
              <a:sym typeface="Plus Jakarta Sans"/>
            </a:endParaRPr>
          </a:p>
          <a:p>
            <a:pPr indent="0" lvl="0" marL="0" rtl="0" algn="l">
              <a:spcBef>
                <a:spcPts val="300"/>
              </a:spcBef>
              <a:spcAft>
                <a:spcPts val="0"/>
              </a:spcAft>
              <a:buNone/>
            </a:pPr>
            <a:r>
              <a:rPr b="0" lang="en-US" sz="950">
                <a:solidFill>
                  <a:srgbClr val="065F46"/>
                </a:solidFill>
                <a:latin typeface="Plus Jakarta Sans Medium"/>
                <a:ea typeface="Plus Jakarta Sans Medium"/>
                <a:cs typeface="Plus Jakarta Sans Medium"/>
                <a:sym typeface="Plus Jakarta Sans Medium"/>
              </a:rPr>
              <a:t>Replaces 60+ lines of verbose DTO boilerplate.</a:t>
            </a:r>
            <a:endParaRPr b="0" sz="950">
              <a:solidFill>
                <a:srgbClr val="065F46"/>
              </a:solidFill>
              <a:latin typeface="Plus Jakarta Sans Medium"/>
              <a:ea typeface="Plus Jakarta Sans Medium"/>
              <a:cs typeface="Plus Jakarta Sans Medium"/>
              <a:sym typeface="Plus Jakarta Sans Medium"/>
            </a:endParaRPr>
          </a:p>
        </p:txBody>
      </p:sp>
      <p:sp>
        <p:nvSpPr>
          <p:cNvPr id="415" name="Google Shape;415;p24"/>
          <p:cNvSpPr/>
          <p:nvPr/>
        </p:nvSpPr>
        <p:spPr>
          <a:xfrm>
            <a:off x="5295900" y="1962150"/>
            <a:ext cx="6210300" cy="4533900"/>
          </a:xfrm>
          <a:prstGeom prst="roundRect">
            <a:avLst>
              <a:gd fmla="val 2521"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6" name="Google Shape;416;p24"/>
          <p:cNvSpPr txBox="1"/>
          <p:nvPr/>
        </p:nvSpPr>
        <p:spPr>
          <a:xfrm>
            <a:off x="5486400" y="2114550"/>
            <a:ext cx="5829300" cy="476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850">
                <a:solidFill>
                  <a:srgbClr val="0284C7"/>
                </a:solidFill>
                <a:latin typeface="Plus Jakarta Sans"/>
                <a:ea typeface="Plus Jakarta Sans"/>
                <a:cs typeface="Plus Jakarta Sans"/>
                <a:sym typeface="Plus Jakarta Sans"/>
              </a:rPr>
              <a:t>CODE IMPLEMENTATION</a:t>
            </a:r>
            <a:endParaRPr b="1" sz="850">
              <a:solidFill>
                <a:srgbClr val="0284C7"/>
              </a:solidFill>
              <a:latin typeface="Plus Jakarta Sans"/>
              <a:ea typeface="Plus Jakarta Sans"/>
              <a:cs typeface="Plus Jakarta Sans"/>
              <a:sym typeface="Plus Jakarta Sans"/>
            </a:endParaRPr>
          </a:p>
          <a:p>
            <a:pPr indent="0" lvl="0" marL="0" rtl="0" algn="l">
              <a:spcBef>
                <a:spcPts val="150"/>
              </a:spcBef>
              <a:spcAft>
                <a:spcPts val="0"/>
              </a:spcAft>
              <a:buNone/>
            </a:pPr>
            <a:r>
              <a:rPr b="1" lang="en-US" sz="1800">
                <a:solidFill>
                  <a:srgbClr val="0F172A"/>
                </a:solidFill>
                <a:latin typeface="Plus Jakarta Sans"/>
                <a:ea typeface="Plus Jakarta Sans"/>
                <a:cs typeface="Plus Jakarta Sans"/>
                <a:sym typeface="Plus Jakarta Sans"/>
              </a:rPr>
              <a:t>Concise &amp; Immutable DTO</a:t>
            </a:r>
            <a:endParaRPr b="1" sz="1800">
              <a:solidFill>
                <a:srgbClr val="0F172A"/>
              </a:solidFill>
              <a:latin typeface="Plus Jakarta Sans"/>
              <a:ea typeface="Plus Jakarta Sans"/>
              <a:cs typeface="Plus Jakarta Sans"/>
              <a:sym typeface="Plus Jakarta Sans"/>
            </a:endParaRPr>
          </a:p>
        </p:txBody>
      </p:sp>
      <p:sp>
        <p:nvSpPr>
          <p:cNvPr id="417" name="Google Shape;417;p24"/>
          <p:cNvSpPr/>
          <p:nvPr/>
        </p:nvSpPr>
        <p:spPr>
          <a:xfrm>
            <a:off x="5486400" y="2667000"/>
            <a:ext cx="5829300" cy="2857500"/>
          </a:xfrm>
          <a:prstGeom prst="roundRect">
            <a:avLst>
              <a:gd fmla="val 2666" name="adj"/>
            </a:avLst>
          </a:prstGeom>
          <a:solidFill>
            <a:srgbClr val="0F172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8" name="Google Shape;418;p24"/>
          <p:cNvSpPr/>
          <p:nvPr/>
        </p:nvSpPr>
        <p:spPr>
          <a:xfrm>
            <a:off x="5610225" y="2781300"/>
            <a:ext cx="76200" cy="76200"/>
          </a:xfrm>
          <a:prstGeom prst="ellipse">
            <a:avLst/>
          </a:prstGeom>
          <a:solidFill>
            <a:srgbClr val="EF44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9" name="Google Shape;419;p24"/>
          <p:cNvSpPr/>
          <p:nvPr/>
        </p:nvSpPr>
        <p:spPr>
          <a:xfrm>
            <a:off x="5724525" y="2781300"/>
            <a:ext cx="76200" cy="76200"/>
          </a:xfrm>
          <a:prstGeom prst="ellipse">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20" name="Google Shape;420;p24"/>
          <p:cNvSpPr/>
          <p:nvPr/>
        </p:nvSpPr>
        <p:spPr>
          <a:xfrm>
            <a:off x="5838825" y="2781300"/>
            <a:ext cx="76200" cy="76200"/>
          </a:xfrm>
          <a:prstGeom prst="ellipse">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421" name="Google Shape;421;p24"/>
          <p:cNvCxnSpPr/>
          <p:nvPr/>
        </p:nvCxnSpPr>
        <p:spPr>
          <a:xfrm>
            <a:off x="5486400" y="2971800"/>
            <a:ext cx="5829300" cy="0"/>
          </a:xfrm>
          <a:prstGeom prst="straightConnector1">
            <a:avLst/>
          </a:prstGeom>
          <a:solidFill>
            <a:srgbClr val="FFFFFF"/>
          </a:solidFill>
          <a:ln cap="flat" cmpd="sng" w="9525">
            <a:solidFill>
              <a:srgbClr val="1E293B"/>
            </a:solidFill>
            <a:prstDash val="solid"/>
            <a:round/>
            <a:headEnd len="sm" w="sm" type="none"/>
            <a:tailEnd len="sm" w="sm" type="none"/>
          </a:ln>
        </p:spPr>
      </p:cxnSp>
      <p:sp>
        <p:nvSpPr>
          <p:cNvPr id="422" name="Google Shape;422;p24"/>
          <p:cNvSpPr txBox="1"/>
          <p:nvPr/>
        </p:nvSpPr>
        <p:spPr>
          <a:xfrm>
            <a:off x="6000750" y="2743200"/>
            <a:ext cx="2857500" cy="171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850">
                <a:solidFill>
                  <a:srgbClr val="94A3B8"/>
                </a:solidFill>
                <a:latin typeface="JetBrains Mono Medium"/>
                <a:ea typeface="JetBrains Mono Medium"/>
                <a:cs typeface="JetBrains Mono Medium"/>
                <a:sym typeface="JetBrains Mono Medium"/>
              </a:rPr>
              <a:t>TransferRequest.java</a:t>
            </a:r>
            <a:endParaRPr b="0" sz="850">
              <a:solidFill>
                <a:srgbClr val="94A3B8"/>
              </a:solidFill>
              <a:latin typeface="JetBrains Mono Medium"/>
              <a:ea typeface="JetBrains Mono Medium"/>
              <a:cs typeface="JetBrains Mono Medium"/>
              <a:sym typeface="JetBrains Mono Medium"/>
            </a:endParaRPr>
          </a:p>
        </p:txBody>
      </p:sp>
      <p:sp>
        <p:nvSpPr>
          <p:cNvPr id="423" name="Google Shape;423;p24"/>
          <p:cNvSpPr txBox="1"/>
          <p:nvPr/>
        </p:nvSpPr>
        <p:spPr>
          <a:xfrm>
            <a:off x="5619750" y="3067050"/>
            <a:ext cx="5562600" cy="2381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875">
                <a:solidFill>
                  <a:srgbClr val="64748B"/>
                </a:solidFill>
                <a:latin typeface="JetBrains Mono"/>
                <a:ea typeface="JetBrains Mono"/>
                <a:cs typeface="JetBrains Mono"/>
                <a:sym typeface="JetBrains Mono"/>
              </a:rPr>
              <a:t>// One line replaces getters, equals, hashCode, toString</a:t>
            </a:r>
            <a:endParaRPr sz="875">
              <a:solidFill>
                <a:srgbClr val="64748B"/>
              </a:solidFill>
              <a:latin typeface="JetBrains Mono"/>
              <a:ea typeface="JetBrains Mono"/>
              <a:cs typeface="JetBrains Mono"/>
              <a:sym typeface="JetBrains Mono"/>
            </a:endParaRPr>
          </a:p>
          <a:p>
            <a:pPr indent="0" lvl="0" marL="0" rtl="0" algn="l">
              <a:spcBef>
                <a:spcPts val="225"/>
              </a:spcBef>
              <a:spcAft>
                <a:spcPts val="0"/>
              </a:spcAft>
              <a:buNone/>
            </a:pPr>
            <a:r>
              <a:rPr b="1" lang="en-US" sz="875">
                <a:solidFill>
                  <a:srgbClr val="F43F5E"/>
                </a:solidFill>
                <a:latin typeface="JetBrains Mono"/>
                <a:ea typeface="JetBrains Mono"/>
                <a:cs typeface="JetBrains Mono"/>
                <a:sym typeface="JetBrains Mono"/>
              </a:rPr>
              <a:t>public record</a:t>
            </a:r>
            <a:r>
              <a:rPr lang="en-US" sz="875">
                <a:solidFill>
                  <a:srgbClr val="E2E8F0"/>
                </a:solidFill>
                <a:latin typeface="JetBrains Mono"/>
                <a:ea typeface="JetBrains Mono"/>
                <a:cs typeface="JetBrains Mono"/>
                <a:sym typeface="JetBrains Mono"/>
              </a:rPr>
              <a:t> </a:t>
            </a:r>
            <a:r>
              <a:rPr b="1" lang="en-US" sz="875">
                <a:solidFill>
                  <a:srgbClr val="38BDF8"/>
                </a:solidFill>
                <a:latin typeface="JetBrains Mono"/>
                <a:ea typeface="JetBrains Mono"/>
                <a:cs typeface="JetBrains Mono"/>
                <a:sym typeface="JetBrains Mono"/>
              </a:rPr>
              <a:t>TransferRequest</a:t>
            </a:r>
            <a:r>
              <a:rPr lang="en-US" sz="875">
                <a:solidFill>
                  <a:srgbClr val="E2E8F0"/>
                </a:solidFill>
                <a:latin typeface="JetBrains Mono"/>
                <a:ea typeface="JetBrains Mono"/>
                <a:cs typeface="JetBrains Mono"/>
                <a:sym typeface="JetBrains Mono"/>
              </a:rPr>
              <a:t>(</a:t>
            </a:r>
            <a:endParaRPr sz="875">
              <a:solidFill>
                <a:srgbClr val="E2E8F0"/>
              </a:solidFill>
              <a:latin typeface="JetBrains Mono"/>
              <a:ea typeface="JetBrains Mono"/>
              <a:cs typeface="JetBrains Mono"/>
              <a:sym typeface="JetBrains Mono"/>
            </a:endParaRPr>
          </a:p>
          <a:p>
            <a:pPr indent="0" lvl="0" marL="152400" marR="0" rtl="0" algn="l">
              <a:spcBef>
                <a:spcPts val="150"/>
              </a:spcBef>
              <a:spcAft>
                <a:spcPts val="0"/>
              </a:spcAft>
              <a:buNone/>
            </a:pPr>
            <a:r>
              <a:rPr lang="en-US" sz="875">
                <a:solidFill>
                  <a:srgbClr val="E2E8F0"/>
                </a:solidFill>
                <a:latin typeface="JetBrains Mono"/>
                <a:ea typeface="JetBrains Mono"/>
                <a:cs typeface="JetBrains Mono"/>
                <a:sym typeface="JetBrains Mono"/>
              </a:rPr>
              <a:t>String transactionId, BigDecimal amount,</a:t>
            </a:r>
            <a:endParaRPr sz="875">
              <a:solidFill>
                <a:srgbClr val="E2E8F0"/>
              </a:solidFill>
              <a:latin typeface="JetBrains Mono"/>
              <a:ea typeface="JetBrains Mono"/>
              <a:cs typeface="JetBrains Mono"/>
              <a:sym typeface="JetBrains Mono"/>
            </a:endParaRPr>
          </a:p>
          <a:p>
            <a:pPr indent="0" lvl="0" marL="152400" marR="0" rtl="0" algn="l">
              <a:spcBef>
                <a:spcPts val="150"/>
              </a:spcBef>
              <a:spcAft>
                <a:spcPts val="0"/>
              </a:spcAft>
              <a:buNone/>
            </a:pPr>
            <a:r>
              <a:rPr lang="en-US" sz="875">
                <a:solidFill>
                  <a:srgbClr val="E2E8F0"/>
                </a:solidFill>
                <a:latin typeface="JetBrains Mono"/>
                <a:ea typeface="JetBrains Mono"/>
                <a:cs typeface="JetBrains Mono"/>
                <a:sym typeface="JetBrains Mono"/>
              </a:rPr>
              <a:t>String senderIban, String receiverIban</a:t>
            </a:r>
            <a:endParaRPr sz="875">
              <a:solidFill>
                <a:srgbClr val="E2E8F0"/>
              </a:solidFill>
              <a:latin typeface="JetBrains Mono"/>
              <a:ea typeface="JetBrains Mono"/>
              <a:cs typeface="JetBrains Mono"/>
              <a:sym typeface="JetBrains Mono"/>
            </a:endParaRPr>
          </a:p>
          <a:p>
            <a:pPr indent="0" lvl="0" marL="0" rtl="0" algn="l">
              <a:spcBef>
                <a:spcPts val="150"/>
              </a:spcBef>
              <a:spcAft>
                <a:spcPts val="0"/>
              </a:spcAft>
              <a:buNone/>
            </a:pPr>
            <a:r>
              <a:rPr lang="en-US" sz="875">
                <a:solidFill>
                  <a:srgbClr val="E2E8F0"/>
                </a:solidFill>
                <a:latin typeface="JetBrains Mono"/>
                <a:ea typeface="JetBrains Mono"/>
                <a:cs typeface="JetBrains Mono"/>
                <a:sym typeface="JetBrains Mono"/>
              </a:rPr>
              <a:t>) {</a:t>
            </a:r>
            <a:endParaRPr sz="875">
              <a:solidFill>
                <a:srgbClr val="E2E8F0"/>
              </a:solidFill>
              <a:latin typeface="JetBrains Mono"/>
              <a:ea typeface="JetBrains Mono"/>
              <a:cs typeface="JetBrains Mono"/>
              <a:sym typeface="JetBrains Mono"/>
            </a:endParaRPr>
          </a:p>
          <a:p>
            <a:pPr indent="0" lvl="0" marL="152400" marR="0" rtl="0" algn="l">
              <a:spcBef>
                <a:spcPts val="450"/>
              </a:spcBef>
              <a:spcAft>
                <a:spcPts val="0"/>
              </a:spcAft>
              <a:buNone/>
            </a:pPr>
            <a:r>
              <a:rPr lang="en-US" sz="875">
                <a:solidFill>
                  <a:srgbClr val="64748B"/>
                </a:solidFill>
                <a:latin typeface="JetBrains Mono"/>
                <a:ea typeface="JetBrains Mono"/>
                <a:cs typeface="JetBrains Mono"/>
                <a:sym typeface="JetBrains Mono"/>
              </a:rPr>
              <a:t>// Compact validation constructor</a:t>
            </a:r>
            <a:endParaRPr sz="875">
              <a:solidFill>
                <a:srgbClr val="64748B"/>
              </a:solidFill>
              <a:latin typeface="JetBrains Mono"/>
              <a:ea typeface="JetBrains Mono"/>
              <a:cs typeface="JetBrains Mono"/>
              <a:sym typeface="JetBrains Mono"/>
            </a:endParaRPr>
          </a:p>
          <a:p>
            <a:pPr indent="0" lvl="0" marL="152400" marR="0" rtl="0" algn="l">
              <a:spcBef>
                <a:spcPts val="150"/>
              </a:spcBef>
              <a:spcAft>
                <a:spcPts val="0"/>
              </a:spcAft>
              <a:buNone/>
            </a:pPr>
            <a:r>
              <a:rPr b="1" lang="en-US" sz="875">
                <a:solidFill>
                  <a:srgbClr val="F43F5E"/>
                </a:solidFill>
                <a:latin typeface="JetBrains Mono"/>
                <a:ea typeface="JetBrains Mono"/>
                <a:cs typeface="JetBrains Mono"/>
                <a:sym typeface="JetBrains Mono"/>
              </a:rPr>
              <a:t>public</a:t>
            </a:r>
            <a:r>
              <a:rPr lang="en-US" sz="875">
                <a:solidFill>
                  <a:srgbClr val="E2E8F0"/>
                </a:solidFill>
                <a:latin typeface="JetBrains Mono"/>
                <a:ea typeface="JetBrains Mono"/>
                <a:cs typeface="JetBrains Mono"/>
                <a:sym typeface="JetBrains Mono"/>
              </a:rPr>
              <a:t> </a:t>
            </a:r>
            <a:r>
              <a:rPr b="1" lang="en-US" sz="875">
                <a:solidFill>
                  <a:srgbClr val="38BDF8"/>
                </a:solidFill>
                <a:latin typeface="JetBrains Mono"/>
                <a:ea typeface="JetBrains Mono"/>
                <a:cs typeface="JetBrains Mono"/>
                <a:sym typeface="JetBrains Mono"/>
              </a:rPr>
              <a:t>TransferRequest</a:t>
            </a:r>
            <a:r>
              <a:rPr lang="en-US" sz="875">
                <a:solidFill>
                  <a:srgbClr val="E2E8F0"/>
                </a:solidFill>
                <a:latin typeface="JetBrains Mono"/>
                <a:ea typeface="JetBrains Mono"/>
                <a:cs typeface="JetBrains Mono"/>
                <a:sym typeface="JetBrains Mono"/>
              </a:rPr>
              <a:t> {</a:t>
            </a:r>
            <a:endParaRPr sz="875">
              <a:solidFill>
                <a:srgbClr val="E2E8F0"/>
              </a:solidFill>
              <a:latin typeface="JetBrains Mono"/>
              <a:ea typeface="JetBrains Mono"/>
              <a:cs typeface="JetBrains Mono"/>
              <a:sym typeface="JetBrains Mono"/>
            </a:endParaRPr>
          </a:p>
          <a:p>
            <a:pPr indent="0" lvl="0" marL="304800" marR="0" rtl="0" algn="l">
              <a:spcBef>
                <a:spcPts val="150"/>
              </a:spcBef>
              <a:spcAft>
                <a:spcPts val="0"/>
              </a:spcAft>
              <a:buNone/>
            </a:pPr>
            <a:r>
              <a:rPr lang="en-US" sz="875">
                <a:solidFill>
                  <a:srgbClr val="E2E8F0"/>
                </a:solidFill>
                <a:latin typeface="JetBrains Mono"/>
                <a:ea typeface="JetBrains Mono"/>
                <a:cs typeface="JetBrains Mono"/>
                <a:sym typeface="JetBrains Mono"/>
              </a:rPr>
              <a:t>Objects.requireNonNull(transactionId);</a:t>
            </a:r>
            <a:endParaRPr sz="875">
              <a:solidFill>
                <a:srgbClr val="E2E8F0"/>
              </a:solidFill>
              <a:latin typeface="JetBrains Mono"/>
              <a:ea typeface="JetBrains Mono"/>
              <a:cs typeface="JetBrains Mono"/>
              <a:sym typeface="JetBrains Mono"/>
            </a:endParaRPr>
          </a:p>
          <a:p>
            <a:pPr indent="0" lvl="0" marL="304800" marR="0" rtl="0" algn="l">
              <a:spcBef>
                <a:spcPts val="150"/>
              </a:spcBef>
              <a:spcAft>
                <a:spcPts val="0"/>
              </a:spcAft>
              <a:buNone/>
            </a:pPr>
            <a:r>
              <a:rPr b="1" lang="en-US" sz="875">
                <a:solidFill>
                  <a:srgbClr val="F43F5E"/>
                </a:solidFill>
                <a:latin typeface="JetBrains Mono"/>
                <a:ea typeface="JetBrains Mono"/>
                <a:cs typeface="JetBrains Mono"/>
                <a:sym typeface="JetBrains Mono"/>
              </a:rPr>
              <a:t>if</a:t>
            </a:r>
            <a:r>
              <a:rPr lang="en-US" sz="875">
                <a:solidFill>
                  <a:srgbClr val="E2E8F0"/>
                </a:solidFill>
                <a:latin typeface="JetBrains Mono"/>
                <a:ea typeface="JetBrains Mono"/>
                <a:cs typeface="JetBrains Mono"/>
                <a:sym typeface="JetBrains Mono"/>
              </a:rPr>
              <a:t> (amount.compareTo(BigDecimal.ZERO) &lt;= 0) {</a:t>
            </a:r>
            <a:endParaRPr sz="875">
              <a:solidFill>
                <a:srgbClr val="E2E8F0"/>
              </a:solidFill>
              <a:latin typeface="JetBrains Mono"/>
              <a:ea typeface="JetBrains Mono"/>
              <a:cs typeface="JetBrains Mono"/>
              <a:sym typeface="JetBrains Mono"/>
            </a:endParaRPr>
          </a:p>
          <a:p>
            <a:pPr indent="0" lvl="0" marL="457200" marR="0" rtl="0" algn="l">
              <a:spcBef>
                <a:spcPts val="150"/>
              </a:spcBef>
              <a:spcAft>
                <a:spcPts val="0"/>
              </a:spcAft>
              <a:buNone/>
            </a:pPr>
            <a:r>
              <a:rPr b="1" lang="en-US" sz="875">
                <a:solidFill>
                  <a:srgbClr val="F43F5E"/>
                </a:solidFill>
                <a:latin typeface="JetBrains Mono"/>
                <a:ea typeface="JetBrains Mono"/>
                <a:cs typeface="JetBrains Mono"/>
                <a:sym typeface="JetBrains Mono"/>
              </a:rPr>
              <a:t>throw new</a:t>
            </a:r>
            <a:r>
              <a:rPr lang="en-US" sz="875">
                <a:solidFill>
                  <a:srgbClr val="E2E8F0"/>
                </a:solidFill>
                <a:latin typeface="JetBrains Mono"/>
                <a:ea typeface="JetBrains Mono"/>
                <a:cs typeface="JetBrains Mono"/>
                <a:sym typeface="JetBrains Mono"/>
              </a:rPr>
              <a:t> IllegalArgumentException(</a:t>
            </a:r>
            <a:r>
              <a:rPr lang="en-US" sz="875">
                <a:solidFill>
                  <a:srgbClr val="A7F3D0"/>
                </a:solidFill>
                <a:latin typeface="JetBrains Mono"/>
                <a:ea typeface="JetBrains Mono"/>
                <a:cs typeface="JetBrains Mono"/>
                <a:sym typeface="JetBrains Mono"/>
              </a:rPr>
              <a:t>"Invalid transfer amount"</a:t>
            </a:r>
            <a:r>
              <a:rPr lang="en-US" sz="875">
                <a:solidFill>
                  <a:srgbClr val="E2E8F0"/>
                </a:solidFill>
                <a:latin typeface="JetBrains Mono"/>
                <a:ea typeface="JetBrains Mono"/>
                <a:cs typeface="JetBrains Mono"/>
                <a:sym typeface="JetBrains Mono"/>
              </a:rPr>
              <a:t>);</a:t>
            </a:r>
            <a:endParaRPr sz="875">
              <a:solidFill>
                <a:srgbClr val="E2E8F0"/>
              </a:solidFill>
              <a:latin typeface="JetBrains Mono"/>
              <a:ea typeface="JetBrains Mono"/>
              <a:cs typeface="JetBrains Mono"/>
              <a:sym typeface="JetBrains Mono"/>
            </a:endParaRPr>
          </a:p>
          <a:p>
            <a:pPr indent="0" lvl="0" marL="304800" marR="0" rtl="0" algn="l">
              <a:spcBef>
                <a:spcPts val="150"/>
              </a:spcBef>
              <a:spcAft>
                <a:spcPts val="0"/>
              </a:spcAft>
              <a:buNone/>
            </a:pPr>
            <a:r>
              <a:rPr lang="en-US" sz="875">
                <a:solidFill>
                  <a:srgbClr val="E2E8F0"/>
                </a:solidFill>
                <a:latin typeface="JetBrains Mono"/>
                <a:ea typeface="JetBrains Mono"/>
                <a:cs typeface="JetBrains Mono"/>
                <a:sym typeface="JetBrains Mono"/>
              </a:rPr>
              <a:t>}</a:t>
            </a:r>
            <a:endParaRPr sz="875">
              <a:solidFill>
                <a:srgbClr val="E2E8F0"/>
              </a:solidFill>
              <a:latin typeface="JetBrains Mono"/>
              <a:ea typeface="JetBrains Mono"/>
              <a:cs typeface="JetBrains Mono"/>
              <a:sym typeface="JetBrains Mono"/>
            </a:endParaRPr>
          </a:p>
          <a:p>
            <a:pPr indent="0" lvl="0" marL="152400" marR="0" rtl="0" algn="l">
              <a:spcBef>
                <a:spcPts val="150"/>
              </a:spcBef>
              <a:spcAft>
                <a:spcPts val="0"/>
              </a:spcAft>
              <a:buNone/>
            </a:pPr>
            <a:r>
              <a:rPr lang="en-US" sz="875">
                <a:solidFill>
                  <a:srgbClr val="E2E8F0"/>
                </a:solidFill>
                <a:latin typeface="JetBrains Mono"/>
                <a:ea typeface="JetBrains Mono"/>
                <a:cs typeface="JetBrains Mono"/>
                <a:sym typeface="JetBrains Mono"/>
              </a:rPr>
              <a:t>}</a:t>
            </a:r>
            <a:endParaRPr sz="875">
              <a:solidFill>
                <a:srgbClr val="E2E8F0"/>
              </a:solidFill>
              <a:latin typeface="JetBrains Mono"/>
              <a:ea typeface="JetBrains Mono"/>
              <a:cs typeface="JetBrains Mono"/>
              <a:sym typeface="JetBrains Mono"/>
            </a:endParaRPr>
          </a:p>
          <a:p>
            <a:pPr indent="0" lvl="0" marL="0" rtl="0" algn="l">
              <a:spcBef>
                <a:spcPts val="150"/>
              </a:spcBef>
              <a:spcAft>
                <a:spcPts val="0"/>
              </a:spcAft>
              <a:buNone/>
            </a:pPr>
            <a:r>
              <a:rPr lang="en-US" sz="875">
                <a:solidFill>
                  <a:srgbClr val="E2E8F0"/>
                </a:solidFill>
                <a:latin typeface="JetBrains Mono"/>
                <a:ea typeface="JetBrains Mono"/>
                <a:cs typeface="JetBrains Mono"/>
                <a:sym typeface="JetBrains Mono"/>
              </a:rPr>
              <a:t>}</a:t>
            </a:r>
            <a:endParaRPr sz="875">
              <a:solidFill>
                <a:srgbClr val="E2E8F0"/>
              </a:solidFill>
              <a:latin typeface="JetBrains Mono"/>
              <a:ea typeface="JetBrains Mono"/>
              <a:cs typeface="JetBrains Mono"/>
              <a:sym typeface="JetBrains Mono"/>
            </a:endParaRPr>
          </a:p>
        </p:txBody>
      </p:sp>
      <p:sp>
        <p:nvSpPr>
          <p:cNvPr id="424" name="Google Shape;424;p24"/>
          <p:cNvSpPr/>
          <p:nvPr/>
        </p:nvSpPr>
        <p:spPr>
          <a:xfrm>
            <a:off x="5486400" y="5695950"/>
            <a:ext cx="5829300" cy="609600"/>
          </a:xfrm>
          <a:prstGeom prst="roundRect">
            <a:avLst>
              <a:gd fmla="val 9375" name="adj"/>
            </a:avLst>
          </a:prstGeom>
          <a:solidFill>
            <a:srgbClr val="ECFDF5"/>
          </a:solidFill>
          <a:ln cap="flat" cmpd="sng" w="9525">
            <a:solidFill>
              <a:srgbClr val="A7F3D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25" name="Google Shape;425;p24"/>
          <p:cNvSpPr txBox="1"/>
          <p:nvPr/>
        </p:nvSpPr>
        <p:spPr>
          <a:xfrm>
            <a:off x="5619750" y="5753100"/>
            <a:ext cx="5562600" cy="495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800">
                <a:solidFill>
                  <a:srgbClr val="047857"/>
                </a:solidFill>
                <a:latin typeface="Plus Jakarta Sans"/>
                <a:ea typeface="Plus Jakarta Sans"/>
                <a:cs typeface="Plus Jakarta Sans"/>
                <a:sym typeface="Plus Jakarta Sans"/>
              </a:rPr>
              <a:t>QA VIEW &amp; BENEFIT</a:t>
            </a:r>
            <a:endParaRPr b="1" sz="800">
              <a:solidFill>
                <a:srgbClr val="047857"/>
              </a:solidFill>
              <a:latin typeface="Plus Jakarta Sans"/>
              <a:ea typeface="Plus Jakarta Sans"/>
              <a:cs typeface="Plus Jakarta Sans"/>
              <a:sym typeface="Plus Jakarta Sans"/>
            </a:endParaRPr>
          </a:p>
          <a:p>
            <a:pPr indent="0" lvl="0" marL="0" rtl="0" algn="l">
              <a:spcBef>
                <a:spcPts val="225"/>
              </a:spcBef>
              <a:spcAft>
                <a:spcPts val="0"/>
              </a:spcAft>
              <a:buNone/>
            </a:pPr>
            <a:r>
              <a:rPr b="0" lang="en-US" sz="950">
                <a:solidFill>
                  <a:srgbClr val="065F46"/>
                </a:solidFill>
                <a:latin typeface="Plus Jakarta Sans Medium"/>
                <a:ea typeface="Plus Jakarta Sans Medium"/>
                <a:cs typeface="Plus Jakarta Sans Medium"/>
                <a:sym typeface="Plus Jakarta Sans Medium"/>
              </a:rPr>
              <a:t>Guarantees API test payloads cannot be mutated mid-flight.</a:t>
            </a:r>
            <a:endParaRPr b="0" sz="950">
              <a:solidFill>
                <a:srgbClr val="065F46"/>
              </a:solidFill>
              <a:latin typeface="Plus Jakarta Sans Medium"/>
              <a:ea typeface="Plus Jakarta Sans Medium"/>
              <a:cs typeface="Plus Jakarta Sans Medium"/>
              <a:sym typeface="Plus Jakarta Sans Medium"/>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9" name="Shape 429"/>
        <p:cNvGrpSpPr/>
        <p:nvPr/>
      </p:nvGrpSpPr>
      <p:grpSpPr>
        <a:xfrm>
          <a:off x="0" y="0"/>
          <a:ext cx="0" cy="0"/>
          <a:chOff x="0" y="0"/>
          <a:chExt cx="0" cy="0"/>
        </a:xfrm>
      </p:grpSpPr>
      <p:grpSp>
        <p:nvGrpSpPr>
          <p:cNvPr id="430" name="Google Shape;430;p25"/>
          <p:cNvGrpSpPr/>
          <p:nvPr/>
        </p:nvGrpSpPr>
        <p:grpSpPr>
          <a:xfrm>
            <a:off x="685800" y="342900"/>
            <a:ext cx="10820400" cy="619200"/>
            <a:chOff x="685800" y="342900"/>
            <a:chExt cx="10820400" cy="619200"/>
          </a:xfrm>
        </p:grpSpPr>
        <p:sp>
          <p:nvSpPr>
            <p:cNvPr id="431" name="Google Shape;431;p25"/>
            <p:cNvSpPr txBox="1"/>
            <p:nvPr/>
          </p:nvSpPr>
          <p:spPr>
            <a:xfrm>
              <a:off x="685800" y="342900"/>
              <a:ext cx="6667500" cy="6192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US" sz="950">
                  <a:solidFill>
                    <a:srgbClr val="0284C7"/>
                  </a:solidFill>
                  <a:latin typeface="Plus Jakarta Sans"/>
                  <a:ea typeface="Plus Jakarta Sans"/>
                  <a:cs typeface="Plus Jakarta Sans"/>
                  <a:sym typeface="Plus Jakarta Sans"/>
                </a:rPr>
                <a:t>Core Java Contract</a:t>
              </a:r>
              <a:endParaRPr b="1" sz="950">
                <a:solidFill>
                  <a:srgbClr val="0284C7"/>
                </a:solidFill>
                <a:latin typeface="Plus Jakarta Sans"/>
                <a:ea typeface="Plus Jakarta Sans"/>
                <a:cs typeface="Plus Jakarta Sans"/>
                <a:sym typeface="Plus Jakarta Sans"/>
              </a:endParaRPr>
            </a:p>
            <a:p>
              <a:pPr indent="0" lvl="0" marL="0" rtl="0" algn="l">
                <a:spcBef>
                  <a:spcPts val="300"/>
                </a:spcBef>
                <a:spcAft>
                  <a:spcPts val="0"/>
                </a:spcAft>
                <a:buNone/>
              </a:pPr>
              <a:r>
                <a:rPr b="0" lang="en-US" sz="2400">
                  <a:solidFill>
                    <a:srgbClr val="0F172A"/>
                  </a:solidFill>
                  <a:latin typeface="Plus Jakarta Sans ExtraBold"/>
                  <a:ea typeface="Plus Jakarta Sans ExtraBold"/>
                  <a:cs typeface="Plus Jakarta Sans ExtraBold"/>
                  <a:sym typeface="Plus Jakarta Sans ExtraBold"/>
                </a:rPr>
                <a:t>equals() &amp; hashCode() Contract</a:t>
              </a:r>
              <a:endParaRPr b="0" sz="2400">
                <a:solidFill>
                  <a:srgbClr val="0F172A"/>
                </a:solidFill>
                <a:latin typeface="Plus Jakarta Sans ExtraBold"/>
                <a:ea typeface="Plus Jakarta Sans ExtraBold"/>
                <a:cs typeface="Plus Jakarta Sans ExtraBold"/>
                <a:sym typeface="Plus Jakarta Sans ExtraBold"/>
              </a:endParaRPr>
            </a:p>
          </p:txBody>
        </p:sp>
        <p:sp>
          <p:nvSpPr>
            <p:cNvPr id="432" name="Google Shape;432;p25"/>
            <p:cNvSpPr/>
            <p:nvPr/>
          </p:nvSpPr>
          <p:spPr>
            <a:xfrm>
              <a:off x="10172700" y="361950"/>
              <a:ext cx="1333500" cy="304800"/>
            </a:xfrm>
            <a:prstGeom prst="roundRect">
              <a:avLst>
                <a:gd fmla="val 50000" name="adj"/>
              </a:avLst>
            </a:prstGeom>
            <a:solidFill>
              <a:srgbClr val="FEE2E2"/>
            </a:solidFill>
            <a:ln cap="flat" cmpd="sng" w="9525">
              <a:solidFill>
                <a:srgbClr val="FCA5A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3" name="Google Shape;433;p25"/>
            <p:cNvSpPr txBox="1"/>
            <p:nvPr/>
          </p:nvSpPr>
          <p:spPr>
            <a:xfrm>
              <a:off x="10172700" y="361950"/>
              <a:ext cx="1333500" cy="304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US" sz="950">
                  <a:solidFill>
                    <a:srgbClr val="B91C1C"/>
                  </a:solidFill>
                  <a:latin typeface="Plus Jakarta Sans"/>
                  <a:ea typeface="Plus Jakarta Sans"/>
                  <a:cs typeface="Plus Jakarta Sans"/>
                  <a:sym typeface="Plus Jakarta Sans"/>
                </a:rPr>
                <a:t>Critical Invariant</a:t>
              </a:r>
              <a:endParaRPr b="1" sz="950">
                <a:solidFill>
                  <a:srgbClr val="B91C1C"/>
                </a:solidFill>
                <a:latin typeface="Plus Jakarta Sans"/>
                <a:ea typeface="Plus Jakarta Sans"/>
                <a:cs typeface="Plus Jakarta Sans"/>
                <a:sym typeface="Plus Jakarta Sans"/>
              </a:endParaRPr>
            </a:p>
          </p:txBody>
        </p:sp>
      </p:grpSp>
      <p:grpSp>
        <p:nvGrpSpPr>
          <p:cNvPr id="434" name="Google Shape;434;p25"/>
          <p:cNvGrpSpPr/>
          <p:nvPr/>
        </p:nvGrpSpPr>
        <p:grpSpPr>
          <a:xfrm>
            <a:off x="685800" y="1009650"/>
            <a:ext cx="10820400" cy="800100"/>
            <a:chOff x="685800" y="1009650"/>
            <a:chExt cx="10820400" cy="800100"/>
          </a:xfrm>
        </p:grpSpPr>
        <p:sp>
          <p:nvSpPr>
            <p:cNvPr id="435" name="Google Shape;435;p25"/>
            <p:cNvSpPr/>
            <p:nvPr/>
          </p:nvSpPr>
          <p:spPr>
            <a:xfrm>
              <a:off x="685800" y="1009650"/>
              <a:ext cx="10820400" cy="800100"/>
            </a:xfrm>
            <a:prstGeom prst="roundRect">
              <a:avLst>
                <a:gd fmla="val 9523"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6" name="Google Shape;436;p25"/>
            <p:cNvSpPr/>
            <p:nvPr/>
          </p:nvSpPr>
          <p:spPr>
            <a:xfrm>
              <a:off x="685800" y="1009650"/>
              <a:ext cx="47700" cy="800100"/>
            </a:xfrm>
            <a:prstGeom prst="roundRect">
              <a:avLst>
                <a:gd fmla="val 40000" name="adj"/>
              </a:avLst>
            </a:prstGeom>
            <a:solidFill>
              <a:srgbClr val="0284C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7" name="Google Shape;437;p25"/>
            <p:cNvSpPr txBox="1"/>
            <p:nvPr/>
          </p:nvSpPr>
          <p:spPr>
            <a:xfrm>
              <a:off x="895350" y="1085850"/>
              <a:ext cx="10382400" cy="6477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850">
                  <a:solidFill>
                    <a:srgbClr val="0284C7"/>
                  </a:solidFill>
                  <a:latin typeface="Plus Jakarta Sans"/>
                  <a:ea typeface="Plus Jakarta Sans"/>
                  <a:cs typeface="Plus Jakarta Sans"/>
                  <a:sym typeface="Plus Jakarta Sans"/>
                </a:rPr>
                <a:t>SIMPLE RULE</a:t>
              </a:r>
              <a:endParaRPr b="1" sz="850">
                <a:solidFill>
                  <a:srgbClr val="0284C7"/>
                </a:solidFill>
                <a:latin typeface="Plus Jakarta Sans"/>
                <a:ea typeface="Plus Jakarta Sans"/>
                <a:cs typeface="Plus Jakarta Sans"/>
                <a:sym typeface="Plus Jakarta Sans"/>
              </a:endParaRPr>
            </a:p>
            <a:p>
              <a:pPr indent="0" lvl="0" marL="0" rtl="0" algn="l">
                <a:spcBef>
                  <a:spcPts val="300"/>
                </a:spcBef>
                <a:spcAft>
                  <a:spcPts val="0"/>
                </a:spcAft>
                <a:buNone/>
              </a:pPr>
              <a:r>
                <a:rPr b="0" lang="en-US" sz="1100">
                  <a:solidFill>
                    <a:srgbClr val="1E293B"/>
                  </a:solidFill>
                  <a:latin typeface="Plus Jakarta Sans SemiBold"/>
                  <a:ea typeface="Plus Jakarta Sans SemiBold"/>
                  <a:cs typeface="Plus Jakarta Sans SemiBold"/>
                  <a:sym typeface="Plus Jakarta Sans SemiBold"/>
                </a:rPr>
                <a:t>The Rule: If two objects are equal based on equals(), their hashCode() MUST return the exact same number. If you break this rule, HashMaps and HashSets will lose your data.</a:t>
              </a:r>
              <a:endParaRPr b="0" sz="1100">
                <a:solidFill>
                  <a:srgbClr val="1E293B"/>
                </a:solidFill>
                <a:latin typeface="Plus Jakarta Sans SemiBold"/>
                <a:ea typeface="Plus Jakarta Sans SemiBold"/>
                <a:cs typeface="Plus Jakarta Sans SemiBold"/>
                <a:sym typeface="Plus Jakarta Sans SemiBold"/>
              </a:endParaRPr>
            </a:p>
          </p:txBody>
        </p:sp>
      </p:grpSp>
      <p:grpSp>
        <p:nvGrpSpPr>
          <p:cNvPr id="438" name="Google Shape;438;p25"/>
          <p:cNvGrpSpPr/>
          <p:nvPr/>
        </p:nvGrpSpPr>
        <p:grpSpPr>
          <a:xfrm>
            <a:off x="685800" y="1962150"/>
            <a:ext cx="4381500" cy="4533900"/>
            <a:chOff x="685800" y="1962150"/>
            <a:chExt cx="4381500" cy="4533900"/>
          </a:xfrm>
        </p:grpSpPr>
        <p:sp>
          <p:nvSpPr>
            <p:cNvPr id="439" name="Google Shape;439;p25"/>
            <p:cNvSpPr/>
            <p:nvPr/>
          </p:nvSpPr>
          <p:spPr>
            <a:xfrm>
              <a:off x="685800" y="1962150"/>
              <a:ext cx="4381500" cy="4533900"/>
            </a:xfrm>
            <a:prstGeom prst="roundRect">
              <a:avLst>
                <a:gd fmla="val 2608"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0" name="Google Shape;440;p25"/>
            <p:cNvSpPr txBox="1"/>
            <p:nvPr/>
          </p:nvSpPr>
          <p:spPr>
            <a:xfrm>
              <a:off x="876300" y="2114550"/>
              <a:ext cx="4000500" cy="1143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US" sz="850">
                  <a:solidFill>
                    <a:srgbClr val="0284C7"/>
                  </a:solidFill>
                  <a:latin typeface="Plus Jakarta Sans"/>
                  <a:ea typeface="Plus Jakarta Sans"/>
                  <a:cs typeface="Plus Jakarta Sans"/>
                  <a:sym typeface="Plus Jakarta Sans"/>
                </a:rPr>
                <a:t>REAL-WORLD ANALOGY</a:t>
              </a:r>
              <a:endParaRPr b="1" sz="850">
                <a:solidFill>
                  <a:srgbClr val="0284C7"/>
                </a:solidFill>
                <a:latin typeface="Plus Jakarta Sans"/>
                <a:ea typeface="Plus Jakarta Sans"/>
                <a:cs typeface="Plus Jakarta Sans"/>
                <a:sym typeface="Plus Jakarta Sans"/>
              </a:endParaRPr>
            </a:p>
            <a:p>
              <a:pPr indent="0" lvl="0" marL="0" rtl="0" algn="l">
                <a:spcBef>
                  <a:spcPts val="300"/>
                </a:spcBef>
                <a:spcAft>
                  <a:spcPts val="0"/>
                </a:spcAft>
                <a:buNone/>
              </a:pPr>
              <a:r>
                <a:rPr b="1" lang="en-US" sz="1800">
                  <a:solidFill>
                    <a:srgbClr val="0F172A"/>
                  </a:solidFill>
                  <a:latin typeface="Plus Jakarta Sans"/>
                  <a:ea typeface="Plus Jakarta Sans"/>
                  <a:cs typeface="Plus Jakarta Sans"/>
                  <a:sym typeface="Plus Jakarta Sans"/>
                </a:rPr>
                <a:t>Library Bookshelves</a:t>
              </a:r>
              <a:endParaRPr b="1" sz="1800">
                <a:solidFill>
                  <a:srgbClr val="0F172A"/>
                </a:solidFill>
                <a:latin typeface="Plus Jakarta Sans"/>
                <a:ea typeface="Plus Jakarta Sans"/>
                <a:cs typeface="Plus Jakarta Sans"/>
                <a:sym typeface="Plus Jakarta Sans"/>
              </a:endParaRPr>
            </a:p>
            <a:p>
              <a:pPr indent="0" lvl="0" marL="0" rtl="0" algn="l">
                <a:spcBef>
                  <a:spcPts val="600"/>
                </a:spcBef>
                <a:spcAft>
                  <a:spcPts val="0"/>
                </a:spcAft>
                <a:buNone/>
              </a:pPr>
              <a:r>
                <a:rPr b="1" lang="en-US" sz="1000">
                  <a:solidFill>
                    <a:srgbClr val="334155"/>
                  </a:solidFill>
                  <a:latin typeface="Plus Jakarta Sans"/>
                  <a:ea typeface="Plus Jakarta Sans"/>
                  <a:cs typeface="Plus Jakarta Sans"/>
                  <a:sym typeface="Plus Jakarta Sans"/>
                </a:rPr>
                <a:t>hashCode()</a:t>
              </a:r>
              <a:r>
                <a:rPr b="0" lang="en-US" sz="1000">
                  <a:solidFill>
                    <a:srgbClr val="475569"/>
                  </a:solidFill>
                  <a:latin typeface="Plus Jakarta Sans"/>
                  <a:ea typeface="Plus Jakarta Sans"/>
                  <a:cs typeface="Plus Jakarta Sans"/>
                  <a:sym typeface="Plus Jakarta Sans"/>
                </a:rPr>
                <a:t> gives the aisle number (Bucket). </a:t>
              </a:r>
              <a:r>
                <a:rPr b="1" lang="en-US" sz="1000">
                  <a:solidFill>
                    <a:srgbClr val="334155"/>
                  </a:solidFill>
                  <a:latin typeface="Plus Jakarta Sans"/>
                  <a:ea typeface="Plus Jakarta Sans"/>
                  <a:cs typeface="Plus Jakarta Sans"/>
                  <a:sym typeface="Plus Jakarta Sans"/>
                </a:rPr>
                <a:t>equals()</a:t>
              </a:r>
              <a:r>
                <a:rPr b="0" lang="en-US" sz="1000">
                  <a:solidFill>
                    <a:srgbClr val="475569"/>
                  </a:solidFill>
                  <a:latin typeface="Plus Jakarta Sans"/>
                  <a:ea typeface="Plus Jakarta Sans"/>
                  <a:cs typeface="Plus Jakarta Sans"/>
                  <a:sym typeface="Plus Jakarta Sans"/>
                </a:rPr>
                <a:t> verifies the exact title and ISBN on that specific shelf. If someone gives you the wrong aisle number, you will never find the book!</a:t>
              </a:r>
              <a:endParaRPr b="0" sz="1000">
                <a:solidFill>
                  <a:srgbClr val="475569"/>
                </a:solidFill>
                <a:latin typeface="Plus Jakarta Sans"/>
                <a:ea typeface="Plus Jakarta Sans"/>
                <a:cs typeface="Plus Jakarta Sans"/>
                <a:sym typeface="Plus Jakarta Sans"/>
              </a:endParaRPr>
            </a:p>
          </p:txBody>
        </p:sp>
        <p:sp>
          <p:nvSpPr>
            <p:cNvPr id="441" name="Google Shape;441;p25"/>
            <p:cNvSpPr/>
            <p:nvPr/>
          </p:nvSpPr>
          <p:spPr>
            <a:xfrm>
              <a:off x="876300" y="3371850"/>
              <a:ext cx="4000500" cy="723900"/>
            </a:xfrm>
            <a:prstGeom prst="roundRect">
              <a:avLst>
                <a:gd fmla="val 10526" name="adj"/>
              </a:avLst>
            </a:prstGeom>
            <a:solidFill>
              <a:srgbClr val="FEF2F2"/>
            </a:solidFill>
            <a:ln cap="flat" cmpd="sng" w="9525">
              <a:solidFill>
                <a:srgbClr val="FECAC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2" name="Google Shape;442;p25"/>
            <p:cNvSpPr txBox="1"/>
            <p:nvPr/>
          </p:nvSpPr>
          <p:spPr>
            <a:xfrm>
              <a:off x="1009650" y="3448050"/>
              <a:ext cx="3733800" cy="571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786">
                  <a:solidFill>
                    <a:srgbClr val="991B1B"/>
                  </a:solidFill>
                  <a:latin typeface="Plus Jakarta Sans"/>
                  <a:ea typeface="Plus Jakarta Sans"/>
                  <a:cs typeface="Plus Jakarta Sans"/>
                  <a:sym typeface="Plus Jakarta Sans"/>
                </a:rPr>
                <a:t>FINTECH BUG WARNING</a:t>
              </a:r>
              <a:endParaRPr b="1" sz="786">
                <a:solidFill>
                  <a:srgbClr val="991B1B"/>
                </a:solidFill>
                <a:latin typeface="Plus Jakarta Sans"/>
                <a:ea typeface="Plus Jakarta Sans"/>
                <a:cs typeface="Plus Jakarta Sans"/>
                <a:sym typeface="Plus Jakarta Sans"/>
              </a:endParaRPr>
            </a:p>
            <a:p>
              <a:pPr indent="0" lvl="0" marL="0" rtl="0" algn="l">
                <a:spcBef>
                  <a:spcPts val="300"/>
                </a:spcBef>
                <a:spcAft>
                  <a:spcPts val="0"/>
                </a:spcAft>
                <a:buNone/>
              </a:pPr>
              <a:r>
                <a:rPr b="1" lang="en-US" sz="879">
                  <a:solidFill>
                    <a:srgbClr val="991B1B"/>
                  </a:solidFill>
                  <a:latin typeface="Plus Jakarta Sans"/>
                  <a:ea typeface="Plus Jakarta Sans"/>
                  <a:cs typeface="Plus Jakarta Sans"/>
                  <a:sym typeface="Plus Jakarta Sans"/>
                </a:rPr>
                <a:t>FinTech Bug:</a:t>
              </a:r>
              <a:r>
                <a:rPr b="0" lang="en-US" sz="879">
                  <a:solidFill>
                    <a:srgbClr val="991B1B"/>
                  </a:solidFill>
                  <a:latin typeface="Plus Jakarta Sans"/>
                  <a:ea typeface="Plus Jakarta Sans"/>
                  <a:cs typeface="Plus Jakarta Sans"/>
                  <a:sym typeface="Plus Jakarta Sans"/>
                </a:rPr>
                <a:t> If hashCode() is broken, duplicate payment idempotency checks fail, resulting in </a:t>
              </a:r>
              <a:r>
                <a:rPr b="1" lang="en-US" sz="879">
                  <a:solidFill>
                    <a:srgbClr val="991B1B"/>
                  </a:solidFill>
                  <a:latin typeface="Plus Jakarta Sans"/>
                  <a:ea typeface="Plus Jakarta Sans"/>
                  <a:cs typeface="Plus Jakarta Sans"/>
                  <a:sym typeface="Plus Jakarta Sans"/>
                </a:rPr>
                <a:t>double-charging customers</a:t>
              </a:r>
              <a:r>
                <a:rPr b="0" lang="en-US" sz="879">
                  <a:solidFill>
                    <a:srgbClr val="991B1B"/>
                  </a:solidFill>
                  <a:latin typeface="Plus Jakarta Sans"/>
                  <a:ea typeface="Plus Jakarta Sans"/>
                  <a:cs typeface="Plus Jakarta Sans"/>
                  <a:sym typeface="Plus Jakarta Sans"/>
                </a:rPr>
                <a:t>.</a:t>
              </a:r>
              <a:endParaRPr b="0" sz="879">
                <a:solidFill>
                  <a:srgbClr val="991B1B"/>
                </a:solidFill>
                <a:latin typeface="Plus Jakarta Sans"/>
                <a:ea typeface="Plus Jakarta Sans"/>
                <a:cs typeface="Plus Jakarta Sans"/>
                <a:sym typeface="Plus Jakarta Sans"/>
              </a:endParaRPr>
            </a:p>
          </p:txBody>
        </p:sp>
        <p:sp>
          <p:nvSpPr>
            <p:cNvPr id="443" name="Google Shape;443;p25"/>
            <p:cNvSpPr/>
            <p:nvPr/>
          </p:nvSpPr>
          <p:spPr>
            <a:xfrm>
              <a:off x="876300" y="4210050"/>
              <a:ext cx="4000500" cy="723900"/>
            </a:xfrm>
            <a:prstGeom prst="roundRect">
              <a:avLst>
                <a:gd fmla="val 10526" name="adj"/>
              </a:avLst>
            </a:prstGeom>
            <a:solidFill>
              <a:srgbClr val="F0F9FF"/>
            </a:solidFill>
            <a:ln cap="flat" cmpd="sng" w="9525">
              <a:solidFill>
                <a:srgbClr val="BAE6F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4" name="Google Shape;444;p25"/>
            <p:cNvSpPr txBox="1"/>
            <p:nvPr/>
          </p:nvSpPr>
          <p:spPr>
            <a:xfrm>
              <a:off x="1009650" y="4286250"/>
              <a:ext cx="3733800" cy="571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850">
                  <a:solidFill>
                    <a:srgbClr val="0369A1"/>
                  </a:solidFill>
                  <a:latin typeface="Plus Jakarta Sans"/>
                  <a:ea typeface="Plus Jakarta Sans"/>
                  <a:cs typeface="Plus Jakarta Sans"/>
                  <a:sym typeface="Plus Jakarta Sans"/>
                </a:rPr>
                <a:t>SYMMETRY MANDATE</a:t>
              </a:r>
              <a:endParaRPr b="1" sz="850">
                <a:solidFill>
                  <a:srgbClr val="0369A1"/>
                </a:solidFill>
                <a:latin typeface="Plus Jakarta Sans"/>
                <a:ea typeface="Plus Jakarta Sans"/>
                <a:cs typeface="Plus Jakarta Sans"/>
                <a:sym typeface="Plus Jakarta Sans"/>
              </a:endParaRPr>
            </a:p>
            <a:p>
              <a:pPr indent="0" lvl="0" marL="0" rtl="0" algn="l">
                <a:spcBef>
                  <a:spcPts val="300"/>
                </a:spcBef>
                <a:spcAft>
                  <a:spcPts val="0"/>
                </a:spcAft>
                <a:buNone/>
              </a:pPr>
              <a:r>
                <a:rPr b="0" lang="en-US" sz="950">
                  <a:solidFill>
                    <a:srgbClr val="0369A1"/>
                  </a:solidFill>
                  <a:latin typeface="Plus Jakarta Sans Medium"/>
                  <a:ea typeface="Plus Jakarta Sans Medium"/>
                  <a:cs typeface="Plus Jakarta Sans Medium"/>
                  <a:sym typeface="Plus Jakarta Sans Medium"/>
                </a:rPr>
                <a:t>Always override both equals() and hashCode() symmetrically.</a:t>
              </a:r>
              <a:endParaRPr b="0" sz="950">
                <a:solidFill>
                  <a:srgbClr val="0369A1"/>
                </a:solidFill>
                <a:latin typeface="Plus Jakarta Sans Medium"/>
                <a:ea typeface="Plus Jakarta Sans Medium"/>
                <a:cs typeface="Plus Jakarta Sans Medium"/>
                <a:sym typeface="Plus Jakarta Sans Medium"/>
              </a:endParaRPr>
            </a:p>
          </p:txBody>
        </p:sp>
      </p:grpSp>
      <p:grpSp>
        <p:nvGrpSpPr>
          <p:cNvPr id="445" name="Google Shape;445;p25"/>
          <p:cNvGrpSpPr/>
          <p:nvPr/>
        </p:nvGrpSpPr>
        <p:grpSpPr>
          <a:xfrm>
            <a:off x="5295900" y="1962150"/>
            <a:ext cx="6210300" cy="4533900"/>
            <a:chOff x="5295900" y="1962150"/>
            <a:chExt cx="6210300" cy="4533900"/>
          </a:xfrm>
        </p:grpSpPr>
        <p:sp>
          <p:nvSpPr>
            <p:cNvPr id="446" name="Google Shape;446;p25"/>
            <p:cNvSpPr/>
            <p:nvPr/>
          </p:nvSpPr>
          <p:spPr>
            <a:xfrm>
              <a:off x="5295900" y="1962150"/>
              <a:ext cx="6210300" cy="4533900"/>
            </a:xfrm>
            <a:prstGeom prst="roundRect">
              <a:avLst>
                <a:gd fmla="val 2521"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7" name="Google Shape;447;p25"/>
            <p:cNvSpPr txBox="1"/>
            <p:nvPr/>
          </p:nvSpPr>
          <p:spPr>
            <a:xfrm>
              <a:off x="5486400" y="2114550"/>
              <a:ext cx="5829300" cy="4764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US" sz="850">
                  <a:solidFill>
                    <a:srgbClr val="0284C7"/>
                  </a:solidFill>
                  <a:latin typeface="Plus Jakarta Sans"/>
                  <a:ea typeface="Plus Jakarta Sans"/>
                  <a:cs typeface="Plus Jakarta Sans"/>
                  <a:sym typeface="Plus Jakarta Sans"/>
                </a:rPr>
                <a:t>CODE IMPLEMENTATION</a:t>
              </a:r>
              <a:endParaRPr b="1" sz="850">
                <a:solidFill>
                  <a:srgbClr val="0284C7"/>
                </a:solidFill>
                <a:latin typeface="Plus Jakarta Sans"/>
                <a:ea typeface="Plus Jakarta Sans"/>
                <a:cs typeface="Plus Jakarta Sans"/>
                <a:sym typeface="Plus Jakarta Sans"/>
              </a:endParaRPr>
            </a:p>
            <a:p>
              <a:pPr indent="0" lvl="0" marL="0" rtl="0" algn="l">
                <a:spcBef>
                  <a:spcPts val="150"/>
                </a:spcBef>
                <a:spcAft>
                  <a:spcPts val="0"/>
                </a:spcAft>
                <a:buNone/>
              </a:pPr>
              <a:r>
                <a:rPr b="1" lang="en-US" sz="1800">
                  <a:solidFill>
                    <a:srgbClr val="0F172A"/>
                  </a:solidFill>
                  <a:latin typeface="Plus Jakarta Sans"/>
                  <a:ea typeface="Plus Jakarta Sans"/>
                  <a:cs typeface="Plus Jakarta Sans"/>
                  <a:sym typeface="Plus Jakarta Sans"/>
                </a:rPr>
                <a:t>IdempotencyKey Contract</a:t>
              </a:r>
              <a:endParaRPr b="1" sz="1800">
                <a:solidFill>
                  <a:srgbClr val="0F172A"/>
                </a:solidFill>
                <a:latin typeface="Plus Jakarta Sans"/>
                <a:ea typeface="Plus Jakarta Sans"/>
                <a:cs typeface="Plus Jakarta Sans"/>
                <a:sym typeface="Plus Jakarta Sans"/>
              </a:endParaRPr>
            </a:p>
          </p:txBody>
        </p:sp>
        <p:sp>
          <p:nvSpPr>
            <p:cNvPr id="448" name="Google Shape;448;p25"/>
            <p:cNvSpPr/>
            <p:nvPr/>
          </p:nvSpPr>
          <p:spPr>
            <a:xfrm>
              <a:off x="5486400" y="2667000"/>
              <a:ext cx="5829300" cy="2857500"/>
            </a:xfrm>
            <a:prstGeom prst="roundRect">
              <a:avLst>
                <a:gd fmla="val 2666" name="adj"/>
              </a:avLst>
            </a:prstGeom>
            <a:solidFill>
              <a:srgbClr val="0F172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9" name="Google Shape;449;p25"/>
            <p:cNvSpPr/>
            <p:nvPr/>
          </p:nvSpPr>
          <p:spPr>
            <a:xfrm>
              <a:off x="5572125" y="2743200"/>
              <a:ext cx="76200" cy="76200"/>
            </a:xfrm>
            <a:prstGeom prst="ellipse">
              <a:avLst/>
            </a:prstGeom>
            <a:solidFill>
              <a:srgbClr val="EF44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0" name="Google Shape;450;p25"/>
            <p:cNvSpPr/>
            <p:nvPr/>
          </p:nvSpPr>
          <p:spPr>
            <a:xfrm>
              <a:off x="5686425" y="2743200"/>
              <a:ext cx="76200" cy="76200"/>
            </a:xfrm>
            <a:prstGeom prst="ellipse">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1" name="Google Shape;451;p25"/>
            <p:cNvSpPr/>
            <p:nvPr/>
          </p:nvSpPr>
          <p:spPr>
            <a:xfrm>
              <a:off x="5800725" y="2743200"/>
              <a:ext cx="76200" cy="76200"/>
            </a:xfrm>
            <a:prstGeom prst="ellipse">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452" name="Google Shape;452;p25"/>
            <p:cNvCxnSpPr/>
            <p:nvPr/>
          </p:nvCxnSpPr>
          <p:spPr>
            <a:xfrm>
              <a:off x="5486400" y="2971800"/>
              <a:ext cx="5829300" cy="0"/>
            </a:xfrm>
            <a:prstGeom prst="straightConnector1">
              <a:avLst/>
            </a:prstGeom>
            <a:solidFill>
              <a:srgbClr val="FFFFFF"/>
            </a:solidFill>
            <a:ln cap="flat" cmpd="sng" w="9525">
              <a:solidFill>
                <a:srgbClr val="1E293B"/>
              </a:solidFill>
              <a:prstDash val="solid"/>
              <a:round/>
              <a:headEnd len="sm" w="sm" type="none"/>
              <a:tailEnd len="sm" w="sm" type="none"/>
            </a:ln>
          </p:spPr>
        </p:cxnSp>
        <p:sp>
          <p:nvSpPr>
            <p:cNvPr id="453" name="Google Shape;453;p25"/>
            <p:cNvSpPr txBox="1"/>
            <p:nvPr/>
          </p:nvSpPr>
          <p:spPr>
            <a:xfrm>
              <a:off x="6000750" y="2705100"/>
              <a:ext cx="2857500" cy="1716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US" sz="850">
                  <a:solidFill>
                    <a:srgbClr val="94A3B8"/>
                  </a:solidFill>
                  <a:latin typeface="JetBrains Mono Medium"/>
                  <a:ea typeface="JetBrains Mono Medium"/>
                  <a:cs typeface="JetBrains Mono Medium"/>
                  <a:sym typeface="JetBrains Mono Medium"/>
                </a:rPr>
                <a:t>IdempotencyKey.java</a:t>
              </a:r>
              <a:endParaRPr b="0" sz="850">
                <a:solidFill>
                  <a:srgbClr val="94A3B8"/>
                </a:solidFill>
                <a:latin typeface="JetBrains Mono Medium"/>
                <a:ea typeface="JetBrains Mono Medium"/>
                <a:cs typeface="JetBrains Mono Medium"/>
                <a:sym typeface="JetBrains Mono Medium"/>
              </a:endParaRPr>
            </a:p>
          </p:txBody>
        </p:sp>
        <p:sp>
          <p:nvSpPr>
            <p:cNvPr id="454" name="Google Shape;454;p25"/>
            <p:cNvSpPr txBox="1"/>
            <p:nvPr/>
          </p:nvSpPr>
          <p:spPr>
            <a:xfrm>
              <a:off x="5619750" y="3048000"/>
              <a:ext cx="5562600" cy="23814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US" sz="850">
                  <a:solidFill>
                    <a:srgbClr val="F43F5E"/>
                  </a:solidFill>
                  <a:latin typeface="JetBrains Mono"/>
                  <a:ea typeface="JetBrains Mono"/>
                  <a:cs typeface="JetBrains Mono"/>
                  <a:sym typeface="JetBrains Mono"/>
                </a:rPr>
                <a:t>public class</a:t>
              </a:r>
              <a:r>
                <a:rPr lang="en-US" sz="850">
                  <a:latin typeface="JetBrains Mono"/>
                  <a:ea typeface="JetBrains Mono"/>
                  <a:cs typeface="JetBrains Mono"/>
                  <a:sym typeface="JetBrains Mono"/>
                </a:rPr>
                <a:t> </a:t>
              </a:r>
              <a:r>
                <a:rPr b="1" lang="en-US" sz="850">
                  <a:solidFill>
                    <a:srgbClr val="38BDF8"/>
                  </a:solidFill>
                  <a:latin typeface="JetBrains Mono"/>
                  <a:ea typeface="JetBrains Mono"/>
                  <a:cs typeface="JetBrains Mono"/>
                  <a:sym typeface="JetBrains Mono"/>
                </a:rPr>
                <a:t>IdempotencyKey</a:t>
              </a:r>
              <a:r>
                <a:rPr lang="en-US" sz="850">
                  <a:latin typeface="JetBrains Mono"/>
                  <a:ea typeface="JetBrains Mono"/>
                  <a:cs typeface="JetBrains Mono"/>
                  <a:sym typeface="JetBrains Mono"/>
                </a:rPr>
                <a:t> </a:t>
              </a:r>
              <a:r>
                <a:rPr lang="en-US" sz="850">
                  <a:solidFill>
                    <a:srgbClr val="E2E8F0"/>
                  </a:solidFill>
                  <a:latin typeface="JetBrains Mono"/>
                  <a:ea typeface="JetBrains Mono"/>
                  <a:cs typeface="JetBrains Mono"/>
                  <a:sym typeface="JetBrains Mono"/>
                </a:rPr>
                <a:t>{</a:t>
              </a:r>
              <a:endParaRPr sz="850">
                <a:latin typeface="JetBrains Mono"/>
                <a:ea typeface="JetBrains Mono"/>
                <a:cs typeface="JetBrains Mono"/>
                <a:sym typeface="JetBrains Mono"/>
              </a:endParaRPr>
            </a:p>
            <a:p>
              <a:pPr indent="0" lvl="0" marL="152400" marR="0" rtl="0" algn="l">
                <a:spcBef>
                  <a:spcPts val="200"/>
                </a:spcBef>
                <a:spcAft>
                  <a:spcPts val="0"/>
                </a:spcAft>
                <a:buNone/>
              </a:pPr>
              <a:r>
                <a:rPr b="1" lang="en-US" sz="850">
                  <a:solidFill>
                    <a:srgbClr val="F43F5E"/>
                  </a:solidFill>
                  <a:latin typeface="JetBrains Mono"/>
                  <a:ea typeface="JetBrains Mono"/>
                  <a:cs typeface="JetBrains Mono"/>
                  <a:sym typeface="JetBrains Mono"/>
                </a:rPr>
                <a:t>private final</a:t>
              </a:r>
              <a:r>
                <a:rPr lang="en-US" sz="850">
                  <a:latin typeface="JetBrains Mono"/>
                  <a:ea typeface="JetBrains Mono"/>
                  <a:cs typeface="JetBrains Mono"/>
                  <a:sym typeface="JetBrains Mono"/>
                </a:rPr>
                <a:t> </a:t>
              </a:r>
              <a:r>
                <a:rPr lang="en-US" sz="850">
                  <a:solidFill>
                    <a:srgbClr val="E2E8F0"/>
                  </a:solidFill>
                  <a:latin typeface="JetBrains Mono"/>
                  <a:ea typeface="JetBrains Mono"/>
                  <a:cs typeface="JetBrains Mono"/>
                  <a:sym typeface="JetBrains Mono"/>
                </a:rPr>
                <a:t>String key;</a:t>
              </a:r>
              <a:endParaRPr sz="850">
                <a:latin typeface="JetBrains Mono"/>
                <a:ea typeface="JetBrains Mono"/>
                <a:cs typeface="JetBrains Mono"/>
                <a:sym typeface="JetBrains Mono"/>
              </a:endParaRPr>
            </a:p>
            <a:p>
              <a:pPr indent="0" lvl="0" marL="152400" marR="0" rtl="0" algn="l">
                <a:spcBef>
                  <a:spcPts val="600"/>
                </a:spcBef>
                <a:spcAft>
                  <a:spcPts val="0"/>
                </a:spcAft>
                <a:buNone/>
              </a:pPr>
              <a:r>
                <a:rPr lang="en-US" sz="850">
                  <a:solidFill>
                    <a:srgbClr val="A7F3D0"/>
                  </a:solidFill>
                  <a:latin typeface="JetBrains Mono"/>
                  <a:ea typeface="JetBrains Mono"/>
                  <a:cs typeface="JetBrains Mono"/>
                  <a:sym typeface="JetBrains Mono"/>
                </a:rPr>
                <a:t>@Override</a:t>
              </a:r>
              <a:endParaRPr sz="850">
                <a:latin typeface="JetBrains Mono"/>
                <a:ea typeface="JetBrains Mono"/>
                <a:cs typeface="JetBrains Mono"/>
                <a:sym typeface="JetBrains Mono"/>
              </a:endParaRPr>
            </a:p>
            <a:p>
              <a:pPr indent="0" lvl="0" marL="152400" marR="0" rtl="0" algn="l">
                <a:spcBef>
                  <a:spcPts val="150"/>
                </a:spcBef>
                <a:spcAft>
                  <a:spcPts val="0"/>
                </a:spcAft>
                <a:buNone/>
              </a:pPr>
              <a:r>
                <a:rPr b="1" lang="en-US" sz="850">
                  <a:solidFill>
                    <a:srgbClr val="F43F5E"/>
                  </a:solidFill>
                  <a:latin typeface="JetBrains Mono"/>
                  <a:ea typeface="JetBrains Mono"/>
                  <a:cs typeface="JetBrains Mono"/>
                  <a:sym typeface="JetBrains Mono"/>
                </a:rPr>
                <a:t>public boolean</a:t>
              </a:r>
              <a:r>
                <a:rPr lang="en-US" sz="850">
                  <a:latin typeface="JetBrains Mono"/>
                  <a:ea typeface="JetBrains Mono"/>
                  <a:cs typeface="JetBrains Mono"/>
                  <a:sym typeface="JetBrains Mono"/>
                </a:rPr>
                <a:t> </a:t>
              </a:r>
              <a:r>
                <a:rPr lang="en-US" sz="850">
                  <a:solidFill>
                    <a:srgbClr val="A7F3D0"/>
                  </a:solidFill>
                  <a:latin typeface="JetBrains Mono"/>
                  <a:ea typeface="JetBrains Mono"/>
                  <a:cs typeface="JetBrains Mono"/>
                  <a:sym typeface="JetBrains Mono"/>
                </a:rPr>
                <a:t>equals</a:t>
              </a:r>
              <a:r>
                <a:rPr lang="en-US" sz="850">
                  <a:solidFill>
                    <a:srgbClr val="E2E8F0"/>
                  </a:solidFill>
                  <a:latin typeface="JetBrains Mono"/>
                  <a:ea typeface="JetBrains Mono"/>
                  <a:cs typeface="JetBrains Mono"/>
                  <a:sym typeface="JetBrains Mono"/>
                </a:rPr>
                <a:t>(Object o) {</a:t>
              </a:r>
              <a:endParaRPr sz="850">
                <a:latin typeface="JetBrains Mono"/>
                <a:ea typeface="JetBrains Mono"/>
                <a:cs typeface="JetBrains Mono"/>
                <a:sym typeface="JetBrains Mono"/>
              </a:endParaRPr>
            </a:p>
            <a:p>
              <a:pPr indent="0" lvl="0" marL="304800" marR="0" rtl="0" algn="l">
                <a:spcBef>
                  <a:spcPts val="150"/>
                </a:spcBef>
                <a:spcAft>
                  <a:spcPts val="0"/>
                </a:spcAft>
                <a:buNone/>
              </a:pPr>
              <a:r>
                <a:rPr b="1" lang="en-US" sz="850">
                  <a:solidFill>
                    <a:srgbClr val="F43F5E"/>
                  </a:solidFill>
                  <a:latin typeface="JetBrains Mono"/>
                  <a:ea typeface="JetBrains Mono"/>
                  <a:cs typeface="JetBrains Mono"/>
                  <a:sym typeface="JetBrains Mono"/>
                </a:rPr>
                <a:t>if</a:t>
              </a:r>
              <a:r>
                <a:rPr lang="en-US" sz="850">
                  <a:latin typeface="JetBrains Mono"/>
                  <a:ea typeface="JetBrains Mono"/>
                  <a:cs typeface="JetBrains Mono"/>
                  <a:sym typeface="JetBrains Mono"/>
                </a:rPr>
                <a:t> </a:t>
              </a:r>
              <a:r>
                <a:rPr lang="en-US" sz="850">
                  <a:solidFill>
                    <a:srgbClr val="E2E8F0"/>
                  </a:solidFill>
                  <a:latin typeface="JetBrains Mono"/>
                  <a:ea typeface="JetBrains Mono"/>
                  <a:cs typeface="JetBrains Mono"/>
                  <a:sym typeface="JetBrains Mono"/>
                </a:rPr>
                <a:t>(this == o)</a:t>
              </a:r>
              <a:r>
                <a:rPr lang="en-US" sz="850">
                  <a:latin typeface="JetBrains Mono"/>
                  <a:ea typeface="JetBrains Mono"/>
                  <a:cs typeface="JetBrains Mono"/>
                  <a:sym typeface="JetBrains Mono"/>
                </a:rPr>
                <a:t> </a:t>
              </a:r>
              <a:r>
                <a:rPr b="1" lang="en-US" sz="850">
                  <a:solidFill>
                    <a:srgbClr val="F43F5E"/>
                  </a:solidFill>
                  <a:latin typeface="JetBrains Mono"/>
                  <a:ea typeface="JetBrains Mono"/>
                  <a:cs typeface="JetBrains Mono"/>
                  <a:sym typeface="JetBrains Mono"/>
                </a:rPr>
                <a:t>return true</a:t>
              </a:r>
              <a:r>
                <a:rPr lang="en-US" sz="850">
                  <a:solidFill>
                    <a:srgbClr val="E2E8F0"/>
                  </a:solidFill>
                  <a:latin typeface="JetBrains Mono"/>
                  <a:ea typeface="JetBrains Mono"/>
                  <a:cs typeface="JetBrains Mono"/>
                  <a:sym typeface="JetBrains Mono"/>
                </a:rPr>
                <a:t>;</a:t>
              </a:r>
              <a:endParaRPr sz="850">
                <a:latin typeface="JetBrains Mono"/>
                <a:ea typeface="JetBrains Mono"/>
                <a:cs typeface="JetBrains Mono"/>
                <a:sym typeface="JetBrains Mono"/>
              </a:endParaRPr>
            </a:p>
            <a:p>
              <a:pPr indent="0" lvl="0" marL="304800" marR="0" rtl="0" algn="l">
                <a:spcBef>
                  <a:spcPts val="150"/>
                </a:spcBef>
                <a:spcAft>
                  <a:spcPts val="0"/>
                </a:spcAft>
                <a:buNone/>
              </a:pPr>
              <a:r>
                <a:rPr b="1" lang="en-US" sz="850">
                  <a:solidFill>
                    <a:srgbClr val="F43F5E"/>
                  </a:solidFill>
                  <a:latin typeface="JetBrains Mono"/>
                  <a:ea typeface="JetBrains Mono"/>
                  <a:cs typeface="JetBrains Mono"/>
                  <a:sym typeface="JetBrains Mono"/>
                </a:rPr>
                <a:t>if</a:t>
              </a:r>
              <a:r>
                <a:rPr lang="en-US" sz="850">
                  <a:latin typeface="JetBrains Mono"/>
                  <a:ea typeface="JetBrains Mono"/>
                  <a:cs typeface="JetBrains Mono"/>
                  <a:sym typeface="JetBrains Mono"/>
                </a:rPr>
                <a:t> </a:t>
              </a:r>
              <a:r>
                <a:rPr lang="en-US" sz="850">
                  <a:solidFill>
                    <a:srgbClr val="E2E8F0"/>
                  </a:solidFill>
                  <a:latin typeface="JetBrains Mono"/>
                  <a:ea typeface="JetBrains Mono"/>
                  <a:cs typeface="JetBrains Mono"/>
                  <a:sym typeface="JetBrains Mono"/>
                </a:rPr>
                <a:t>(!(o</a:t>
              </a:r>
              <a:r>
                <a:rPr lang="en-US" sz="850">
                  <a:latin typeface="JetBrains Mono"/>
                  <a:ea typeface="JetBrains Mono"/>
                  <a:cs typeface="JetBrains Mono"/>
                  <a:sym typeface="JetBrains Mono"/>
                </a:rPr>
                <a:t> </a:t>
              </a:r>
              <a:r>
                <a:rPr b="1" lang="en-US" sz="850">
                  <a:solidFill>
                    <a:srgbClr val="F43F5E"/>
                  </a:solidFill>
                  <a:latin typeface="JetBrains Mono"/>
                  <a:ea typeface="JetBrains Mono"/>
                  <a:cs typeface="JetBrains Mono"/>
                  <a:sym typeface="JetBrains Mono"/>
                </a:rPr>
                <a:t>instanceof</a:t>
              </a:r>
              <a:r>
                <a:rPr lang="en-US" sz="850">
                  <a:latin typeface="JetBrains Mono"/>
                  <a:ea typeface="JetBrains Mono"/>
                  <a:cs typeface="JetBrains Mono"/>
                  <a:sym typeface="JetBrains Mono"/>
                </a:rPr>
                <a:t> </a:t>
              </a:r>
              <a:r>
                <a:rPr lang="en-US" sz="850">
                  <a:solidFill>
                    <a:srgbClr val="38BDF8"/>
                  </a:solidFill>
                  <a:latin typeface="JetBrains Mono"/>
                  <a:ea typeface="JetBrains Mono"/>
                  <a:cs typeface="JetBrains Mono"/>
                  <a:sym typeface="JetBrains Mono"/>
                </a:rPr>
                <a:t>IdempotencyKey</a:t>
              </a:r>
              <a:r>
                <a:rPr lang="en-US" sz="850">
                  <a:latin typeface="JetBrains Mono"/>
                  <a:ea typeface="JetBrains Mono"/>
                  <a:cs typeface="JetBrains Mono"/>
                  <a:sym typeface="JetBrains Mono"/>
                </a:rPr>
                <a:t> </a:t>
              </a:r>
              <a:r>
                <a:rPr lang="en-US" sz="850">
                  <a:solidFill>
                    <a:srgbClr val="E2E8F0"/>
                  </a:solidFill>
                  <a:latin typeface="JetBrains Mono"/>
                  <a:ea typeface="JetBrains Mono"/>
                  <a:cs typeface="JetBrains Mono"/>
                  <a:sym typeface="JetBrains Mono"/>
                </a:rPr>
                <a:t>that))</a:t>
              </a:r>
              <a:r>
                <a:rPr lang="en-US" sz="850">
                  <a:latin typeface="JetBrains Mono"/>
                  <a:ea typeface="JetBrains Mono"/>
                  <a:cs typeface="JetBrains Mono"/>
                  <a:sym typeface="JetBrains Mono"/>
                </a:rPr>
                <a:t> </a:t>
              </a:r>
              <a:r>
                <a:rPr b="1" lang="en-US" sz="850">
                  <a:solidFill>
                    <a:srgbClr val="F43F5E"/>
                  </a:solidFill>
                  <a:latin typeface="JetBrains Mono"/>
                  <a:ea typeface="JetBrains Mono"/>
                  <a:cs typeface="JetBrains Mono"/>
                  <a:sym typeface="JetBrains Mono"/>
                </a:rPr>
                <a:t>return false</a:t>
              </a:r>
              <a:r>
                <a:rPr lang="en-US" sz="850">
                  <a:solidFill>
                    <a:srgbClr val="E2E8F0"/>
                  </a:solidFill>
                  <a:latin typeface="JetBrains Mono"/>
                  <a:ea typeface="JetBrains Mono"/>
                  <a:cs typeface="JetBrains Mono"/>
                  <a:sym typeface="JetBrains Mono"/>
                </a:rPr>
                <a:t>;</a:t>
              </a:r>
              <a:endParaRPr sz="850">
                <a:latin typeface="JetBrains Mono"/>
                <a:ea typeface="JetBrains Mono"/>
                <a:cs typeface="JetBrains Mono"/>
                <a:sym typeface="JetBrains Mono"/>
              </a:endParaRPr>
            </a:p>
            <a:p>
              <a:pPr indent="0" lvl="0" marL="304800" marR="0" rtl="0" algn="l">
                <a:spcBef>
                  <a:spcPts val="150"/>
                </a:spcBef>
                <a:spcAft>
                  <a:spcPts val="0"/>
                </a:spcAft>
                <a:buNone/>
              </a:pPr>
              <a:r>
                <a:rPr b="1" lang="en-US" sz="850">
                  <a:solidFill>
                    <a:srgbClr val="F43F5E"/>
                  </a:solidFill>
                  <a:latin typeface="JetBrains Mono"/>
                  <a:ea typeface="JetBrains Mono"/>
                  <a:cs typeface="JetBrains Mono"/>
                  <a:sym typeface="JetBrains Mono"/>
                </a:rPr>
                <a:t>return</a:t>
              </a:r>
              <a:r>
                <a:rPr lang="en-US" sz="850">
                  <a:latin typeface="JetBrains Mono"/>
                  <a:ea typeface="JetBrains Mono"/>
                  <a:cs typeface="JetBrains Mono"/>
                  <a:sym typeface="JetBrains Mono"/>
                </a:rPr>
                <a:t> </a:t>
              </a:r>
              <a:r>
                <a:rPr lang="en-US" sz="850">
                  <a:solidFill>
                    <a:srgbClr val="E2E8F0"/>
                  </a:solidFill>
                  <a:latin typeface="JetBrains Mono"/>
                  <a:ea typeface="JetBrains Mono"/>
                  <a:cs typeface="JetBrains Mono"/>
                  <a:sym typeface="JetBrains Mono"/>
                </a:rPr>
                <a:t>Objects.equals(this.key, that.key);</a:t>
              </a:r>
              <a:endParaRPr sz="850">
                <a:latin typeface="JetBrains Mono"/>
                <a:ea typeface="JetBrains Mono"/>
                <a:cs typeface="JetBrains Mono"/>
                <a:sym typeface="JetBrains Mono"/>
              </a:endParaRPr>
            </a:p>
            <a:p>
              <a:pPr indent="0" lvl="0" marL="152400" marR="0" rtl="0" algn="l">
                <a:spcBef>
                  <a:spcPts val="150"/>
                </a:spcBef>
                <a:spcAft>
                  <a:spcPts val="0"/>
                </a:spcAft>
                <a:buNone/>
              </a:pPr>
              <a:r>
                <a:rPr lang="en-US" sz="850">
                  <a:solidFill>
                    <a:srgbClr val="E2E8F0"/>
                  </a:solidFill>
                  <a:latin typeface="JetBrains Mono"/>
                  <a:ea typeface="JetBrains Mono"/>
                  <a:cs typeface="JetBrains Mono"/>
                  <a:sym typeface="JetBrains Mono"/>
                </a:rPr>
                <a:t>}</a:t>
              </a:r>
              <a:endParaRPr sz="850">
                <a:latin typeface="JetBrains Mono"/>
                <a:ea typeface="JetBrains Mono"/>
                <a:cs typeface="JetBrains Mono"/>
                <a:sym typeface="JetBrains Mono"/>
              </a:endParaRPr>
            </a:p>
            <a:p>
              <a:pPr indent="0" lvl="0" marL="152400" marR="0" rtl="0" algn="l">
                <a:spcBef>
                  <a:spcPts val="600"/>
                </a:spcBef>
                <a:spcAft>
                  <a:spcPts val="0"/>
                </a:spcAft>
                <a:buNone/>
              </a:pPr>
              <a:r>
                <a:rPr lang="en-US" sz="850">
                  <a:solidFill>
                    <a:srgbClr val="A7F3D0"/>
                  </a:solidFill>
                  <a:latin typeface="JetBrains Mono"/>
                  <a:ea typeface="JetBrains Mono"/>
                  <a:cs typeface="JetBrains Mono"/>
                  <a:sym typeface="JetBrains Mono"/>
                </a:rPr>
                <a:t>@Override</a:t>
              </a:r>
              <a:endParaRPr sz="850">
                <a:latin typeface="JetBrains Mono"/>
                <a:ea typeface="JetBrains Mono"/>
                <a:cs typeface="JetBrains Mono"/>
                <a:sym typeface="JetBrains Mono"/>
              </a:endParaRPr>
            </a:p>
            <a:p>
              <a:pPr indent="0" lvl="0" marL="152400" marR="0" rtl="0" algn="l">
                <a:spcBef>
                  <a:spcPts val="150"/>
                </a:spcBef>
                <a:spcAft>
                  <a:spcPts val="0"/>
                </a:spcAft>
                <a:buNone/>
              </a:pPr>
              <a:r>
                <a:rPr b="1" lang="en-US" sz="850">
                  <a:solidFill>
                    <a:srgbClr val="F43F5E"/>
                  </a:solidFill>
                  <a:latin typeface="JetBrains Mono"/>
                  <a:ea typeface="JetBrains Mono"/>
                  <a:cs typeface="JetBrains Mono"/>
                  <a:sym typeface="JetBrains Mono"/>
                </a:rPr>
                <a:t>public int</a:t>
              </a:r>
              <a:r>
                <a:rPr lang="en-US" sz="850">
                  <a:latin typeface="JetBrains Mono"/>
                  <a:ea typeface="JetBrains Mono"/>
                  <a:cs typeface="JetBrains Mono"/>
                  <a:sym typeface="JetBrains Mono"/>
                </a:rPr>
                <a:t> </a:t>
              </a:r>
              <a:r>
                <a:rPr lang="en-US" sz="850">
                  <a:solidFill>
                    <a:srgbClr val="A7F3D0"/>
                  </a:solidFill>
                  <a:latin typeface="JetBrains Mono"/>
                  <a:ea typeface="JetBrains Mono"/>
                  <a:cs typeface="JetBrains Mono"/>
                  <a:sym typeface="JetBrains Mono"/>
                </a:rPr>
                <a:t>hashCode</a:t>
              </a:r>
              <a:r>
                <a:rPr lang="en-US" sz="850">
                  <a:solidFill>
                    <a:srgbClr val="E2E8F0"/>
                  </a:solidFill>
                  <a:latin typeface="JetBrains Mono"/>
                  <a:ea typeface="JetBrains Mono"/>
                  <a:cs typeface="JetBrains Mono"/>
                  <a:sym typeface="JetBrains Mono"/>
                </a:rPr>
                <a:t>() {</a:t>
              </a:r>
              <a:endParaRPr sz="850">
                <a:latin typeface="JetBrains Mono"/>
                <a:ea typeface="JetBrains Mono"/>
                <a:cs typeface="JetBrains Mono"/>
                <a:sym typeface="JetBrains Mono"/>
              </a:endParaRPr>
            </a:p>
            <a:p>
              <a:pPr indent="0" lvl="0" marL="304800" marR="0" rtl="0" algn="l">
                <a:spcBef>
                  <a:spcPts val="150"/>
                </a:spcBef>
                <a:spcAft>
                  <a:spcPts val="0"/>
                </a:spcAft>
                <a:buNone/>
              </a:pPr>
              <a:r>
                <a:rPr b="1" lang="en-US" sz="850">
                  <a:solidFill>
                    <a:srgbClr val="F43F5E"/>
                  </a:solidFill>
                  <a:latin typeface="JetBrains Mono"/>
                  <a:ea typeface="JetBrains Mono"/>
                  <a:cs typeface="JetBrains Mono"/>
                  <a:sym typeface="JetBrains Mono"/>
                </a:rPr>
                <a:t>return</a:t>
              </a:r>
              <a:r>
                <a:rPr lang="en-US" sz="850">
                  <a:latin typeface="JetBrains Mono"/>
                  <a:ea typeface="JetBrains Mono"/>
                  <a:cs typeface="JetBrains Mono"/>
                  <a:sym typeface="JetBrains Mono"/>
                </a:rPr>
                <a:t> </a:t>
              </a:r>
              <a:r>
                <a:rPr lang="en-US" sz="850">
                  <a:solidFill>
                    <a:srgbClr val="E2E8F0"/>
                  </a:solidFill>
                  <a:latin typeface="JetBrains Mono"/>
                  <a:ea typeface="JetBrains Mono"/>
                  <a:cs typeface="JetBrains Mono"/>
                  <a:sym typeface="JetBrains Mono"/>
                </a:rPr>
                <a:t>Objects.hash(this.key);</a:t>
              </a:r>
              <a:r>
                <a:rPr lang="en-US" sz="850">
                  <a:latin typeface="JetBrains Mono"/>
                  <a:ea typeface="JetBrains Mono"/>
                  <a:cs typeface="JetBrains Mono"/>
                  <a:sym typeface="JetBrains Mono"/>
                </a:rPr>
                <a:t> </a:t>
              </a:r>
              <a:r>
                <a:rPr lang="en-US" sz="850">
                  <a:solidFill>
                    <a:srgbClr val="64748B"/>
                  </a:solidFill>
                  <a:latin typeface="JetBrains Mono"/>
                  <a:ea typeface="JetBrains Mono"/>
                  <a:cs typeface="JetBrains Mono"/>
                  <a:sym typeface="JetBrains Mono"/>
                </a:rPr>
                <a:t>// Same fields as equals</a:t>
              </a:r>
              <a:endParaRPr sz="850">
                <a:latin typeface="JetBrains Mono"/>
                <a:ea typeface="JetBrains Mono"/>
                <a:cs typeface="JetBrains Mono"/>
                <a:sym typeface="JetBrains Mono"/>
              </a:endParaRPr>
            </a:p>
            <a:p>
              <a:pPr indent="0" lvl="0" marL="152400" marR="0" rtl="0" algn="l">
                <a:spcBef>
                  <a:spcPts val="150"/>
                </a:spcBef>
                <a:spcAft>
                  <a:spcPts val="0"/>
                </a:spcAft>
                <a:buNone/>
              </a:pPr>
              <a:r>
                <a:rPr lang="en-US" sz="850">
                  <a:solidFill>
                    <a:srgbClr val="E2E8F0"/>
                  </a:solidFill>
                  <a:latin typeface="JetBrains Mono"/>
                  <a:ea typeface="JetBrains Mono"/>
                  <a:cs typeface="JetBrains Mono"/>
                  <a:sym typeface="JetBrains Mono"/>
                </a:rPr>
                <a:t>}</a:t>
              </a:r>
              <a:endParaRPr sz="850">
                <a:latin typeface="JetBrains Mono"/>
                <a:ea typeface="JetBrains Mono"/>
                <a:cs typeface="JetBrains Mono"/>
                <a:sym typeface="JetBrains Mono"/>
              </a:endParaRPr>
            </a:p>
            <a:p>
              <a:pPr indent="0" lvl="0" marL="0" rtl="0" algn="l">
                <a:spcBef>
                  <a:spcPts val="150"/>
                </a:spcBef>
                <a:spcAft>
                  <a:spcPts val="0"/>
                </a:spcAft>
                <a:buNone/>
              </a:pPr>
              <a:r>
                <a:rPr lang="en-US" sz="850">
                  <a:solidFill>
                    <a:srgbClr val="E2E8F0"/>
                  </a:solidFill>
                  <a:latin typeface="JetBrains Mono"/>
                  <a:ea typeface="JetBrains Mono"/>
                  <a:cs typeface="JetBrains Mono"/>
                  <a:sym typeface="JetBrains Mono"/>
                </a:rPr>
                <a:t>}</a:t>
              </a:r>
              <a:endParaRPr sz="850">
                <a:latin typeface="JetBrains Mono"/>
                <a:ea typeface="JetBrains Mono"/>
                <a:cs typeface="JetBrains Mono"/>
                <a:sym typeface="JetBrains Mono"/>
              </a:endParaRPr>
            </a:p>
          </p:txBody>
        </p:sp>
        <p:sp>
          <p:nvSpPr>
            <p:cNvPr id="455" name="Google Shape;455;p25"/>
            <p:cNvSpPr/>
            <p:nvPr/>
          </p:nvSpPr>
          <p:spPr>
            <a:xfrm>
              <a:off x="5486400" y="5695950"/>
              <a:ext cx="5829300" cy="609600"/>
            </a:xfrm>
            <a:prstGeom prst="roundRect">
              <a:avLst>
                <a:gd fmla="val 9375" name="adj"/>
              </a:avLst>
            </a:prstGeom>
            <a:solidFill>
              <a:srgbClr val="ECFDF5"/>
            </a:solidFill>
            <a:ln cap="flat" cmpd="sng" w="9525">
              <a:solidFill>
                <a:srgbClr val="A7F3D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6" name="Google Shape;456;p25"/>
            <p:cNvSpPr txBox="1"/>
            <p:nvPr/>
          </p:nvSpPr>
          <p:spPr>
            <a:xfrm>
              <a:off x="5619750" y="5753100"/>
              <a:ext cx="5562600" cy="4953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800">
                  <a:solidFill>
                    <a:srgbClr val="047857"/>
                  </a:solidFill>
                  <a:latin typeface="Plus Jakarta Sans"/>
                  <a:ea typeface="Plus Jakarta Sans"/>
                  <a:cs typeface="Plus Jakarta Sans"/>
                  <a:sym typeface="Plus Jakarta Sans"/>
                </a:rPr>
                <a:t>QA VIEW &amp; BENEFIT</a:t>
              </a:r>
              <a:endParaRPr b="1" sz="800">
                <a:solidFill>
                  <a:srgbClr val="047857"/>
                </a:solidFill>
                <a:latin typeface="Plus Jakarta Sans"/>
                <a:ea typeface="Plus Jakarta Sans"/>
                <a:cs typeface="Plus Jakarta Sans"/>
                <a:sym typeface="Plus Jakarta Sans"/>
              </a:endParaRPr>
            </a:p>
            <a:p>
              <a:pPr indent="0" lvl="0" marL="0" rtl="0" algn="l">
                <a:spcBef>
                  <a:spcPts val="225"/>
                </a:spcBef>
                <a:spcAft>
                  <a:spcPts val="0"/>
                </a:spcAft>
                <a:buNone/>
              </a:pPr>
              <a:r>
                <a:rPr b="0" lang="en-US" sz="950">
                  <a:solidFill>
                    <a:srgbClr val="065F46"/>
                  </a:solidFill>
                  <a:latin typeface="Plus Jakarta Sans Medium"/>
                  <a:ea typeface="Plus Jakarta Sans Medium"/>
                  <a:cs typeface="Plus Jakarta Sans Medium"/>
                  <a:sym typeface="Plus Jakarta Sans Medium"/>
                </a:rPr>
                <a:t>QA View: Test that re-submitting an identical key returns HTTP 409 Conflict.</a:t>
              </a:r>
              <a:endParaRPr b="0" sz="950">
                <a:solidFill>
                  <a:srgbClr val="065F46"/>
                </a:solidFill>
                <a:latin typeface="Plus Jakarta Sans Medium"/>
                <a:ea typeface="Plus Jakarta Sans Medium"/>
                <a:cs typeface="Plus Jakarta Sans Medium"/>
                <a:sym typeface="Plus Jakarta Sans Medium"/>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60" name="Shape 460"/>
        <p:cNvGrpSpPr/>
        <p:nvPr/>
      </p:nvGrpSpPr>
      <p:grpSpPr>
        <a:xfrm>
          <a:off x="0" y="0"/>
          <a:ext cx="0" cy="0"/>
          <a:chOff x="0" y="0"/>
          <a:chExt cx="0" cy="0"/>
        </a:xfrm>
      </p:grpSpPr>
      <p:grpSp>
        <p:nvGrpSpPr>
          <p:cNvPr id="461" name="Google Shape;461;p26"/>
          <p:cNvGrpSpPr/>
          <p:nvPr/>
        </p:nvGrpSpPr>
        <p:grpSpPr>
          <a:xfrm>
            <a:off x="685800" y="342900"/>
            <a:ext cx="10820550" cy="619200"/>
            <a:chOff x="685800" y="342900"/>
            <a:chExt cx="10820550" cy="619200"/>
          </a:xfrm>
        </p:grpSpPr>
        <p:sp>
          <p:nvSpPr>
            <p:cNvPr id="462" name="Google Shape;462;p26"/>
            <p:cNvSpPr txBox="1"/>
            <p:nvPr/>
          </p:nvSpPr>
          <p:spPr>
            <a:xfrm>
              <a:off x="685800" y="342900"/>
              <a:ext cx="6667500" cy="6192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US" sz="950">
                  <a:solidFill>
                    <a:srgbClr val="0284C7"/>
                  </a:solidFill>
                  <a:latin typeface="Plus Jakarta Sans"/>
                  <a:ea typeface="Plus Jakarta Sans"/>
                  <a:cs typeface="Plus Jakarta Sans"/>
                  <a:sym typeface="Plus Jakarta Sans"/>
                </a:rPr>
                <a:t>HANDS-ON LAB</a:t>
              </a:r>
              <a:endParaRPr b="1" sz="950">
                <a:solidFill>
                  <a:srgbClr val="0284C7"/>
                </a:solidFill>
                <a:latin typeface="Plus Jakarta Sans"/>
                <a:ea typeface="Plus Jakarta Sans"/>
                <a:cs typeface="Plus Jakarta Sans"/>
                <a:sym typeface="Plus Jakarta Sans"/>
              </a:endParaRPr>
            </a:p>
            <a:p>
              <a:pPr indent="0" lvl="0" marL="0" rtl="0" algn="l">
                <a:spcBef>
                  <a:spcPts val="300"/>
                </a:spcBef>
                <a:spcAft>
                  <a:spcPts val="0"/>
                </a:spcAft>
                <a:buNone/>
              </a:pPr>
              <a:r>
                <a:rPr b="0" lang="en-US" sz="2400">
                  <a:solidFill>
                    <a:srgbClr val="0F172A"/>
                  </a:solidFill>
                  <a:latin typeface="Plus Jakarta Sans ExtraBold"/>
                  <a:ea typeface="Plus Jakarta Sans ExtraBold"/>
                  <a:cs typeface="Plus Jakarta Sans ExtraBold"/>
                  <a:sym typeface="Plus Jakarta Sans ExtraBold"/>
                </a:rPr>
                <a:t>Homework: Payment Gateway Interface</a:t>
              </a:r>
              <a:endParaRPr b="1" sz="950">
                <a:solidFill>
                  <a:srgbClr val="0284C7"/>
                </a:solidFill>
                <a:latin typeface="Plus Jakarta Sans"/>
                <a:ea typeface="Plus Jakarta Sans"/>
                <a:cs typeface="Plus Jakarta Sans"/>
                <a:sym typeface="Plus Jakarta Sans"/>
              </a:endParaRPr>
            </a:p>
          </p:txBody>
        </p:sp>
        <p:sp>
          <p:nvSpPr>
            <p:cNvPr id="463" name="Google Shape;463;p26"/>
            <p:cNvSpPr/>
            <p:nvPr/>
          </p:nvSpPr>
          <p:spPr>
            <a:xfrm>
              <a:off x="9734550" y="361950"/>
              <a:ext cx="1771800" cy="304800"/>
            </a:xfrm>
            <a:prstGeom prst="roundRect">
              <a:avLst>
                <a:gd fmla="val 50000" name="adj"/>
              </a:avLst>
            </a:prstGeom>
            <a:solidFill>
              <a:srgbClr val="FEF3C7"/>
            </a:solidFill>
            <a:ln cap="flat" cmpd="sng" w="9525">
              <a:solidFill>
                <a:srgbClr val="FDE68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64" name="Google Shape;464;p26"/>
            <p:cNvSpPr txBox="1"/>
            <p:nvPr/>
          </p:nvSpPr>
          <p:spPr>
            <a:xfrm>
              <a:off x="9734550" y="361950"/>
              <a:ext cx="1771800" cy="304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US" sz="950">
                  <a:solidFill>
                    <a:srgbClr val="B45309"/>
                  </a:solidFill>
                  <a:latin typeface="Plus Jakarta Sans"/>
                  <a:ea typeface="Plus Jakarta Sans"/>
                  <a:cs typeface="Plus Jakarta Sans"/>
                  <a:sym typeface="Plus Jakarta Sans"/>
                </a:rPr>
                <a:t>Practical Coding Exercise</a:t>
              </a:r>
              <a:endParaRPr b="1" sz="950">
                <a:solidFill>
                  <a:srgbClr val="B45309"/>
                </a:solidFill>
                <a:latin typeface="Plus Jakarta Sans"/>
                <a:ea typeface="Plus Jakarta Sans"/>
                <a:cs typeface="Plus Jakarta Sans"/>
                <a:sym typeface="Plus Jakarta Sans"/>
              </a:endParaRPr>
            </a:p>
          </p:txBody>
        </p:sp>
      </p:grpSp>
      <p:grpSp>
        <p:nvGrpSpPr>
          <p:cNvPr id="465" name="Google Shape;465;p26"/>
          <p:cNvGrpSpPr/>
          <p:nvPr/>
        </p:nvGrpSpPr>
        <p:grpSpPr>
          <a:xfrm>
            <a:off x="685800" y="1009650"/>
            <a:ext cx="10820400" cy="800100"/>
            <a:chOff x="685800" y="1009650"/>
            <a:chExt cx="10820400" cy="800100"/>
          </a:xfrm>
        </p:grpSpPr>
        <p:sp>
          <p:nvSpPr>
            <p:cNvPr id="466" name="Google Shape;466;p26"/>
            <p:cNvSpPr/>
            <p:nvPr/>
          </p:nvSpPr>
          <p:spPr>
            <a:xfrm>
              <a:off x="685800" y="1009650"/>
              <a:ext cx="10820400" cy="800100"/>
            </a:xfrm>
            <a:prstGeom prst="roundRect">
              <a:avLst>
                <a:gd fmla="val 9523"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67" name="Google Shape;467;p26"/>
            <p:cNvSpPr/>
            <p:nvPr/>
          </p:nvSpPr>
          <p:spPr>
            <a:xfrm>
              <a:off x="685800" y="1009650"/>
              <a:ext cx="47700" cy="800100"/>
            </a:xfrm>
            <a:prstGeom prst="roundRect">
              <a:avLst>
                <a:gd fmla="val 40000" name="adj"/>
              </a:avLst>
            </a:prstGeom>
            <a:solidFill>
              <a:srgbClr val="0284C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68" name="Google Shape;468;p26"/>
            <p:cNvSpPr txBox="1"/>
            <p:nvPr/>
          </p:nvSpPr>
          <p:spPr>
            <a:xfrm>
              <a:off x="895350" y="1085850"/>
              <a:ext cx="10382400" cy="6477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850">
                  <a:solidFill>
                    <a:srgbClr val="0284C7"/>
                  </a:solidFill>
                  <a:latin typeface="Plus Jakarta Sans"/>
                  <a:ea typeface="Plus Jakarta Sans"/>
                  <a:cs typeface="Plus Jakarta Sans"/>
                  <a:sym typeface="Plus Jakarta Sans"/>
                </a:rPr>
                <a:t>ASSIGNMENT MISSION</a:t>
              </a:r>
              <a:endParaRPr b="1" sz="850">
                <a:solidFill>
                  <a:srgbClr val="0284C7"/>
                </a:solidFill>
                <a:latin typeface="Plus Jakarta Sans"/>
                <a:ea typeface="Plus Jakarta Sans"/>
                <a:cs typeface="Plus Jakarta Sans"/>
                <a:sym typeface="Plus Jakarta Sans"/>
              </a:endParaRPr>
            </a:p>
            <a:p>
              <a:pPr indent="0" lvl="0" marL="0" rtl="0" algn="l">
                <a:spcBef>
                  <a:spcPts val="300"/>
                </a:spcBef>
                <a:spcAft>
                  <a:spcPts val="0"/>
                </a:spcAft>
                <a:buNone/>
              </a:pPr>
              <a:r>
                <a:rPr b="0" lang="en-US" sz="1100">
                  <a:solidFill>
                    <a:srgbClr val="1E293B"/>
                  </a:solidFill>
                  <a:latin typeface="Plus Jakarta Sans SemiBold"/>
                  <a:ea typeface="Plus Jakarta Sans SemiBold"/>
                  <a:cs typeface="Plus Jakarta Sans SemiBold"/>
                  <a:sym typeface="Plus Jakarta Sans SemiBold"/>
                </a:rPr>
                <a:t>Build a production-style, decoupled payment subsystem by implementing a shared Java Interface, two distinct payment vendor classes, an immutable Record payload, and a unit test validating dynamic dispatch.</a:t>
              </a:r>
              <a:endParaRPr b="1" sz="850">
                <a:solidFill>
                  <a:srgbClr val="0284C7"/>
                </a:solidFill>
                <a:latin typeface="Plus Jakarta Sans"/>
                <a:ea typeface="Plus Jakarta Sans"/>
                <a:cs typeface="Plus Jakarta Sans"/>
                <a:sym typeface="Plus Jakarta Sans"/>
              </a:endParaRPr>
            </a:p>
          </p:txBody>
        </p:sp>
      </p:grpSp>
      <p:grpSp>
        <p:nvGrpSpPr>
          <p:cNvPr id="469" name="Google Shape;469;p26"/>
          <p:cNvGrpSpPr/>
          <p:nvPr/>
        </p:nvGrpSpPr>
        <p:grpSpPr>
          <a:xfrm>
            <a:off x="685800" y="1962150"/>
            <a:ext cx="4381500" cy="4533900"/>
            <a:chOff x="685800" y="1962150"/>
            <a:chExt cx="4381500" cy="4533900"/>
          </a:xfrm>
        </p:grpSpPr>
        <p:sp>
          <p:nvSpPr>
            <p:cNvPr id="470" name="Google Shape;470;p26"/>
            <p:cNvSpPr/>
            <p:nvPr/>
          </p:nvSpPr>
          <p:spPr>
            <a:xfrm>
              <a:off x="685800" y="1962150"/>
              <a:ext cx="4381500" cy="4533900"/>
            </a:xfrm>
            <a:prstGeom prst="roundRect">
              <a:avLst>
                <a:gd fmla="val 2608"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71" name="Google Shape;471;p26"/>
            <p:cNvSpPr txBox="1"/>
            <p:nvPr/>
          </p:nvSpPr>
          <p:spPr>
            <a:xfrm>
              <a:off x="876300" y="2114550"/>
              <a:ext cx="4000500" cy="4287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US" sz="786">
                  <a:solidFill>
                    <a:srgbClr val="0284C7"/>
                  </a:solidFill>
                  <a:latin typeface="Plus Jakarta Sans"/>
                  <a:ea typeface="Plus Jakarta Sans"/>
                  <a:cs typeface="Plus Jakarta Sans"/>
                  <a:sym typeface="Plus Jakarta Sans"/>
                </a:rPr>
                <a:t>SPECIFICATION REQUIREMENTS</a:t>
              </a:r>
              <a:endParaRPr b="1" sz="786">
                <a:solidFill>
                  <a:srgbClr val="0284C7"/>
                </a:solidFill>
                <a:latin typeface="Plus Jakarta Sans"/>
                <a:ea typeface="Plus Jakarta Sans"/>
                <a:cs typeface="Plus Jakarta Sans"/>
                <a:sym typeface="Plus Jakarta Sans"/>
              </a:endParaRPr>
            </a:p>
            <a:p>
              <a:pPr indent="0" lvl="0" marL="0" rtl="0" algn="l">
                <a:spcBef>
                  <a:spcPts val="200"/>
                </a:spcBef>
                <a:spcAft>
                  <a:spcPts val="0"/>
                </a:spcAft>
                <a:buNone/>
              </a:pPr>
              <a:r>
                <a:rPr b="1" lang="en-US" sz="1665">
                  <a:solidFill>
                    <a:srgbClr val="0F172A"/>
                  </a:solidFill>
                  <a:latin typeface="Plus Jakarta Sans"/>
                  <a:ea typeface="Plus Jakarta Sans"/>
                  <a:cs typeface="Plus Jakarta Sans"/>
                  <a:sym typeface="Plus Jakarta Sans"/>
                </a:rPr>
                <a:t>4 Implementation Tasks</a:t>
              </a:r>
              <a:endParaRPr b="1" sz="786">
                <a:solidFill>
                  <a:srgbClr val="0284C7"/>
                </a:solidFill>
                <a:latin typeface="Plus Jakarta Sans"/>
                <a:ea typeface="Plus Jakarta Sans"/>
                <a:cs typeface="Plus Jakarta Sans"/>
                <a:sym typeface="Plus Jakarta Sans"/>
              </a:endParaRPr>
            </a:p>
          </p:txBody>
        </p:sp>
        <p:sp>
          <p:nvSpPr>
            <p:cNvPr id="472" name="Google Shape;472;p26"/>
            <p:cNvSpPr/>
            <p:nvPr/>
          </p:nvSpPr>
          <p:spPr>
            <a:xfrm>
              <a:off x="876300" y="2628900"/>
              <a:ext cx="4000500" cy="809700"/>
            </a:xfrm>
            <a:prstGeom prst="roundRect">
              <a:avLst>
                <a:gd fmla="val 9411"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73" name="Google Shape;473;p26"/>
            <p:cNvSpPr txBox="1"/>
            <p:nvPr/>
          </p:nvSpPr>
          <p:spPr>
            <a:xfrm>
              <a:off x="990600" y="2686050"/>
              <a:ext cx="3771900" cy="6954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950">
                  <a:solidFill>
                    <a:srgbClr val="0F172A"/>
                  </a:solidFill>
                  <a:latin typeface="Plus Jakarta Sans"/>
                  <a:ea typeface="Plus Jakarta Sans"/>
                  <a:cs typeface="Plus Jakarta Sans"/>
                  <a:sym typeface="Plus Jakarta Sans"/>
                </a:rPr>
                <a:t>Task 1: </a:t>
              </a:r>
              <a:r>
                <a:rPr b="0" lang="en-US" sz="950">
                  <a:solidFill>
                    <a:srgbClr val="334155"/>
                  </a:solidFill>
                  <a:latin typeface="Plus Jakarta Sans"/>
                  <a:ea typeface="Plus Jakarta Sans"/>
                  <a:cs typeface="Plus Jakarta Sans"/>
                  <a:sym typeface="Plus Jakarta Sans"/>
                </a:rPr>
                <a:t>Create a Java Record </a:t>
              </a:r>
              <a:r>
                <a:rPr b="0" lang="en-US" sz="950">
                  <a:solidFill>
                    <a:srgbClr val="0284C7"/>
                  </a:solidFill>
                  <a:latin typeface="JetBrains Mono"/>
                  <a:ea typeface="JetBrains Mono"/>
                  <a:cs typeface="JetBrains Mono"/>
                  <a:sym typeface="JetBrains Mono"/>
                </a:rPr>
                <a:t>PaymentReceipt(String id, BigDecimal amount, boolean success)</a:t>
              </a:r>
              <a:r>
                <a:rPr b="0" lang="en-US" sz="950">
                  <a:solidFill>
                    <a:srgbClr val="334155"/>
                  </a:solidFill>
                  <a:latin typeface="Plus Jakarta Sans"/>
                  <a:ea typeface="Plus Jakarta Sans"/>
                  <a:cs typeface="Plus Jakarta Sans"/>
                  <a:sym typeface="Plus Jakarta Sans"/>
                </a:rPr>
                <a:t>.</a:t>
              </a:r>
              <a:endParaRPr b="1" sz="950">
                <a:solidFill>
                  <a:srgbClr val="0F172A"/>
                </a:solidFill>
                <a:latin typeface="Plus Jakarta Sans"/>
                <a:ea typeface="Plus Jakarta Sans"/>
                <a:cs typeface="Plus Jakarta Sans"/>
                <a:sym typeface="Plus Jakarta Sans"/>
              </a:endParaRPr>
            </a:p>
          </p:txBody>
        </p:sp>
        <p:sp>
          <p:nvSpPr>
            <p:cNvPr id="474" name="Google Shape;474;p26"/>
            <p:cNvSpPr/>
            <p:nvPr/>
          </p:nvSpPr>
          <p:spPr>
            <a:xfrm>
              <a:off x="876300" y="3533775"/>
              <a:ext cx="4000500" cy="809700"/>
            </a:xfrm>
            <a:prstGeom prst="roundRect">
              <a:avLst>
                <a:gd fmla="val 9411"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75" name="Google Shape;475;p26"/>
            <p:cNvSpPr txBox="1"/>
            <p:nvPr/>
          </p:nvSpPr>
          <p:spPr>
            <a:xfrm>
              <a:off x="990600" y="3590925"/>
              <a:ext cx="3771900" cy="6954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950">
                  <a:solidFill>
                    <a:srgbClr val="0F172A"/>
                  </a:solidFill>
                  <a:latin typeface="Plus Jakarta Sans"/>
                  <a:ea typeface="Plus Jakarta Sans"/>
                  <a:cs typeface="Plus Jakarta Sans"/>
                  <a:sym typeface="Plus Jakarta Sans"/>
                </a:rPr>
                <a:t>Task 2: </a:t>
              </a:r>
              <a:r>
                <a:rPr b="0" lang="en-US" sz="950">
                  <a:solidFill>
                    <a:srgbClr val="334155"/>
                  </a:solidFill>
                  <a:latin typeface="Plus Jakarta Sans"/>
                  <a:ea typeface="Plus Jakarta Sans"/>
                  <a:cs typeface="Plus Jakarta Sans"/>
                  <a:sym typeface="Plus Jakarta Sans"/>
                </a:rPr>
                <a:t>Define interface </a:t>
              </a:r>
              <a:r>
                <a:rPr b="0" lang="en-US" sz="950">
                  <a:solidFill>
                    <a:srgbClr val="0284C7"/>
                  </a:solidFill>
                  <a:latin typeface="JetBrains Mono"/>
                  <a:ea typeface="JetBrains Mono"/>
                  <a:cs typeface="JetBrains Mono"/>
                  <a:sym typeface="JetBrains Mono"/>
                </a:rPr>
                <a:t>PaymentGateway</a:t>
              </a:r>
              <a:r>
                <a:rPr b="0" lang="en-US" sz="950">
                  <a:solidFill>
                    <a:srgbClr val="334155"/>
                  </a:solidFill>
                  <a:latin typeface="Plus Jakarta Sans"/>
                  <a:ea typeface="Plus Jakarta Sans"/>
                  <a:cs typeface="Plus Jakarta Sans"/>
                  <a:sym typeface="Plus Jakarta Sans"/>
                </a:rPr>
                <a:t> with method: </a:t>
              </a:r>
              <a:r>
                <a:rPr b="0" lang="en-US" sz="950">
                  <a:solidFill>
                    <a:srgbClr val="0284C7"/>
                  </a:solidFill>
                  <a:latin typeface="JetBrains Mono"/>
                  <a:ea typeface="JetBrains Mono"/>
                  <a:cs typeface="JetBrains Mono"/>
                  <a:sym typeface="JetBrains Mono"/>
                </a:rPr>
                <a:t>PaymentReceipt process(BigDecimal amount)</a:t>
              </a:r>
              <a:r>
                <a:rPr b="0" lang="en-US" sz="950">
                  <a:solidFill>
                    <a:srgbClr val="334155"/>
                  </a:solidFill>
                  <a:latin typeface="Plus Jakarta Sans"/>
                  <a:ea typeface="Plus Jakarta Sans"/>
                  <a:cs typeface="Plus Jakarta Sans"/>
                  <a:sym typeface="Plus Jakarta Sans"/>
                </a:rPr>
                <a:t>.</a:t>
              </a:r>
              <a:endParaRPr b="1" sz="950">
                <a:solidFill>
                  <a:srgbClr val="0F172A"/>
                </a:solidFill>
                <a:latin typeface="Plus Jakarta Sans"/>
                <a:ea typeface="Plus Jakarta Sans"/>
                <a:cs typeface="Plus Jakarta Sans"/>
                <a:sym typeface="Plus Jakarta Sans"/>
              </a:endParaRPr>
            </a:p>
          </p:txBody>
        </p:sp>
        <p:sp>
          <p:nvSpPr>
            <p:cNvPr id="476" name="Google Shape;476;p26"/>
            <p:cNvSpPr/>
            <p:nvPr/>
          </p:nvSpPr>
          <p:spPr>
            <a:xfrm>
              <a:off x="876300" y="4438650"/>
              <a:ext cx="4000500" cy="904800"/>
            </a:xfrm>
            <a:prstGeom prst="roundRect">
              <a:avLst>
                <a:gd fmla="val 8421"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77" name="Google Shape;477;p26"/>
            <p:cNvSpPr txBox="1"/>
            <p:nvPr/>
          </p:nvSpPr>
          <p:spPr>
            <a:xfrm>
              <a:off x="990600" y="4495800"/>
              <a:ext cx="3771900" cy="790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950">
                  <a:solidFill>
                    <a:srgbClr val="0F172A"/>
                  </a:solidFill>
                  <a:latin typeface="Plus Jakarta Sans"/>
                  <a:ea typeface="Plus Jakarta Sans"/>
                  <a:cs typeface="Plus Jakarta Sans"/>
                  <a:sym typeface="Plus Jakarta Sans"/>
                </a:rPr>
                <a:t>Task 3: </a:t>
              </a:r>
              <a:r>
                <a:rPr b="0" lang="en-US" sz="950">
                  <a:solidFill>
                    <a:srgbClr val="334155"/>
                  </a:solidFill>
                  <a:latin typeface="Plus Jakarta Sans"/>
                  <a:ea typeface="Plus Jakarta Sans"/>
                  <a:cs typeface="Plus Jakarta Sans"/>
                  <a:sym typeface="Plus Jakarta Sans"/>
                </a:rPr>
                <a:t>Implement </a:t>
              </a:r>
              <a:r>
                <a:rPr b="0" lang="en-US" sz="950">
                  <a:solidFill>
                    <a:srgbClr val="0284C7"/>
                  </a:solidFill>
                  <a:latin typeface="JetBrains Mono"/>
                  <a:ea typeface="JetBrains Mono"/>
                  <a:cs typeface="JetBrains Mono"/>
                  <a:sym typeface="JetBrains Mono"/>
                </a:rPr>
                <a:t>StripeGateway</a:t>
              </a:r>
              <a:r>
                <a:rPr b="0" lang="en-US" sz="950">
                  <a:solidFill>
                    <a:srgbClr val="334155"/>
                  </a:solidFill>
                  <a:latin typeface="Plus Jakarta Sans"/>
                  <a:ea typeface="Plus Jakarta Sans"/>
                  <a:cs typeface="Plus Jakarta Sans"/>
                  <a:sym typeface="Plus Jakarta Sans"/>
                </a:rPr>
                <a:t> (2.9% fee deduction) and </a:t>
              </a:r>
              <a:r>
                <a:rPr b="0" lang="en-US" sz="950">
                  <a:solidFill>
                    <a:srgbClr val="0284C7"/>
                  </a:solidFill>
                  <a:latin typeface="JetBrains Mono"/>
                  <a:ea typeface="JetBrains Mono"/>
                  <a:cs typeface="JetBrains Mono"/>
                  <a:sym typeface="JetBrains Mono"/>
                </a:rPr>
                <a:t>PayPalGateway</a:t>
              </a:r>
              <a:r>
                <a:rPr b="0" lang="en-US" sz="950">
                  <a:solidFill>
                    <a:srgbClr val="334155"/>
                  </a:solidFill>
                  <a:latin typeface="Plus Jakarta Sans"/>
                  <a:ea typeface="Plus Jakarta Sans"/>
                  <a:cs typeface="Plus Jakarta Sans"/>
                  <a:sym typeface="Plus Jakarta Sans"/>
                </a:rPr>
                <a:t> (3.4% fee deduction).</a:t>
              </a:r>
              <a:endParaRPr b="1" sz="950">
                <a:solidFill>
                  <a:srgbClr val="0F172A"/>
                </a:solidFill>
                <a:latin typeface="Plus Jakarta Sans"/>
                <a:ea typeface="Plus Jakarta Sans"/>
                <a:cs typeface="Plus Jakarta Sans"/>
                <a:sym typeface="Plus Jakarta Sans"/>
              </a:endParaRPr>
            </a:p>
          </p:txBody>
        </p:sp>
        <p:sp>
          <p:nvSpPr>
            <p:cNvPr id="478" name="Google Shape;478;p26"/>
            <p:cNvSpPr/>
            <p:nvPr/>
          </p:nvSpPr>
          <p:spPr>
            <a:xfrm>
              <a:off x="876300" y="5438775"/>
              <a:ext cx="4000500" cy="904800"/>
            </a:xfrm>
            <a:prstGeom prst="roundRect">
              <a:avLst>
                <a:gd fmla="val 8421"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79" name="Google Shape;479;p26"/>
            <p:cNvSpPr txBox="1"/>
            <p:nvPr/>
          </p:nvSpPr>
          <p:spPr>
            <a:xfrm>
              <a:off x="990600" y="5495925"/>
              <a:ext cx="3771900" cy="790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950">
                  <a:solidFill>
                    <a:srgbClr val="0F172A"/>
                  </a:solidFill>
                  <a:latin typeface="Plus Jakarta Sans"/>
                  <a:ea typeface="Plus Jakarta Sans"/>
                  <a:cs typeface="Plus Jakarta Sans"/>
                  <a:sym typeface="Plus Jakarta Sans"/>
                </a:rPr>
                <a:t>Task 4: </a:t>
              </a:r>
              <a:r>
                <a:rPr b="0" lang="en-US" sz="950">
                  <a:solidFill>
                    <a:srgbClr val="334155"/>
                  </a:solidFill>
                  <a:latin typeface="Plus Jakarta Sans"/>
                  <a:ea typeface="Plus Jakarta Sans"/>
                  <a:cs typeface="Plus Jakarta Sans"/>
                  <a:sym typeface="Plus Jakarta Sans"/>
                </a:rPr>
                <a:t>Write a test method that passes a list of </a:t>
              </a:r>
              <a:r>
                <a:rPr b="0" lang="en-US" sz="950">
                  <a:solidFill>
                    <a:srgbClr val="0284C7"/>
                  </a:solidFill>
                  <a:latin typeface="JetBrains Mono"/>
                  <a:ea typeface="JetBrains Mono"/>
                  <a:cs typeface="JetBrains Mono"/>
                  <a:sym typeface="JetBrains Mono"/>
                </a:rPr>
                <a:t>PaymentGateway</a:t>
              </a:r>
              <a:r>
                <a:rPr b="0" lang="en-US" sz="950">
                  <a:solidFill>
                    <a:srgbClr val="334155"/>
                  </a:solidFill>
                  <a:latin typeface="Plus Jakarta Sans"/>
                  <a:ea typeface="Plus Jakarta Sans"/>
                  <a:cs typeface="Plus Jakarta Sans"/>
                  <a:sym typeface="Plus Jakarta Sans"/>
                </a:rPr>
                <a:t> instances and processes $100.00 polymorphically.</a:t>
              </a:r>
              <a:endParaRPr b="1" sz="950">
                <a:solidFill>
                  <a:srgbClr val="0F172A"/>
                </a:solidFill>
                <a:latin typeface="Plus Jakarta Sans"/>
                <a:ea typeface="Plus Jakarta Sans"/>
                <a:cs typeface="Plus Jakarta Sans"/>
                <a:sym typeface="Plus Jakarta Sans"/>
              </a:endParaRPr>
            </a:p>
          </p:txBody>
        </p:sp>
      </p:grpSp>
      <p:grpSp>
        <p:nvGrpSpPr>
          <p:cNvPr id="480" name="Google Shape;480;p26"/>
          <p:cNvGrpSpPr/>
          <p:nvPr/>
        </p:nvGrpSpPr>
        <p:grpSpPr>
          <a:xfrm>
            <a:off x="5295900" y="1962150"/>
            <a:ext cx="6210300" cy="4533900"/>
            <a:chOff x="5295900" y="1962150"/>
            <a:chExt cx="6210300" cy="4533900"/>
          </a:xfrm>
        </p:grpSpPr>
        <p:sp>
          <p:nvSpPr>
            <p:cNvPr id="481" name="Google Shape;481;p26"/>
            <p:cNvSpPr/>
            <p:nvPr/>
          </p:nvSpPr>
          <p:spPr>
            <a:xfrm>
              <a:off x="5295900" y="1962150"/>
              <a:ext cx="6210300" cy="4533900"/>
            </a:xfrm>
            <a:prstGeom prst="roundRect">
              <a:avLst>
                <a:gd fmla="val 2521"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2" name="Google Shape;482;p26"/>
            <p:cNvSpPr txBox="1"/>
            <p:nvPr/>
          </p:nvSpPr>
          <p:spPr>
            <a:xfrm>
              <a:off x="5486400" y="2114550"/>
              <a:ext cx="5829300" cy="4287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US" sz="786">
                  <a:solidFill>
                    <a:srgbClr val="0284C7"/>
                  </a:solidFill>
                  <a:latin typeface="Plus Jakarta Sans"/>
                  <a:ea typeface="Plus Jakarta Sans"/>
                  <a:cs typeface="Plus Jakarta Sans"/>
                  <a:sym typeface="Plus Jakarta Sans"/>
                </a:rPr>
                <a:t>STARTER TEMPLATE</a:t>
              </a:r>
              <a:endParaRPr b="1" sz="786">
                <a:solidFill>
                  <a:srgbClr val="0284C7"/>
                </a:solidFill>
                <a:latin typeface="Plus Jakarta Sans"/>
                <a:ea typeface="Plus Jakarta Sans"/>
                <a:cs typeface="Plus Jakarta Sans"/>
                <a:sym typeface="Plus Jakarta Sans"/>
              </a:endParaRPr>
            </a:p>
            <a:p>
              <a:pPr indent="0" lvl="0" marL="0" rtl="0" algn="l">
                <a:spcBef>
                  <a:spcPts val="200"/>
                </a:spcBef>
                <a:spcAft>
                  <a:spcPts val="0"/>
                </a:spcAft>
                <a:buNone/>
              </a:pPr>
              <a:r>
                <a:rPr b="1" lang="en-US" sz="1665">
                  <a:solidFill>
                    <a:srgbClr val="0F172A"/>
                  </a:solidFill>
                  <a:latin typeface="Plus Jakarta Sans"/>
                  <a:ea typeface="Plus Jakarta Sans"/>
                  <a:cs typeface="Plus Jakarta Sans"/>
                  <a:sym typeface="Plus Jakarta Sans"/>
                </a:rPr>
                <a:t>Interface &amp; Record Definition</a:t>
              </a:r>
              <a:endParaRPr b="1" sz="786">
                <a:solidFill>
                  <a:srgbClr val="0284C7"/>
                </a:solidFill>
                <a:latin typeface="Plus Jakarta Sans"/>
                <a:ea typeface="Plus Jakarta Sans"/>
                <a:cs typeface="Plus Jakarta Sans"/>
                <a:sym typeface="Plus Jakarta Sans"/>
              </a:endParaRPr>
            </a:p>
          </p:txBody>
        </p:sp>
        <p:grpSp>
          <p:nvGrpSpPr>
            <p:cNvPr id="483" name="Google Shape;483;p26"/>
            <p:cNvGrpSpPr/>
            <p:nvPr/>
          </p:nvGrpSpPr>
          <p:grpSpPr>
            <a:xfrm>
              <a:off x="5486400" y="2628900"/>
              <a:ext cx="5829300" cy="2476500"/>
              <a:chOff x="5486400" y="2628900"/>
              <a:chExt cx="5829300" cy="2476500"/>
            </a:xfrm>
          </p:grpSpPr>
          <p:sp>
            <p:nvSpPr>
              <p:cNvPr id="484" name="Google Shape;484;p26"/>
              <p:cNvSpPr/>
              <p:nvPr/>
            </p:nvSpPr>
            <p:spPr>
              <a:xfrm>
                <a:off x="5486400" y="2628900"/>
                <a:ext cx="5829300" cy="2476500"/>
              </a:xfrm>
              <a:prstGeom prst="roundRect">
                <a:avLst>
                  <a:gd fmla="val 3076" name="adj"/>
                </a:avLst>
              </a:prstGeom>
              <a:solidFill>
                <a:srgbClr val="0F172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5" name="Google Shape;485;p26"/>
              <p:cNvSpPr/>
              <p:nvPr/>
            </p:nvSpPr>
            <p:spPr>
              <a:xfrm>
                <a:off x="5572125" y="2743200"/>
                <a:ext cx="76200" cy="76200"/>
              </a:xfrm>
              <a:prstGeom prst="ellipse">
                <a:avLst/>
              </a:prstGeom>
              <a:solidFill>
                <a:srgbClr val="EF44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6" name="Google Shape;486;p26"/>
              <p:cNvSpPr/>
              <p:nvPr/>
            </p:nvSpPr>
            <p:spPr>
              <a:xfrm>
                <a:off x="5686425" y="2743200"/>
                <a:ext cx="76200" cy="76200"/>
              </a:xfrm>
              <a:prstGeom prst="ellipse">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7" name="Google Shape;487;p26"/>
              <p:cNvSpPr/>
              <p:nvPr/>
            </p:nvSpPr>
            <p:spPr>
              <a:xfrm>
                <a:off x="5800725" y="2743200"/>
                <a:ext cx="76200" cy="76200"/>
              </a:xfrm>
              <a:prstGeom prst="ellipse">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488" name="Google Shape;488;p26"/>
              <p:cNvCxnSpPr/>
              <p:nvPr/>
            </p:nvCxnSpPr>
            <p:spPr>
              <a:xfrm>
                <a:off x="5486400" y="2952750"/>
                <a:ext cx="5829300" cy="0"/>
              </a:xfrm>
              <a:prstGeom prst="straightConnector1">
                <a:avLst/>
              </a:prstGeom>
              <a:solidFill>
                <a:srgbClr val="FFFFFF"/>
              </a:solidFill>
              <a:ln cap="flat" cmpd="sng" w="9525">
                <a:solidFill>
                  <a:srgbClr val="1E293B"/>
                </a:solidFill>
                <a:prstDash val="solid"/>
                <a:round/>
                <a:headEnd len="sm" w="sm" type="none"/>
                <a:tailEnd len="sm" w="sm" type="none"/>
              </a:ln>
            </p:spPr>
          </p:cxnSp>
          <p:sp>
            <p:nvSpPr>
              <p:cNvPr id="489" name="Google Shape;489;p26"/>
              <p:cNvSpPr txBox="1"/>
              <p:nvPr/>
            </p:nvSpPr>
            <p:spPr>
              <a:xfrm>
                <a:off x="6000750" y="2705100"/>
                <a:ext cx="2857500" cy="1716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US" sz="850">
                    <a:solidFill>
                      <a:srgbClr val="94A3B8"/>
                    </a:solidFill>
                    <a:latin typeface="JetBrains Mono Medium"/>
                    <a:ea typeface="JetBrains Mono Medium"/>
                    <a:cs typeface="JetBrains Mono Medium"/>
                    <a:sym typeface="JetBrains Mono Medium"/>
                  </a:rPr>
                  <a:t>PaymentGateway.java</a:t>
                </a:r>
                <a:endParaRPr b="0" sz="850">
                  <a:solidFill>
                    <a:srgbClr val="94A3B8"/>
                  </a:solidFill>
                  <a:latin typeface="JetBrains Mono Medium"/>
                  <a:ea typeface="JetBrains Mono Medium"/>
                  <a:cs typeface="JetBrains Mono Medium"/>
                  <a:sym typeface="JetBrains Mono Medium"/>
                </a:endParaRPr>
              </a:p>
            </p:txBody>
          </p:sp>
          <p:sp>
            <p:nvSpPr>
              <p:cNvPr id="490" name="Google Shape;490;p26"/>
              <p:cNvSpPr txBox="1"/>
              <p:nvPr/>
            </p:nvSpPr>
            <p:spPr>
              <a:xfrm>
                <a:off x="5619750" y="3067050"/>
                <a:ext cx="5562600" cy="1905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US" sz="850">
                    <a:solidFill>
                      <a:srgbClr val="64748B"/>
                    </a:solidFill>
                    <a:latin typeface="JetBrains Mono"/>
                    <a:ea typeface="JetBrains Mono"/>
                    <a:cs typeface="JetBrains Mono"/>
                    <a:sym typeface="JetBrains Mono"/>
                  </a:rPr>
                  <a:t>// Immutable receipt payload record</a:t>
                </a:r>
                <a:endParaRPr b="0" sz="850">
                  <a:solidFill>
                    <a:srgbClr val="64748B"/>
                  </a:solidFill>
                  <a:latin typeface="JetBrains Mono"/>
                  <a:ea typeface="JetBrains Mono"/>
                  <a:cs typeface="JetBrains Mono"/>
                  <a:sym typeface="JetBrains Mono"/>
                </a:endParaRPr>
              </a:p>
              <a:p>
                <a:pPr indent="0" lvl="0" marL="0" rtl="0" algn="l">
                  <a:spcBef>
                    <a:spcPts val="200"/>
                  </a:spcBef>
                  <a:spcAft>
                    <a:spcPts val="0"/>
                  </a:spcAft>
                  <a:buNone/>
                </a:pPr>
                <a:r>
                  <a:rPr b="1" lang="en-US" sz="850">
                    <a:solidFill>
                      <a:srgbClr val="F43F5E"/>
                    </a:solidFill>
                    <a:latin typeface="JetBrains Mono"/>
                    <a:ea typeface="JetBrains Mono"/>
                    <a:cs typeface="JetBrains Mono"/>
                    <a:sym typeface="JetBrains Mono"/>
                  </a:rPr>
                  <a:t>public record</a:t>
                </a:r>
                <a:r>
                  <a:rPr b="0" lang="en-US" sz="850">
                    <a:solidFill>
                      <a:srgbClr val="64748B"/>
                    </a:solidFill>
                    <a:latin typeface="JetBrains Mono"/>
                    <a:ea typeface="JetBrains Mono"/>
                    <a:cs typeface="JetBrains Mono"/>
                    <a:sym typeface="JetBrains Mono"/>
                  </a:rPr>
                  <a:t> </a:t>
                </a:r>
                <a:r>
                  <a:rPr b="1" lang="en-US" sz="850">
                    <a:solidFill>
                      <a:srgbClr val="38BDF8"/>
                    </a:solidFill>
                    <a:latin typeface="JetBrains Mono"/>
                    <a:ea typeface="JetBrains Mono"/>
                    <a:cs typeface="JetBrains Mono"/>
                    <a:sym typeface="JetBrains Mono"/>
                  </a:rPr>
                  <a:t>PaymentReceipt</a:t>
                </a:r>
                <a:r>
                  <a:rPr b="0" lang="en-US" sz="850">
                    <a:solidFill>
                      <a:srgbClr val="E2E8F0"/>
                    </a:solidFill>
                    <a:latin typeface="JetBrains Mono"/>
                    <a:ea typeface="JetBrains Mono"/>
                    <a:cs typeface="JetBrains Mono"/>
                    <a:sym typeface="JetBrains Mono"/>
                  </a:rPr>
                  <a:t>(</a:t>
                </a:r>
                <a:endParaRPr b="0" sz="850">
                  <a:solidFill>
                    <a:srgbClr val="64748B"/>
                  </a:solidFill>
                  <a:latin typeface="JetBrains Mono"/>
                  <a:ea typeface="JetBrains Mono"/>
                  <a:cs typeface="JetBrains Mono"/>
                  <a:sym typeface="JetBrains Mono"/>
                </a:endParaRPr>
              </a:p>
              <a:p>
                <a:pPr indent="0" lvl="0" marL="152400" marR="0" rtl="0" algn="l">
                  <a:spcBef>
                    <a:spcPts val="200"/>
                  </a:spcBef>
                  <a:spcAft>
                    <a:spcPts val="0"/>
                  </a:spcAft>
                  <a:buNone/>
                </a:pPr>
                <a:r>
                  <a:rPr b="0" lang="en-US" sz="850">
                    <a:solidFill>
                      <a:srgbClr val="E2E8F0"/>
                    </a:solidFill>
                    <a:latin typeface="JetBrains Mono"/>
                    <a:ea typeface="JetBrains Mono"/>
                    <a:cs typeface="JetBrains Mono"/>
                    <a:sym typeface="JetBrains Mono"/>
                  </a:rPr>
                  <a:t>String txId, BigDecimal netAmount, boolean success</a:t>
                </a:r>
                <a:endParaRPr b="0" sz="850">
                  <a:solidFill>
                    <a:srgbClr val="64748B"/>
                  </a:solidFill>
                  <a:latin typeface="JetBrains Mono"/>
                  <a:ea typeface="JetBrains Mono"/>
                  <a:cs typeface="JetBrains Mono"/>
                  <a:sym typeface="JetBrains Mono"/>
                </a:endParaRPr>
              </a:p>
              <a:p>
                <a:pPr indent="0" lvl="0" marL="0" rtl="0" algn="l">
                  <a:spcBef>
                    <a:spcPts val="200"/>
                  </a:spcBef>
                  <a:spcAft>
                    <a:spcPts val="0"/>
                  </a:spcAft>
                  <a:buNone/>
                </a:pPr>
                <a:r>
                  <a:rPr b="0" lang="en-US" sz="850">
                    <a:solidFill>
                      <a:srgbClr val="E2E8F0"/>
                    </a:solidFill>
                    <a:latin typeface="JetBrains Mono"/>
                    <a:ea typeface="JetBrains Mono"/>
                    <a:cs typeface="JetBrains Mono"/>
                    <a:sym typeface="JetBrains Mono"/>
                  </a:rPr>
                  <a:t>) {}</a:t>
                </a:r>
                <a:endParaRPr b="0" sz="850">
                  <a:solidFill>
                    <a:srgbClr val="64748B"/>
                  </a:solidFill>
                  <a:latin typeface="JetBrains Mono"/>
                  <a:ea typeface="JetBrains Mono"/>
                  <a:cs typeface="JetBrains Mono"/>
                  <a:sym typeface="JetBrains Mono"/>
                </a:endParaRPr>
              </a:p>
              <a:p>
                <a:pPr indent="0" lvl="0" marL="0" rtl="0" algn="l">
                  <a:spcBef>
                    <a:spcPts val="1000"/>
                  </a:spcBef>
                  <a:spcAft>
                    <a:spcPts val="0"/>
                  </a:spcAft>
                  <a:buNone/>
                </a:pPr>
                <a:r>
                  <a:rPr b="0" lang="en-US" sz="850">
                    <a:solidFill>
                      <a:srgbClr val="64748B"/>
                    </a:solidFill>
                    <a:latin typeface="JetBrains Mono"/>
                    <a:ea typeface="JetBrains Mono"/>
                    <a:cs typeface="JetBrains Mono"/>
                    <a:sym typeface="JetBrains Mono"/>
                  </a:rPr>
                  <a:t>// Shared payment interface contract</a:t>
                </a:r>
                <a:endParaRPr b="0" sz="850">
                  <a:solidFill>
                    <a:srgbClr val="64748B"/>
                  </a:solidFill>
                  <a:latin typeface="JetBrains Mono"/>
                  <a:ea typeface="JetBrains Mono"/>
                  <a:cs typeface="JetBrains Mono"/>
                  <a:sym typeface="JetBrains Mono"/>
                </a:endParaRPr>
              </a:p>
              <a:p>
                <a:pPr indent="0" lvl="0" marL="0" rtl="0" algn="l">
                  <a:spcBef>
                    <a:spcPts val="200"/>
                  </a:spcBef>
                  <a:spcAft>
                    <a:spcPts val="0"/>
                  </a:spcAft>
                  <a:buNone/>
                </a:pPr>
                <a:r>
                  <a:rPr b="1" lang="en-US" sz="850">
                    <a:solidFill>
                      <a:srgbClr val="F43F5E"/>
                    </a:solidFill>
                    <a:latin typeface="JetBrains Mono"/>
                    <a:ea typeface="JetBrains Mono"/>
                    <a:cs typeface="JetBrains Mono"/>
                    <a:sym typeface="JetBrains Mono"/>
                  </a:rPr>
                  <a:t>public interface</a:t>
                </a:r>
                <a:r>
                  <a:rPr b="0" lang="en-US" sz="850">
                    <a:solidFill>
                      <a:srgbClr val="64748B"/>
                    </a:solidFill>
                    <a:latin typeface="JetBrains Mono"/>
                    <a:ea typeface="JetBrains Mono"/>
                    <a:cs typeface="JetBrains Mono"/>
                    <a:sym typeface="JetBrains Mono"/>
                  </a:rPr>
                  <a:t> </a:t>
                </a:r>
                <a:r>
                  <a:rPr b="1" lang="en-US" sz="850">
                    <a:solidFill>
                      <a:srgbClr val="38BDF8"/>
                    </a:solidFill>
                    <a:latin typeface="JetBrains Mono"/>
                    <a:ea typeface="JetBrains Mono"/>
                    <a:cs typeface="JetBrains Mono"/>
                    <a:sym typeface="JetBrains Mono"/>
                  </a:rPr>
                  <a:t>PaymentGateway</a:t>
                </a:r>
                <a:r>
                  <a:rPr b="0" lang="en-US" sz="850">
                    <a:solidFill>
                      <a:srgbClr val="64748B"/>
                    </a:solidFill>
                    <a:latin typeface="JetBrains Mono"/>
                    <a:ea typeface="JetBrains Mono"/>
                    <a:cs typeface="JetBrains Mono"/>
                    <a:sym typeface="JetBrains Mono"/>
                  </a:rPr>
                  <a:t> </a:t>
                </a:r>
                <a:r>
                  <a:rPr b="0" lang="en-US" sz="850">
                    <a:solidFill>
                      <a:srgbClr val="E2E8F0"/>
                    </a:solidFill>
                    <a:latin typeface="JetBrains Mono"/>
                    <a:ea typeface="JetBrains Mono"/>
                    <a:cs typeface="JetBrains Mono"/>
                    <a:sym typeface="JetBrains Mono"/>
                  </a:rPr>
                  <a:t>{</a:t>
                </a:r>
                <a:endParaRPr b="0" sz="850">
                  <a:solidFill>
                    <a:srgbClr val="64748B"/>
                  </a:solidFill>
                  <a:latin typeface="JetBrains Mono"/>
                  <a:ea typeface="JetBrains Mono"/>
                  <a:cs typeface="JetBrains Mono"/>
                  <a:sym typeface="JetBrains Mono"/>
                </a:endParaRPr>
              </a:p>
              <a:p>
                <a:pPr indent="0" lvl="0" marL="152400" marR="0" rtl="0" algn="l">
                  <a:spcBef>
                    <a:spcPts val="200"/>
                  </a:spcBef>
                  <a:spcAft>
                    <a:spcPts val="0"/>
                  </a:spcAft>
                  <a:buNone/>
                </a:pPr>
                <a:r>
                  <a:rPr b="0" lang="en-US" sz="850">
                    <a:solidFill>
                      <a:srgbClr val="E2E8F0"/>
                    </a:solidFill>
                    <a:latin typeface="JetBrains Mono"/>
                    <a:ea typeface="JetBrains Mono"/>
                    <a:cs typeface="JetBrains Mono"/>
                    <a:sym typeface="JetBrains Mono"/>
                  </a:rPr>
                  <a:t>PaymentReceipt </a:t>
                </a:r>
                <a:r>
                  <a:rPr b="0" lang="en-US" sz="850">
                    <a:solidFill>
                      <a:srgbClr val="A7F3D0"/>
                    </a:solidFill>
                    <a:latin typeface="JetBrains Mono"/>
                    <a:ea typeface="JetBrains Mono"/>
                    <a:cs typeface="JetBrains Mono"/>
                    <a:sym typeface="JetBrains Mono"/>
                  </a:rPr>
                  <a:t>process</a:t>
                </a:r>
                <a:r>
                  <a:rPr b="0" lang="en-US" sz="850">
                    <a:solidFill>
                      <a:srgbClr val="E2E8F0"/>
                    </a:solidFill>
                    <a:latin typeface="JetBrains Mono"/>
                    <a:ea typeface="JetBrains Mono"/>
                    <a:cs typeface="JetBrains Mono"/>
                    <a:sym typeface="JetBrains Mono"/>
                  </a:rPr>
                  <a:t>(BigDecimal amount);</a:t>
                </a:r>
                <a:endParaRPr b="0" sz="850">
                  <a:solidFill>
                    <a:srgbClr val="64748B"/>
                  </a:solidFill>
                  <a:latin typeface="JetBrains Mono"/>
                  <a:ea typeface="JetBrains Mono"/>
                  <a:cs typeface="JetBrains Mono"/>
                  <a:sym typeface="JetBrains Mono"/>
                </a:endParaRPr>
              </a:p>
              <a:p>
                <a:pPr indent="0" lvl="0" marL="0" rtl="0" algn="l">
                  <a:spcBef>
                    <a:spcPts val="200"/>
                  </a:spcBef>
                  <a:spcAft>
                    <a:spcPts val="0"/>
                  </a:spcAft>
                  <a:buNone/>
                </a:pPr>
                <a:r>
                  <a:rPr b="0" lang="en-US" sz="850">
                    <a:solidFill>
                      <a:srgbClr val="E2E8F0"/>
                    </a:solidFill>
                    <a:latin typeface="JetBrains Mono"/>
                    <a:ea typeface="JetBrains Mono"/>
                    <a:cs typeface="JetBrains Mono"/>
                    <a:sym typeface="JetBrains Mono"/>
                  </a:rPr>
                  <a:t>}</a:t>
                </a:r>
                <a:endParaRPr b="0" sz="850">
                  <a:solidFill>
                    <a:srgbClr val="64748B"/>
                  </a:solidFill>
                  <a:latin typeface="JetBrains Mono"/>
                  <a:ea typeface="JetBrains Mono"/>
                  <a:cs typeface="JetBrains Mono"/>
                  <a:sym typeface="JetBrains Mono"/>
                </a:endParaRPr>
              </a:p>
              <a:p>
                <a:pPr indent="0" lvl="0" marL="0" rtl="0" algn="l">
                  <a:spcBef>
                    <a:spcPts val="1000"/>
                  </a:spcBef>
                  <a:spcAft>
                    <a:spcPts val="0"/>
                  </a:spcAft>
                  <a:buNone/>
                </a:pPr>
                <a:r>
                  <a:rPr b="0" lang="en-US" sz="850">
                    <a:solidFill>
                      <a:srgbClr val="64748B"/>
                    </a:solidFill>
                    <a:latin typeface="JetBrains Mono"/>
                    <a:ea typeface="JetBrains Mono"/>
                    <a:cs typeface="JetBrains Mono"/>
                    <a:sym typeface="JetBrains Mono"/>
                  </a:rPr>
                  <a:t>// TODO: Implement StripeGateway and PayPalGateway!</a:t>
                </a:r>
                <a:endParaRPr b="0" sz="850">
                  <a:solidFill>
                    <a:srgbClr val="64748B"/>
                  </a:solidFill>
                  <a:latin typeface="JetBrains Mono"/>
                  <a:ea typeface="JetBrains Mono"/>
                  <a:cs typeface="JetBrains Mono"/>
                  <a:sym typeface="JetBrains Mono"/>
                </a:endParaRPr>
              </a:p>
            </p:txBody>
          </p:sp>
        </p:grpSp>
        <p:grpSp>
          <p:nvGrpSpPr>
            <p:cNvPr id="491" name="Google Shape;491;p26"/>
            <p:cNvGrpSpPr/>
            <p:nvPr/>
          </p:nvGrpSpPr>
          <p:grpSpPr>
            <a:xfrm>
              <a:off x="5486400" y="5257800"/>
              <a:ext cx="2838600" cy="1009800"/>
              <a:chOff x="5486400" y="5257800"/>
              <a:chExt cx="2838600" cy="1009800"/>
            </a:xfrm>
          </p:grpSpPr>
          <p:sp>
            <p:nvSpPr>
              <p:cNvPr id="492" name="Google Shape;492;p26"/>
              <p:cNvSpPr/>
              <p:nvPr/>
            </p:nvSpPr>
            <p:spPr>
              <a:xfrm>
                <a:off x="5486400" y="5257800"/>
                <a:ext cx="2838600" cy="1009800"/>
              </a:xfrm>
              <a:prstGeom prst="roundRect">
                <a:avLst>
                  <a:gd fmla="val 7547" name="adj"/>
                </a:avLst>
              </a:prstGeom>
              <a:solidFill>
                <a:srgbClr val="F0F9FF"/>
              </a:solidFill>
              <a:ln cap="flat" cmpd="sng" w="9525">
                <a:solidFill>
                  <a:srgbClr val="BAE6F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93" name="Google Shape;493;p26"/>
              <p:cNvSpPr txBox="1"/>
              <p:nvPr/>
            </p:nvSpPr>
            <p:spPr>
              <a:xfrm>
                <a:off x="5619750" y="5334000"/>
                <a:ext cx="2571900" cy="8574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800">
                    <a:solidFill>
                      <a:srgbClr val="0369A1"/>
                    </a:solidFill>
                    <a:latin typeface="Plus Jakarta Sans"/>
                    <a:ea typeface="Plus Jakarta Sans"/>
                    <a:cs typeface="Plus Jakarta Sans"/>
                    <a:sym typeface="Plus Jakarta Sans"/>
                  </a:rPr>
                  <a:t>BONUS CHALLENGE</a:t>
                </a:r>
                <a:endParaRPr b="1" sz="800">
                  <a:solidFill>
                    <a:srgbClr val="0369A1"/>
                  </a:solidFill>
                  <a:latin typeface="Plus Jakarta Sans"/>
                  <a:ea typeface="Plus Jakarta Sans"/>
                  <a:cs typeface="Plus Jakarta Sans"/>
                  <a:sym typeface="Plus Jakarta Sans"/>
                </a:endParaRPr>
              </a:p>
              <a:p>
                <a:pPr indent="0" lvl="0" marL="0" rtl="0" algn="l">
                  <a:spcBef>
                    <a:spcPts val="300"/>
                  </a:spcBef>
                  <a:spcAft>
                    <a:spcPts val="0"/>
                  </a:spcAft>
                  <a:buNone/>
                </a:pPr>
                <a:r>
                  <a:rPr b="0" lang="en-US" sz="950">
                    <a:solidFill>
                      <a:srgbClr val="0284C7"/>
                    </a:solidFill>
                    <a:latin typeface="Plus Jakarta Sans Medium"/>
                    <a:ea typeface="Plus Jakarta Sans Medium"/>
                    <a:cs typeface="Plus Jakarta Sans Medium"/>
                    <a:sym typeface="Plus Jakarta Sans Medium"/>
                  </a:rPr>
                  <a:t>Add an idempotency HashSet to verify deduplication.</a:t>
                </a:r>
                <a:endParaRPr b="1" sz="800">
                  <a:solidFill>
                    <a:srgbClr val="0369A1"/>
                  </a:solidFill>
                  <a:latin typeface="Plus Jakarta Sans"/>
                  <a:ea typeface="Plus Jakarta Sans"/>
                  <a:cs typeface="Plus Jakarta Sans"/>
                  <a:sym typeface="Plus Jakarta Sans"/>
                </a:endParaRPr>
              </a:p>
            </p:txBody>
          </p:sp>
        </p:grpSp>
        <p:grpSp>
          <p:nvGrpSpPr>
            <p:cNvPr id="494" name="Google Shape;494;p26"/>
            <p:cNvGrpSpPr/>
            <p:nvPr/>
          </p:nvGrpSpPr>
          <p:grpSpPr>
            <a:xfrm>
              <a:off x="8477250" y="5257800"/>
              <a:ext cx="2838600" cy="1009800"/>
              <a:chOff x="8477250" y="5257800"/>
              <a:chExt cx="2838600" cy="1009800"/>
            </a:xfrm>
          </p:grpSpPr>
          <p:sp>
            <p:nvSpPr>
              <p:cNvPr id="495" name="Google Shape;495;p26"/>
              <p:cNvSpPr/>
              <p:nvPr/>
            </p:nvSpPr>
            <p:spPr>
              <a:xfrm>
                <a:off x="8477250" y="5257800"/>
                <a:ext cx="2838600" cy="1009800"/>
              </a:xfrm>
              <a:prstGeom prst="roundRect">
                <a:avLst>
                  <a:gd fmla="val 7547" name="adj"/>
                </a:avLst>
              </a:prstGeom>
              <a:solidFill>
                <a:srgbClr val="ECFDF5"/>
              </a:solidFill>
              <a:ln cap="flat" cmpd="sng" w="9525">
                <a:solidFill>
                  <a:srgbClr val="A7F3D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96" name="Google Shape;496;p26"/>
              <p:cNvSpPr txBox="1"/>
              <p:nvPr/>
            </p:nvSpPr>
            <p:spPr>
              <a:xfrm>
                <a:off x="8610600" y="5334000"/>
                <a:ext cx="2571900" cy="8574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800">
                    <a:solidFill>
                      <a:srgbClr val="047857"/>
                    </a:solidFill>
                    <a:latin typeface="Plus Jakarta Sans"/>
                    <a:ea typeface="Plus Jakarta Sans"/>
                    <a:cs typeface="Plus Jakarta Sans"/>
                    <a:sym typeface="Plus Jakarta Sans"/>
                  </a:rPr>
                  <a:t>DELIVERABLE</a:t>
                </a:r>
                <a:endParaRPr b="1" sz="800">
                  <a:solidFill>
                    <a:srgbClr val="047857"/>
                  </a:solidFill>
                  <a:latin typeface="Plus Jakarta Sans"/>
                  <a:ea typeface="Plus Jakarta Sans"/>
                  <a:cs typeface="Plus Jakarta Sans"/>
                  <a:sym typeface="Plus Jakarta Sans"/>
                </a:endParaRPr>
              </a:p>
              <a:p>
                <a:pPr indent="0" lvl="0" marL="0" rtl="0" algn="l">
                  <a:spcBef>
                    <a:spcPts val="300"/>
                  </a:spcBef>
                  <a:spcAft>
                    <a:spcPts val="0"/>
                  </a:spcAft>
                  <a:buNone/>
                </a:pPr>
                <a:r>
                  <a:rPr b="0" lang="en-US" sz="950">
                    <a:solidFill>
                      <a:srgbClr val="065F46"/>
                    </a:solidFill>
                    <a:latin typeface="Plus Jakarta Sans Medium"/>
                    <a:ea typeface="Plus Jakarta Sans Medium"/>
                    <a:cs typeface="Plus Jakarta Sans Medium"/>
                    <a:sym typeface="Plus Jakarta Sans Medium"/>
                  </a:rPr>
                  <a:t>Submit your code and passing JUnit tests.</a:t>
                </a:r>
                <a:endParaRPr b="1" sz="800">
                  <a:solidFill>
                    <a:srgbClr val="047857"/>
                  </a:solidFill>
                  <a:latin typeface="Plus Jakarta Sans"/>
                  <a:ea typeface="Plus Jakarta Sans"/>
                  <a:cs typeface="Plus Jakarta Sans"/>
                  <a:sym typeface="Plus Jakarta Sans"/>
                </a:endParaRPr>
              </a:p>
            </p:txBody>
          </p:sp>
        </p:gr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500" name="Shape 500"/>
        <p:cNvGrpSpPr/>
        <p:nvPr/>
      </p:nvGrpSpPr>
      <p:grpSpPr>
        <a:xfrm>
          <a:off x="0" y="0"/>
          <a:ext cx="0" cy="0"/>
          <a:chOff x="0" y="0"/>
          <a:chExt cx="0" cy="0"/>
        </a:xfrm>
      </p:grpSpPr>
      <p:sp>
        <p:nvSpPr>
          <p:cNvPr id="501" name="Google Shape;501;p27"/>
          <p:cNvSpPr/>
          <p:nvPr/>
        </p:nvSpPr>
        <p:spPr>
          <a:xfrm>
            <a:off x="2295525" y="4491930"/>
            <a:ext cx="7600950" cy="619125"/>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02" name="Google Shape;502;p27"/>
          <p:cNvSpPr/>
          <p:nvPr/>
        </p:nvSpPr>
        <p:spPr>
          <a:xfrm>
            <a:off x="2295525" y="4491930"/>
            <a:ext cx="7600950" cy="9525"/>
          </a:xfrm>
          <a:prstGeom prst="rect">
            <a:avLst/>
          </a:prstGeom>
          <a:solidFill>
            <a:srgbClr val="1E293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503" name="Google Shape;503;p27"/>
          <p:cNvPicPr preferRelativeResize="0"/>
          <p:nvPr/>
        </p:nvPicPr>
        <p:blipFill rotWithShape="1">
          <a:blip r:embed="rId3">
            <a:alphaModFix/>
          </a:blip>
          <a:srcRect b="0" l="0" r="0" t="0"/>
          <a:stretch/>
        </p:blipFill>
        <p:spPr>
          <a:xfrm>
            <a:off x="5848350" y="1746944"/>
            <a:ext cx="495300" cy="495300"/>
          </a:xfrm>
          <a:prstGeom prst="rect">
            <a:avLst/>
          </a:prstGeom>
          <a:noFill/>
          <a:ln>
            <a:noFill/>
          </a:ln>
        </p:spPr>
      </p:pic>
      <p:pic>
        <p:nvPicPr>
          <p:cNvPr descr="image.png" id="504" name="Google Shape;504;p27"/>
          <p:cNvPicPr preferRelativeResize="0"/>
          <p:nvPr/>
        </p:nvPicPr>
        <p:blipFill rotWithShape="1">
          <a:blip r:embed="rId4">
            <a:alphaModFix/>
          </a:blip>
          <a:srcRect b="0" l="0" r="0" t="0"/>
          <a:stretch/>
        </p:blipFill>
        <p:spPr>
          <a:xfrm>
            <a:off x="5991225" y="1889819"/>
            <a:ext cx="209550" cy="209550"/>
          </a:xfrm>
          <a:prstGeom prst="rect">
            <a:avLst/>
          </a:prstGeom>
          <a:noFill/>
          <a:ln>
            <a:noFill/>
          </a:ln>
        </p:spPr>
      </p:pic>
      <p:sp>
        <p:nvSpPr>
          <p:cNvPr id="505" name="Google Shape;505;p27"/>
          <p:cNvSpPr txBox="1"/>
          <p:nvPr/>
        </p:nvSpPr>
        <p:spPr>
          <a:xfrm>
            <a:off x="470296" y="2413694"/>
            <a:ext cx="11251406" cy="86856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i="0" lang="en-US" sz="2850" u="none" cap="none" strike="noStrike">
                <a:solidFill>
                  <a:srgbClr val="F8FAFC"/>
                </a:solidFill>
                <a:latin typeface="Plus Jakarta Sans"/>
                <a:ea typeface="Plus Jakarta Sans"/>
                <a:cs typeface="Plus Jakarta Sans"/>
                <a:sym typeface="Plus Jakarta Sans"/>
              </a:rPr>
              <a:t>You Are Ready to Build Defensive, High-Reliability Software</a:t>
            </a:r>
            <a:endParaRPr/>
          </a:p>
        </p:txBody>
      </p:sp>
      <p:sp>
        <p:nvSpPr>
          <p:cNvPr id="506" name="Google Shape;506;p27"/>
          <p:cNvSpPr txBox="1"/>
          <p:nvPr/>
        </p:nvSpPr>
        <p:spPr>
          <a:xfrm>
            <a:off x="1452562" y="3415605"/>
            <a:ext cx="9286875" cy="771525"/>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1350" u="none" cap="none" strike="noStrike">
                <a:solidFill>
                  <a:srgbClr val="94A3B8"/>
                </a:solidFill>
                <a:latin typeface="Plus Jakarta Sans"/>
                <a:ea typeface="Plus Jakarta Sans"/>
                <a:cs typeface="Plus Jakarta Sans"/>
                <a:sym typeface="Plus Jakarta Sans"/>
              </a:rPr>
              <a:t>Your background in testing gives you the ultimate developer advantage: you already know where code breaks. Use OOP principles not as academic theory, but as your toolkit to build bug-resistant applications.</a:t>
            </a:r>
            <a:endParaRPr/>
          </a:p>
        </p:txBody>
      </p:sp>
      <p:sp>
        <p:nvSpPr>
          <p:cNvPr id="507" name="Google Shape;507;p27"/>
          <p:cNvSpPr txBox="1"/>
          <p:nvPr/>
        </p:nvSpPr>
        <p:spPr>
          <a:xfrm>
            <a:off x="2053828" y="4730055"/>
            <a:ext cx="2416968" cy="2000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200" u="none" cap="none" strike="noStrike">
                <a:solidFill>
                  <a:srgbClr val="38BDF8"/>
                </a:solidFill>
                <a:latin typeface="Plus Jakarta Sans"/>
                <a:ea typeface="Plus Jakarta Sans"/>
                <a:cs typeface="Plus Jakarta Sans"/>
                <a:sym typeface="Plus Jakarta Sans"/>
              </a:rPr>
              <a:t>Runtime Mastery</a:t>
            </a:r>
            <a:endParaRPr/>
          </a:p>
        </p:txBody>
      </p:sp>
      <p:sp>
        <p:nvSpPr>
          <p:cNvPr id="508" name="Google Shape;508;p27"/>
          <p:cNvSpPr txBox="1"/>
          <p:nvPr/>
        </p:nvSpPr>
        <p:spPr>
          <a:xfrm>
            <a:off x="2053828" y="4958655"/>
            <a:ext cx="2416968" cy="15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975" u="none" cap="none" strike="noStrike">
                <a:solidFill>
                  <a:srgbClr val="94A3B8"/>
                </a:solidFill>
                <a:latin typeface="Plus Jakarta Sans"/>
                <a:ea typeface="Plus Jakarta Sans"/>
                <a:cs typeface="Plus Jakarta Sans"/>
                <a:sym typeface="Plus Jakarta Sans"/>
              </a:rPr>
              <a:t>JDK, JVM, &amp; Bytecode Mechanics</a:t>
            </a:r>
            <a:endParaRPr/>
          </a:p>
        </p:txBody>
      </p:sp>
      <p:sp>
        <p:nvSpPr>
          <p:cNvPr id="509" name="Google Shape;509;p27"/>
          <p:cNvSpPr txBox="1"/>
          <p:nvPr/>
        </p:nvSpPr>
        <p:spPr>
          <a:xfrm>
            <a:off x="4212431" y="4730055"/>
            <a:ext cx="3976687" cy="2000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200" u="none" cap="none" strike="noStrike">
                <a:solidFill>
                  <a:srgbClr val="38BDF8"/>
                </a:solidFill>
                <a:latin typeface="Plus Jakarta Sans"/>
                <a:ea typeface="Plus Jakarta Sans"/>
                <a:cs typeface="Plus Jakarta Sans"/>
                <a:sym typeface="Plus Jakarta Sans"/>
              </a:rPr>
              <a:t>Core Pillars</a:t>
            </a:r>
            <a:endParaRPr/>
          </a:p>
        </p:txBody>
      </p:sp>
      <p:sp>
        <p:nvSpPr>
          <p:cNvPr id="510" name="Google Shape;510;p27"/>
          <p:cNvSpPr txBox="1"/>
          <p:nvPr/>
        </p:nvSpPr>
        <p:spPr>
          <a:xfrm>
            <a:off x="4212431" y="4958655"/>
            <a:ext cx="3976687" cy="15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975" u="none" cap="none" strike="noStrike">
                <a:solidFill>
                  <a:srgbClr val="94A3B8"/>
                </a:solidFill>
                <a:latin typeface="Plus Jakarta Sans"/>
                <a:ea typeface="Plus Jakarta Sans"/>
                <a:cs typeface="Plus Jakarta Sans"/>
                <a:sym typeface="Plus Jakarta Sans"/>
              </a:rPr>
              <a:t>Encapsulation, Inheritance, Abstraction, Polymorphism</a:t>
            </a:r>
            <a:endParaRPr/>
          </a:p>
        </p:txBody>
      </p:sp>
      <p:sp>
        <p:nvSpPr>
          <p:cNvPr id="511" name="Google Shape;511;p27"/>
          <p:cNvSpPr txBox="1"/>
          <p:nvPr/>
        </p:nvSpPr>
        <p:spPr>
          <a:xfrm>
            <a:off x="7956946" y="4730055"/>
            <a:ext cx="2155031" cy="2000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200" u="none" cap="none" strike="noStrike">
                <a:solidFill>
                  <a:srgbClr val="38BDF8"/>
                </a:solidFill>
                <a:latin typeface="Plus Jakarta Sans"/>
                <a:ea typeface="Plus Jakarta Sans"/>
                <a:cs typeface="Plus Jakarta Sans"/>
                <a:sym typeface="Plus Jakarta Sans"/>
              </a:rPr>
              <a:t>Modern Java</a:t>
            </a:r>
            <a:endParaRPr/>
          </a:p>
        </p:txBody>
      </p:sp>
      <p:sp>
        <p:nvSpPr>
          <p:cNvPr id="512" name="Google Shape;512;p27"/>
          <p:cNvSpPr txBox="1"/>
          <p:nvPr/>
        </p:nvSpPr>
        <p:spPr>
          <a:xfrm>
            <a:off x="7956946" y="4958655"/>
            <a:ext cx="2155031" cy="15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975" u="none" cap="none" strike="noStrike">
                <a:solidFill>
                  <a:srgbClr val="94A3B8"/>
                </a:solidFill>
                <a:latin typeface="Plus Jakarta Sans"/>
                <a:ea typeface="Plus Jakarta Sans"/>
                <a:cs typeface="Plus Jakarta Sans"/>
                <a:sym typeface="Plus Jakarta Sans"/>
              </a:rPr>
              <a:t>Records &amp; Contract Invariants</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